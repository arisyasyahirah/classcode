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y="6858000" cx="9144000"/>
  <p:notesSz cx="7315200" cy="96012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  <p:ext uri="GoogleSlidesCustomDataVersion2">
      <go:slidesCustomData xmlns:go="http://customooxmlschemas.google.com/" r:id="rId32" roundtripDataSignature="AMtx7mhiKIjWsDFGLSzqMF64oe5mKJ25p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A97619E-6812-489A-B13F-C40A5FEB528C}">
  <a:tblStyle styleId="{3A97619E-6812-489A-B13F-C40A5FEB528C}" styleName="Table_0">
    <a:wholeTbl>
      <a:tcTxStyle b="off" i="off">
        <a:font>
          <a:latin typeface="Rockwell"/>
          <a:ea typeface="Rockwell"/>
          <a:cs typeface="Rockwell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7E8E7"/>
          </a:solidFill>
        </a:fill>
      </a:tcStyle>
    </a:wholeTbl>
    <a:band1H>
      <a:tcTxStyle/>
      <a:tcStyle>
        <a:fill>
          <a:solidFill>
            <a:srgbClr val="EFCECA"/>
          </a:solidFill>
        </a:fill>
      </a:tcStyle>
    </a:band1H>
    <a:band2H>
      <a:tcTxStyle/>
    </a:band2H>
    <a:band1V>
      <a:tcTxStyle/>
      <a:tcStyle>
        <a:fill>
          <a:solidFill>
            <a:srgbClr val="EFCECA"/>
          </a:solidFill>
        </a:fill>
      </a:tcStyle>
    </a:band1V>
    <a:band2V>
      <a:tcTxStyle/>
    </a:band2V>
    <a:lastCol>
      <a:tcTxStyle b="on" i="off">
        <a:font>
          <a:latin typeface="Rockwell"/>
          <a:ea typeface="Rockwell"/>
          <a:cs typeface="Rockwell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Rockwell"/>
          <a:ea typeface="Rockwell"/>
          <a:cs typeface="Rockwell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Rockwell"/>
          <a:ea typeface="Rockwell"/>
          <a:cs typeface="Rockwell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Rockwell"/>
          <a:ea typeface="Rockwell"/>
          <a:cs typeface="Rockwell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024" orient="horz"/>
        <p:guide pos="2304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4144963" y="0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>
            <a:lvl1pPr indent="-228600" lvl="0" marL="4572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36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9121775"/>
            <a:ext cx="3170238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3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300" u="none" cap="none" strike="noStrik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‹#›</a:t>
            </a:fld>
            <a:endParaRPr b="0" i="0" sz="1300" u="none" cap="none" strike="noStrik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8" name="Google Shape;108;p1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1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31" name="Google Shape;131;p4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6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8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9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0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1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2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5" name="Google Shape;195;p13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13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4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13" name="Google Shape;213;p15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5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6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16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7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0" name="Google Shape;230;p17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1" name="Google Shape;231;p17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8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8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9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7" name="Google Shape;247;p19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8" name="Google Shape;248;p19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0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0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1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4" name="Google Shape;264;p21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21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2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4" name="Google Shape;274;p22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2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23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4" name="Google Shape;284;p23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3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24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4" name="Google Shape;294;p24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  <a:noFill/>
          <a:ln>
            <a:noFill/>
          </a:ln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4:notes"/>
          <p:cNvSpPr txBox="1"/>
          <p:nvPr>
            <p:ph idx="12" type="sldNum"/>
          </p:nvPr>
        </p:nvSpPr>
        <p:spPr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</p:spPr>
        <p:txBody>
          <a:bodyPr anchorCtr="0" anchor="b" bIns="48325" lIns="96650" spcFirstLastPara="1" rIns="96650" wrap="square" tIns="483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25:notes"/>
          <p:cNvSpPr txBox="1"/>
          <p:nvPr>
            <p:ph idx="1" type="body"/>
          </p:nvPr>
        </p:nvSpPr>
        <p:spPr>
          <a:xfrm>
            <a:off x="974725" y="4560888"/>
            <a:ext cx="5365750" cy="4319587"/>
          </a:xfrm>
          <a:prstGeom prst="rect">
            <a:avLst/>
          </a:prstGeom>
        </p:spPr>
        <p:txBody>
          <a:bodyPr anchorCtr="0" anchor="t" bIns="48325" lIns="96650" spcFirstLastPara="1" rIns="96650" wrap="square" tIns="48325">
            <a:no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25:notes"/>
          <p:cNvSpPr/>
          <p:nvPr>
            <p:ph idx="2" type="sldImg"/>
          </p:nvPr>
        </p:nvSpPr>
        <p:spPr>
          <a:xfrm>
            <a:off x="1257300" y="720725"/>
            <a:ext cx="4800600" cy="36004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8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 type="title">
  <p:cSld name="TITLE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7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rotWithShape="1">
            <a:blip r:embed="rId2">
              <a:alphaModFix amt="80000"/>
            </a:blip>
            <a:tile algn="ctr" flip="xy" tx="0" sx="92000" ty="-762000" sy="89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" name="Google Shape;20;p2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rotWithShape="1">
            <a:blip r:embed="rId2">
              <a:alphaModFix amt="80000"/>
            </a:blip>
            <a:tile algn="ctr" flip="xy" tx="0" sx="92000" ty="-717550" sy="89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" name="Google Shape;21;p27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rotWithShape="1">
            <a:blip r:embed="rId2">
              <a:alphaModFix amt="80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4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pSp>
        <p:nvGrpSpPr>
          <p:cNvPr id="22" name="Google Shape;22;p27"/>
          <p:cNvGrpSpPr/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23" name="Google Shape;23;p27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0" sx="85000" ty="0" sy="85000"/>
            </a:blip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t/>
              </a:r>
              <a:endParaRPr b="1" i="0" sz="20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24" name="Google Shape;24;p27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5" name="Google Shape;25;p27"/>
          <p:cNvSpPr txBox="1"/>
          <p:nvPr>
            <p:ph type="ctrTitle"/>
          </p:nvPr>
        </p:nvSpPr>
        <p:spPr>
          <a:xfrm>
            <a:off x="788670" y="1432223"/>
            <a:ext cx="7593330" cy="3035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400"/>
              <a:buFont typeface="Rockwell"/>
              <a:buNone/>
              <a:defRPr b="0" sz="64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27"/>
          <p:cNvSpPr txBox="1"/>
          <p:nvPr>
            <p:ph idx="1" type="subTitle"/>
          </p:nvPr>
        </p:nvSpPr>
        <p:spPr>
          <a:xfrm>
            <a:off x="802386" y="4389120"/>
            <a:ext cx="5918454" cy="10698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None/>
              <a:defRPr b="0" sz="18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380"/>
              <a:buNone/>
              <a:defRPr sz="28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40"/>
              <a:buNone/>
              <a:defRPr sz="2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sz="20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700"/>
              <a:buNone/>
              <a:defRPr sz="2000"/>
            </a:lvl9pPr>
          </a:lstStyle>
          <a:p/>
        </p:txBody>
      </p:sp>
      <p:sp>
        <p:nvSpPr>
          <p:cNvPr id="27" name="Google Shape;27;p27"/>
          <p:cNvSpPr txBox="1"/>
          <p:nvPr>
            <p:ph idx="10" type="dt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7"/>
          <p:cNvSpPr txBox="1"/>
          <p:nvPr>
            <p:ph idx="11" type="ftr"/>
          </p:nvPr>
        </p:nvSpPr>
        <p:spPr>
          <a:xfrm>
            <a:off x="812805" y="6272785"/>
            <a:ext cx="47457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7"/>
          <p:cNvSpPr txBox="1"/>
          <p:nvPr>
            <p:ph idx="12" type="sldNum"/>
          </p:nvPr>
        </p:nvSpPr>
        <p:spPr>
          <a:xfrm>
            <a:off x="7244280" y="4227195"/>
            <a:ext cx="895401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 b="1" i="0" sz="28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0" name="Google Shape;30;p27"/>
          <p:cNvSpPr/>
          <p:nvPr/>
        </p:nvSpPr>
        <p:spPr>
          <a:xfrm>
            <a:off x="0" y="6629400"/>
            <a:ext cx="5943600" cy="261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0253F"/>
                </a:solidFill>
                <a:latin typeface="Arial"/>
                <a:ea typeface="Arial"/>
                <a:cs typeface="Arial"/>
                <a:sym typeface="Arial"/>
              </a:rPr>
              <a:t>Copyright © Terry Felke-Morris</a:t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8"/>
          <p:cNvSpPr txBox="1"/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8"/>
          <p:cNvSpPr txBox="1"/>
          <p:nvPr>
            <p:ph idx="1" type="body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indent="-325755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indent="-325755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indent="-325754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indent="-325754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indent="-325754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indent="-325754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indent="-325754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/>
        </p:txBody>
      </p:sp>
      <p:sp>
        <p:nvSpPr>
          <p:cNvPr id="34" name="Google Shape;34;p28"/>
          <p:cNvSpPr txBox="1"/>
          <p:nvPr>
            <p:ph idx="10" type="dt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8"/>
          <p:cNvSpPr txBox="1"/>
          <p:nvPr>
            <p:ph idx="11" type="ftr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8"/>
          <p:cNvSpPr txBox="1"/>
          <p:nvPr>
            <p:ph idx="12" type="sldNum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7" name="Google Shape;37;p28"/>
          <p:cNvSpPr/>
          <p:nvPr/>
        </p:nvSpPr>
        <p:spPr>
          <a:xfrm>
            <a:off x="0" y="6629400"/>
            <a:ext cx="5943600" cy="2619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10253F"/>
                </a:solidFill>
                <a:latin typeface="Arial"/>
                <a:ea typeface="Arial"/>
                <a:cs typeface="Arial"/>
                <a:sym typeface="Arial"/>
              </a:rPr>
              <a:t>Copyright © Terry Felke-Morris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9"/>
          <p:cNvSpPr txBox="1"/>
          <p:nvPr>
            <p:ph idx="10" type="dt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29"/>
          <p:cNvSpPr txBox="1"/>
          <p:nvPr>
            <p:ph idx="11" type="ftr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29"/>
          <p:cNvSpPr txBox="1"/>
          <p:nvPr>
            <p:ph idx="12" type="sldNum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showMasterSp="0" type="secHead">
  <p:cSld name="SECTION_HEAD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0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rotWithShape="1">
            <a:blip r:embed="rId2">
              <a:alphaModFix amt="80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4" name="Google Shape;44;p30"/>
          <p:cNvSpPr txBox="1"/>
          <p:nvPr>
            <p:ph type="title"/>
          </p:nvPr>
        </p:nvSpPr>
        <p:spPr>
          <a:xfrm>
            <a:off x="1625346" y="1225296"/>
            <a:ext cx="6960870" cy="35204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6400"/>
              <a:buFont typeface="Rockwell"/>
              <a:buNone/>
              <a:defRPr b="0" sz="6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0"/>
          <p:cNvSpPr txBox="1"/>
          <p:nvPr>
            <p:ph idx="1" type="body"/>
          </p:nvPr>
        </p:nvSpPr>
        <p:spPr>
          <a:xfrm>
            <a:off x="1624330" y="5020056"/>
            <a:ext cx="678942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None/>
              <a:defRPr b="0" sz="1800">
                <a:solidFill>
                  <a:srgbClr val="69240B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19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6" name="Google Shape;46;p30"/>
          <p:cNvSpPr txBox="1"/>
          <p:nvPr>
            <p:ph idx="10" type="dt"/>
          </p:nvPr>
        </p:nvSpPr>
        <p:spPr>
          <a:xfrm>
            <a:off x="6445251" y="6272785"/>
            <a:ext cx="1983232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9240B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30"/>
          <p:cNvSpPr txBox="1"/>
          <p:nvPr>
            <p:ph idx="11" type="ftr"/>
          </p:nvPr>
        </p:nvSpPr>
        <p:spPr>
          <a:xfrm>
            <a:off x="1636099" y="6272784"/>
            <a:ext cx="47457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9240B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48" name="Google Shape;48;p30"/>
          <p:cNvGrpSpPr/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49" name="Google Shape;49;p3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0" sx="85000" ty="0" sy="85000"/>
            </a:blip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t/>
              </a:r>
              <a:endParaRPr b="1" i="0" sz="20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50" name="Google Shape;50;p30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1" name="Google Shape;51;p30"/>
          <p:cNvSpPr txBox="1"/>
          <p:nvPr>
            <p:ph idx="12" type="sldNum"/>
          </p:nvPr>
        </p:nvSpPr>
        <p:spPr>
          <a:xfrm>
            <a:off x="645450" y="2508607"/>
            <a:ext cx="891224" cy="7203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 b="1" sz="28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 b="1" sz="28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 b="1" sz="28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 b="1" sz="28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 b="1" sz="28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 b="1" sz="28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 b="1" sz="28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 b="1" sz="28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 b="1" sz="2800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1"/>
          <p:cNvSpPr txBox="1"/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31"/>
          <p:cNvSpPr txBox="1"/>
          <p:nvPr>
            <p:ph idx="1" type="body"/>
          </p:nvPr>
        </p:nvSpPr>
        <p:spPr>
          <a:xfrm>
            <a:off x="685800" y="2194560"/>
            <a:ext cx="365760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25754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6pPr>
            <a:lvl7pPr indent="-325754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7pPr>
            <a:lvl8pPr indent="-325754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8pPr>
            <a:lvl9pPr indent="-325754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 sz="1800"/>
            </a:lvl9pPr>
          </a:lstStyle>
          <a:p/>
        </p:txBody>
      </p:sp>
      <p:sp>
        <p:nvSpPr>
          <p:cNvPr id="55" name="Google Shape;55;p31"/>
          <p:cNvSpPr txBox="1"/>
          <p:nvPr>
            <p:ph idx="2" type="body"/>
          </p:nvPr>
        </p:nvSpPr>
        <p:spPr>
          <a:xfrm>
            <a:off x="4792218" y="2194560"/>
            <a:ext cx="3657600" cy="39776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25754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6pPr>
            <a:lvl7pPr indent="-325754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7pPr>
            <a:lvl8pPr indent="-325754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8pPr>
            <a:lvl9pPr indent="-325754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 sz="1800"/>
            </a:lvl9pPr>
          </a:lstStyle>
          <a:p/>
        </p:txBody>
      </p:sp>
      <p:sp>
        <p:nvSpPr>
          <p:cNvPr id="56" name="Google Shape;56;p31"/>
          <p:cNvSpPr txBox="1"/>
          <p:nvPr>
            <p:ph idx="10" type="dt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31"/>
          <p:cNvSpPr txBox="1"/>
          <p:nvPr>
            <p:ph idx="11" type="ftr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31"/>
          <p:cNvSpPr txBox="1"/>
          <p:nvPr>
            <p:ph idx="12" type="sldNum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>
  <p:cSld name="Comparis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2"/>
          <p:cNvSpPr txBox="1"/>
          <p:nvPr>
            <p:ph idx="1" type="body"/>
          </p:nvPr>
        </p:nvSpPr>
        <p:spPr>
          <a:xfrm>
            <a:off x="685800" y="2048256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  <a:defRPr b="1" sz="2000">
                <a:solidFill>
                  <a:srgbClr val="9E361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None/>
              <a:defRPr b="1" sz="1600"/>
            </a:lvl9pPr>
          </a:lstStyle>
          <a:p/>
        </p:txBody>
      </p:sp>
      <p:sp>
        <p:nvSpPr>
          <p:cNvPr id="61" name="Google Shape;61;p32"/>
          <p:cNvSpPr txBox="1"/>
          <p:nvPr>
            <p:ph idx="2" type="body"/>
          </p:nvPr>
        </p:nvSpPr>
        <p:spPr>
          <a:xfrm>
            <a:off x="685800" y="2743200"/>
            <a:ext cx="36576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1496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indent="-31496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indent="-314959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indent="-314959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/>
        </p:txBody>
      </p:sp>
      <p:sp>
        <p:nvSpPr>
          <p:cNvPr id="62" name="Google Shape;62;p32"/>
          <p:cNvSpPr txBox="1"/>
          <p:nvPr>
            <p:ph idx="3" type="body"/>
          </p:nvPr>
        </p:nvSpPr>
        <p:spPr>
          <a:xfrm>
            <a:off x="4820793" y="2048256"/>
            <a:ext cx="365760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None/>
              <a:defRPr b="1" sz="2000">
                <a:solidFill>
                  <a:srgbClr val="9E3611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None/>
              <a:defRPr b="1" sz="1600"/>
            </a:lvl9pPr>
          </a:lstStyle>
          <a:p/>
        </p:txBody>
      </p:sp>
      <p:sp>
        <p:nvSpPr>
          <p:cNvPr id="63" name="Google Shape;63;p32"/>
          <p:cNvSpPr txBox="1"/>
          <p:nvPr>
            <p:ph idx="4" type="body"/>
          </p:nvPr>
        </p:nvSpPr>
        <p:spPr>
          <a:xfrm>
            <a:off x="4820793" y="2743200"/>
            <a:ext cx="36576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1496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6pPr>
            <a:lvl7pPr indent="-31496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7pPr>
            <a:lvl8pPr indent="-314959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8pPr>
            <a:lvl9pPr indent="-314959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360"/>
              <a:buChar char="▪"/>
              <a:defRPr sz="1600"/>
            </a:lvl9pPr>
          </a:lstStyle>
          <a:p/>
        </p:txBody>
      </p:sp>
      <p:sp>
        <p:nvSpPr>
          <p:cNvPr id="64" name="Google Shape;64;p32"/>
          <p:cNvSpPr txBox="1"/>
          <p:nvPr>
            <p:ph idx="10" type="dt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32"/>
          <p:cNvSpPr txBox="1"/>
          <p:nvPr>
            <p:ph idx="11" type="ftr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2"/>
          <p:cNvSpPr txBox="1"/>
          <p:nvPr>
            <p:ph idx="12" type="sldNum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" name="Google Shape;67;p32"/>
          <p:cNvSpPr txBox="1"/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3"/>
          <p:cNvSpPr txBox="1"/>
          <p:nvPr>
            <p:ph idx="10" type="dt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9240B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3"/>
          <p:cNvSpPr txBox="1"/>
          <p:nvPr>
            <p:ph idx="11" type="ftr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69240B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33"/>
          <p:cNvSpPr txBox="1"/>
          <p:nvPr>
            <p:ph idx="12" type="sldNum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72" name="Google Shape;72;p33"/>
          <p:cNvSpPr txBox="1"/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showMasterSp="0" type="objTx">
  <p:cSld name="OBJECT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34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rotWithShape="1">
            <a:blip r:embed="rId2">
              <a:alphaModFix amt="60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34"/>
          <p:cNvSpPr txBox="1"/>
          <p:nvPr>
            <p:ph type="title"/>
          </p:nvPr>
        </p:nvSpPr>
        <p:spPr>
          <a:xfrm>
            <a:off x="6412230" y="685800"/>
            <a:ext cx="24003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ckwell"/>
              <a:buNone/>
              <a:defRPr b="0"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4"/>
          <p:cNvSpPr txBox="1"/>
          <p:nvPr>
            <p:ph idx="1" type="body"/>
          </p:nvPr>
        </p:nvSpPr>
        <p:spPr>
          <a:xfrm>
            <a:off x="628650" y="685800"/>
            <a:ext cx="5033772" cy="5020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  <a:defRPr sz="2000"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 sz="1800"/>
            </a:lvl2pPr>
            <a:lvl3pPr indent="-31496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3pPr>
            <a:lvl4pPr indent="-31496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4pPr>
            <a:lvl5pPr indent="-31496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360"/>
              <a:buChar char="▪"/>
              <a:defRPr sz="1600"/>
            </a:lvl5pPr>
            <a:lvl6pPr indent="-3365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Char char="▪"/>
              <a:defRPr sz="2000"/>
            </a:lvl6pPr>
            <a:lvl7pPr indent="-3365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Char char="▪"/>
              <a:defRPr sz="2000"/>
            </a:lvl7pPr>
            <a:lvl8pPr indent="-3365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Char char="▪"/>
              <a:defRPr sz="2000"/>
            </a:lvl8pPr>
            <a:lvl9pPr indent="-33655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700"/>
              <a:buChar char="▪"/>
              <a:defRPr sz="2000"/>
            </a:lvl9pPr>
          </a:lstStyle>
          <a:p/>
        </p:txBody>
      </p:sp>
      <p:sp>
        <p:nvSpPr>
          <p:cNvPr id="77" name="Google Shape;77;p34"/>
          <p:cNvSpPr txBox="1"/>
          <p:nvPr>
            <p:ph idx="2" type="body"/>
          </p:nvPr>
        </p:nvSpPr>
        <p:spPr>
          <a:xfrm>
            <a:off x="6412230" y="2423160"/>
            <a:ext cx="24003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48"/>
              <a:buNone/>
              <a:defRPr sz="1350">
                <a:solidFill>
                  <a:srgbClr val="69240B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765"/>
              <a:buNone/>
              <a:defRPr sz="900"/>
            </a:lvl9pPr>
          </a:lstStyle>
          <a:p/>
        </p:txBody>
      </p:sp>
      <p:grpSp>
        <p:nvGrpSpPr>
          <p:cNvPr id="78" name="Google Shape;78;p34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79" name="Google Shape;79;p34"/>
            <p:cNvSpPr/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50800" sx="85000" ty="0" sy="85000"/>
            </a:blip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t/>
              </a:r>
              <a:endParaRPr b="1" i="0" sz="20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80" name="Google Shape;80;p34"/>
            <p:cNvSpPr/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1" name="Google Shape;81;p34"/>
          <p:cNvSpPr txBox="1"/>
          <p:nvPr>
            <p:ph idx="10" type="dt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4"/>
          <p:cNvSpPr txBox="1"/>
          <p:nvPr>
            <p:ph idx="11" type="ftr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4"/>
          <p:cNvSpPr txBox="1"/>
          <p:nvPr>
            <p:ph idx="12" type="sldNum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showMasterSp="0" type="picTx">
  <p:cSld name="PICTURE_WITH_CAPTION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5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rotWithShape="1">
            <a:blip r:embed="rId2">
              <a:alphaModFix amt="60000"/>
            </a:blip>
            <a:tile algn="ctr" flip="xy" tx="0" sx="92000" ty="-704850" sy="89000"/>
          </a:blip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6" name="Google Shape;86;p35"/>
          <p:cNvSpPr txBox="1"/>
          <p:nvPr>
            <p:ph type="title"/>
          </p:nvPr>
        </p:nvSpPr>
        <p:spPr>
          <a:xfrm>
            <a:off x="6412230" y="685800"/>
            <a:ext cx="240030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ockwell"/>
              <a:buNone/>
              <a:defRPr b="0" sz="2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5"/>
          <p:cNvSpPr/>
          <p:nvPr>
            <p:ph idx="2" type="pic"/>
          </p:nvPr>
        </p:nvSpPr>
        <p:spPr>
          <a:xfrm>
            <a:off x="0" y="0"/>
            <a:ext cx="6227805" cy="6858000"/>
          </a:xfrm>
          <a:prstGeom prst="rect">
            <a:avLst/>
          </a:prstGeom>
          <a:solidFill>
            <a:srgbClr val="E1DFDF"/>
          </a:solidFill>
          <a:ln>
            <a:noFill/>
          </a:ln>
        </p:spPr>
      </p:sp>
      <p:sp>
        <p:nvSpPr>
          <p:cNvPr id="88" name="Google Shape;88;p35"/>
          <p:cNvSpPr txBox="1"/>
          <p:nvPr>
            <p:ph idx="1" type="body"/>
          </p:nvPr>
        </p:nvSpPr>
        <p:spPr>
          <a:xfrm>
            <a:off x="6412230" y="2423160"/>
            <a:ext cx="2400300" cy="32918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148"/>
              <a:buNone/>
              <a:defRPr sz="1350">
                <a:solidFill>
                  <a:srgbClr val="69240B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020"/>
              <a:buNone/>
              <a:defRPr sz="12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850"/>
              <a:buNone/>
              <a:defRPr sz="10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765"/>
              <a:buNone/>
              <a:defRPr sz="9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765"/>
              <a:buNone/>
              <a:defRPr sz="900"/>
            </a:lvl9pPr>
          </a:lstStyle>
          <a:p/>
        </p:txBody>
      </p:sp>
      <p:grpSp>
        <p:nvGrpSpPr>
          <p:cNvPr id="89" name="Google Shape;89;p35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90" name="Google Shape;90;p35"/>
            <p:cNvSpPr/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rotWithShape="1">
              <a:blip r:embed="rId3">
                <a:alphaModFix/>
              </a:blip>
              <a:tile algn="tl" flip="none" tx="50800" sx="85000" ty="0" sy="85000"/>
            </a:blip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t/>
              </a:r>
              <a:endParaRPr b="1" i="0" sz="20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91" name="Google Shape;91;p35"/>
            <p:cNvSpPr/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2" name="Google Shape;92;p35"/>
          <p:cNvSpPr txBox="1"/>
          <p:nvPr>
            <p:ph idx="10" type="dt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35"/>
          <p:cNvSpPr txBox="1"/>
          <p:nvPr>
            <p:ph idx="12" type="sldNum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6"/>
          <p:cNvSpPr txBox="1"/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36"/>
          <p:cNvSpPr txBox="1"/>
          <p:nvPr>
            <p:ph idx="1" type="body"/>
          </p:nvPr>
        </p:nvSpPr>
        <p:spPr>
          <a:xfrm rot="5400000">
            <a:off x="2546604" y="260604"/>
            <a:ext cx="4050792" cy="777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indent="-325755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indent="-325755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indent="-325754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indent="-325754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indent="-325754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indent="-325754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indent="-325754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/>
        </p:txBody>
      </p:sp>
      <p:sp>
        <p:nvSpPr>
          <p:cNvPr id="97" name="Google Shape;97;p36"/>
          <p:cNvSpPr txBox="1"/>
          <p:nvPr>
            <p:ph idx="10" type="dt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36"/>
          <p:cNvSpPr txBox="1"/>
          <p:nvPr>
            <p:ph idx="11" type="ftr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36"/>
          <p:cNvSpPr txBox="1"/>
          <p:nvPr>
            <p:ph idx="12" type="sldNum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7"/>
          <p:cNvSpPr txBox="1"/>
          <p:nvPr>
            <p:ph type="title"/>
          </p:nvPr>
        </p:nvSpPr>
        <p:spPr>
          <a:xfrm rot="5400000">
            <a:off x="4681538" y="2395538"/>
            <a:ext cx="5638800" cy="1914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Font typeface="Rockwell"/>
              <a:buNone/>
              <a:defRPr b="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37"/>
          <p:cNvSpPr txBox="1"/>
          <p:nvPr>
            <p:ph idx="1" type="body"/>
          </p:nvPr>
        </p:nvSpPr>
        <p:spPr>
          <a:xfrm rot="5400000">
            <a:off x="795338" y="538163"/>
            <a:ext cx="5638800" cy="56292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25755" lvl="0" marL="45720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530"/>
              <a:buChar char="▪"/>
              <a:defRPr/>
            </a:lvl1pPr>
            <a:lvl2pPr indent="-325755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2pPr>
            <a:lvl3pPr indent="-325755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3pPr>
            <a:lvl4pPr indent="-325755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4pPr>
            <a:lvl5pPr indent="-325754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5pPr>
            <a:lvl6pPr indent="-325754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6pPr>
            <a:lvl7pPr indent="-325754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7pPr>
            <a:lvl8pPr indent="-325754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  <a:defRPr/>
            </a:lvl8pPr>
            <a:lvl9pPr indent="-325754" lvl="8" marL="411480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530"/>
              <a:buChar char="▪"/>
              <a:defRPr/>
            </a:lvl9pPr>
          </a:lstStyle>
          <a:p/>
        </p:txBody>
      </p:sp>
      <p:sp>
        <p:nvSpPr>
          <p:cNvPr id="103" name="Google Shape;103;p37"/>
          <p:cNvSpPr txBox="1"/>
          <p:nvPr>
            <p:ph idx="10" type="dt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37"/>
          <p:cNvSpPr txBox="1"/>
          <p:nvPr>
            <p:ph idx="11" type="ftr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37"/>
          <p:cNvSpPr txBox="1"/>
          <p:nvPr>
            <p:ph idx="12" type="sldNum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ctr">
              <a:spcBef>
                <a:spcPts val="0"/>
              </a:spcBef>
              <a:spcAft>
                <a:spcPts val="0"/>
              </a:spcAft>
              <a:buNone/>
              <a:defRPr/>
            </a:lvl1pPr>
            <a:lvl2pPr indent="0" lvl="1" marL="0" algn="ctr">
              <a:spcBef>
                <a:spcPts val="0"/>
              </a:spcBef>
              <a:spcAft>
                <a:spcPts val="0"/>
              </a:spcAft>
              <a:buNone/>
              <a:defRPr/>
            </a:lvl2pPr>
            <a:lvl3pPr indent="0" lvl="2" marL="0" algn="ctr">
              <a:spcBef>
                <a:spcPts val="0"/>
              </a:spcBef>
              <a:spcAft>
                <a:spcPts val="0"/>
              </a:spcAft>
              <a:buNone/>
              <a:defRPr/>
            </a:lvl3pPr>
            <a:lvl4pPr indent="0" lvl="3" marL="0" algn="ctr">
              <a:spcBef>
                <a:spcPts val="0"/>
              </a:spcBef>
              <a:spcAft>
                <a:spcPts val="0"/>
              </a:spcAft>
              <a:buNone/>
              <a:defRPr/>
            </a:lvl4pPr>
            <a:lvl5pPr indent="0" lvl="4" marL="0" algn="ctr">
              <a:spcBef>
                <a:spcPts val="0"/>
              </a:spcBef>
              <a:spcAft>
                <a:spcPts val="0"/>
              </a:spcAft>
              <a:buNone/>
              <a:defRPr/>
            </a:lvl5pPr>
            <a:lvl6pPr indent="0" lvl="5" marL="0" algn="ctr">
              <a:spcBef>
                <a:spcPts val="0"/>
              </a:spcBef>
              <a:spcAft>
                <a:spcPts val="0"/>
              </a:spcAft>
              <a:buNone/>
              <a:defRPr/>
            </a:lvl6pPr>
            <a:lvl7pPr indent="0" lvl="6" marL="0" algn="ctr">
              <a:spcBef>
                <a:spcPts val="0"/>
              </a:spcBef>
              <a:spcAft>
                <a:spcPts val="0"/>
              </a:spcAft>
              <a:buNone/>
              <a:defRPr/>
            </a:lvl7pPr>
            <a:lvl8pPr indent="0" lvl="7" marL="0" algn="ctr">
              <a:spcBef>
                <a:spcPts val="0"/>
              </a:spcBef>
              <a:spcAft>
                <a:spcPts val="0"/>
              </a:spcAft>
              <a:buNone/>
              <a:defRPr/>
            </a:lvl8pPr>
            <a:lvl9pPr indent="0" lvl="8" marL="0" algn="ctr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6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1" name="Google Shape;11;p26"/>
            <p:cNvSpPr/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rotWithShape="1">
              <a:blip r:embed="rId1">
                <a:alphaModFix/>
              </a:blip>
              <a:tile algn="tl" flip="none" tx="50800" sx="85000" ty="0" sy="85000"/>
            </a:blipFill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Times New Roman"/>
                <a:buNone/>
              </a:pPr>
              <a:r>
                <a:t/>
              </a:r>
              <a:endParaRPr b="1" i="0" sz="20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endParaRPr>
            </a:p>
          </p:txBody>
        </p:sp>
        <p:sp>
          <p:nvSpPr>
            <p:cNvPr id="12" name="Google Shape;12;p26"/>
            <p:cNvSpPr/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cap="flat" cmpd="sng" w="127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Times New Roman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" name="Google Shape;13;p26"/>
          <p:cNvSpPr txBox="1"/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Font typeface="Rockwell"/>
              <a:buNone/>
              <a:defRPr b="0" i="0" sz="4200" u="none" cap="none" strike="noStrike">
                <a:latin typeface="Rockwell"/>
                <a:ea typeface="Rockwell"/>
                <a:cs typeface="Rockwell"/>
                <a:sym typeface="Rockwel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" name="Google Shape;14;p26"/>
          <p:cNvSpPr txBox="1"/>
          <p:nvPr>
            <p:ph idx="1" type="body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36550" lvl="0" marL="457200" marR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9E3611"/>
              </a:buClr>
              <a:buSzPts val="1700"/>
              <a:buFont typeface="Noto Sans Symbols"/>
              <a:buChar char="▪"/>
              <a:defRPr b="0" i="0" sz="20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-325755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530"/>
              <a:buFont typeface="Noto Sans Symbols"/>
              <a:buChar char="▪"/>
              <a:defRPr b="0" i="0" sz="18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-31496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-31496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-31496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-31496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-31496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-314959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-314959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Clr>
                <a:srgbClr val="9E3611"/>
              </a:buClr>
              <a:buSzPts val="1360"/>
              <a:buFont typeface="Noto Sans Symbols"/>
              <a:buChar char="▪"/>
              <a:defRPr b="0" i="0" sz="1600" u="none" cap="none" strike="noStrike">
                <a:solidFill>
                  <a:schemeClr val="dk1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/>
        </p:txBody>
      </p:sp>
      <p:sp>
        <p:nvSpPr>
          <p:cNvPr id="15" name="Google Shape;15;p26"/>
          <p:cNvSpPr txBox="1"/>
          <p:nvPr>
            <p:ph idx="10" type="dt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69240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6" name="Google Shape;16;p26"/>
          <p:cNvSpPr txBox="1"/>
          <p:nvPr>
            <p:ph idx="11" type="ftr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69240B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7" name="Google Shape;17;p26"/>
          <p:cNvSpPr txBox="1"/>
          <p:nvPr>
            <p:ph idx="12" type="sldNum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ctr">
              <a:spcBef>
                <a:spcPts val="0"/>
              </a:spcBef>
              <a:spcAft>
                <a:spcPts val="0"/>
              </a:spcAft>
              <a:buNone/>
              <a:defRPr b="1" i="0" sz="11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1pPr>
            <a:lvl2pPr indent="0" lvl="1" marL="0" marR="0" rtl="0" algn="ctr">
              <a:spcBef>
                <a:spcPts val="0"/>
              </a:spcBef>
              <a:spcAft>
                <a:spcPts val="0"/>
              </a:spcAft>
              <a:buNone/>
              <a:defRPr b="1" i="0" sz="11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2pPr>
            <a:lvl3pPr indent="0" lvl="2" marL="0" marR="0" rtl="0" algn="ctr">
              <a:spcBef>
                <a:spcPts val="0"/>
              </a:spcBef>
              <a:spcAft>
                <a:spcPts val="0"/>
              </a:spcAft>
              <a:buNone/>
              <a:defRPr b="1" i="0" sz="11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3pPr>
            <a:lvl4pPr indent="0" lvl="3" marL="0" marR="0" rtl="0" algn="ctr">
              <a:spcBef>
                <a:spcPts val="0"/>
              </a:spcBef>
              <a:spcAft>
                <a:spcPts val="0"/>
              </a:spcAft>
              <a:buNone/>
              <a:defRPr b="1" i="0" sz="11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4pPr>
            <a:lvl5pPr indent="0" lvl="4" marL="0" marR="0" rtl="0" algn="ctr">
              <a:spcBef>
                <a:spcPts val="0"/>
              </a:spcBef>
              <a:spcAft>
                <a:spcPts val="0"/>
              </a:spcAft>
              <a:buNone/>
              <a:defRPr b="1" i="0" sz="11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5pPr>
            <a:lvl6pPr indent="0" lvl="5" marL="0" marR="0" rtl="0" algn="ctr">
              <a:spcBef>
                <a:spcPts val="0"/>
              </a:spcBef>
              <a:spcAft>
                <a:spcPts val="0"/>
              </a:spcAft>
              <a:buNone/>
              <a:defRPr b="1" i="0" sz="11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6pPr>
            <a:lvl7pPr indent="0" lvl="6" marL="0" marR="0" rtl="0" algn="ctr">
              <a:spcBef>
                <a:spcPts val="0"/>
              </a:spcBef>
              <a:spcAft>
                <a:spcPts val="0"/>
              </a:spcAft>
              <a:buNone/>
              <a:defRPr b="1" i="0" sz="11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7pPr>
            <a:lvl8pPr indent="0" lvl="7" marL="0" marR="0" rtl="0" algn="ctr">
              <a:spcBef>
                <a:spcPts val="0"/>
              </a:spcBef>
              <a:spcAft>
                <a:spcPts val="0"/>
              </a:spcAft>
              <a:buNone/>
              <a:defRPr b="1" i="0" sz="11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8pPr>
            <a:lvl9pPr indent="0" lvl="8" marL="0" marR="0" rtl="0" algn="ctr">
              <a:spcBef>
                <a:spcPts val="0"/>
              </a:spcBef>
              <a:spcAft>
                <a:spcPts val="0"/>
              </a:spcAft>
              <a:buNone/>
              <a:defRPr b="1" i="0" sz="1100" u="none" cap="none" strike="noStrike">
                <a:solidFill>
                  <a:srgbClr val="FFFFFF"/>
                </a:solidFill>
                <a:latin typeface="Rockwell"/>
                <a:ea typeface="Rockwell"/>
                <a:cs typeface="Rockwell"/>
                <a:sym typeface="Rockwell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jpg"/><Relationship Id="rId4" Type="http://schemas.openxmlformats.org/officeDocument/2006/relationships/hyperlink" Target="http://www.w3.org/html/logo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7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2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"/>
          <p:cNvSpPr txBox="1"/>
          <p:nvPr>
            <p:ph type="ctrTitle"/>
          </p:nvPr>
        </p:nvSpPr>
        <p:spPr>
          <a:xfrm>
            <a:off x="1066800" y="2057400"/>
            <a:ext cx="7543800" cy="1431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696363"/>
              </a:buClr>
              <a:buSzPct val="100000"/>
              <a:buFont typeface="Rockwell"/>
              <a:buNone/>
            </a:pPr>
            <a:r>
              <a:rPr lang="en-US" sz="6700">
                <a:solidFill>
                  <a:srgbClr val="696363"/>
                </a:solidFill>
              </a:rPr>
              <a:t>HTML5</a:t>
            </a:r>
            <a:br>
              <a:rPr lang="en-US" sz="4400">
                <a:solidFill>
                  <a:srgbClr val="696363"/>
                </a:solidFill>
              </a:rPr>
            </a:br>
            <a:endParaRPr sz="4400">
              <a:solidFill>
                <a:srgbClr val="696363"/>
              </a:solidFill>
            </a:endParaRPr>
          </a:p>
        </p:txBody>
      </p:sp>
      <p:sp>
        <p:nvSpPr>
          <p:cNvPr id="112" name="Google Shape;112;p1"/>
          <p:cNvSpPr txBox="1"/>
          <p:nvPr>
            <p:ph idx="1" type="subTitle"/>
          </p:nvPr>
        </p:nvSpPr>
        <p:spPr>
          <a:xfrm>
            <a:off x="609600" y="4114800"/>
            <a:ext cx="7924800" cy="8953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80"/>
              <a:buFont typeface="Noto Sans Symbols"/>
              <a:buNone/>
            </a:pPr>
            <a:r>
              <a:rPr lang="en-US" sz="2800"/>
              <a:t>Chapter 3-Extended</a:t>
            </a:r>
            <a:endParaRPr/>
          </a:p>
        </p:txBody>
      </p:sp>
      <p:sp>
        <p:nvSpPr>
          <p:cNvPr id="113" name="Google Shape;113;p1"/>
          <p:cNvSpPr txBox="1"/>
          <p:nvPr>
            <p:ph idx="12" type="sldNum"/>
          </p:nvPr>
        </p:nvSpPr>
        <p:spPr>
          <a:xfrm>
            <a:off x="7244280" y="4227195"/>
            <a:ext cx="895401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200"/>
              <a:buFont typeface="Rockwell"/>
              <a:buNone/>
            </a:pPr>
            <a:r>
              <a:rPr lang="en-US"/>
              <a:t>WHAT  IS  HTML5 ?</a:t>
            </a:r>
            <a:endParaRPr/>
          </a:p>
        </p:txBody>
      </p:sp>
      <p:sp>
        <p:nvSpPr>
          <p:cNvPr id="119" name="Google Shape;119;p2"/>
          <p:cNvSpPr txBox="1"/>
          <p:nvPr>
            <p:ph idx="1" type="body"/>
          </p:nvPr>
        </p:nvSpPr>
        <p:spPr>
          <a:xfrm>
            <a:off x="304800" y="1066800"/>
            <a:ext cx="8610600" cy="464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380"/>
              <a:buChar char="▪"/>
            </a:pPr>
            <a:r>
              <a:rPr lang="en-US" sz="2800"/>
              <a:t>Newest draft version of HTML/XHTML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380"/>
              <a:buChar char="▪"/>
            </a:pPr>
            <a:r>
              <a:rPr lang="en-US" sz="2800"/>
              <a:t>Supported by modern browsers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Char char="▪"/>
            </a:pPr>
            <a:r>
              <a:rPr lang="en-US" sz="2000"/>
              <a:t>Safari, Google Chrome, Firefox, Internet Explorer 9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380"/>
              <a:buChar char="▪"/>
            </a:pPr>
            <a:r>
              <a:rPr lang="en-US" sz="2800"/>
              <a:t>Intended to be backwards compatible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380"/>
              <a:buChar char="▪"/>
            </a:pPr>
            <a:r>
              <a:rPr lang="en-US" sz="2800"/>
              <a:t>Adds new elements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380"/>
              <a:buChar char="▪"/>
            </a:pPr>
            <a:r>
              <a:rPr lang="en-US" sz="2800"/>
              <a:t>Adds new functionality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Char char="▪"/>
            </a:pPr>
            <a:r>
              <a:rPr lang="en-US" sz="2000"/>
              <a:t>Edit form data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Char char="▪"/>
            </a:pPr>
            <a:r>
              <a:rPr lang="en-US" sz="2000"/>
              <a:t>Native video and audio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Char char="▪"/>
            </a:pPr>
            <a:r>
              <a:rPr lang="en-US" sz="2000"/>
              <a:t>And more! </a:t>
            </a:r>
            <a:endParaRPr/>
          </a:p>
        </p:txBody>
      </p:sp>
      <p:sp>
        <p:nvSpPr>
          <p:cNvPr id="120" name="Google Shape;120;p2"/>
          <p:cNvSpPr txBox="1"/>
          <p:nvPr>
            <p:ph idx="12" type="sldNum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descr="http://t0.gstatic.com/images?q=tbn:ANd9GcTWC3XDuJB3kXc4l_ojUXhUx6NMmtZ0LZYmnraeL9358pZJNaqG" id="121" name="Google Shape;121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67400" y="3200400"/>
            <a:ext cx="2143125" cy="214312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"/>
          <p:cNvSpPr txBox="1"/>
          <p:nvPr/>
        </p:nvSpPr>
        <p:spPr>
          <a:xfrm>
            <a:off x="5410200" y="5410200"/>
            <a:ext cx="3392488" cy="3079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Source: W3C  </a:t>
            </a:r>
            <a:r>
              <a:rPr b="0" i="0" lang="en-US" sz="1400" u="sng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http://www.w3.org/html/logo/</a:t>
            </a:r>
            <a:endParaRPr sz="1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"/>
          <p:cNvSpPr txBox="1"/>
          <p:nvPr>
            <p:ph type="title"/>
          </p:nvPr>
        </p:nvSpPr>
        <p:spPr>
          <a:xfrm>
            <a:off x="685800" y="37407"/>
            <a:ext cx="61722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200"/>
              <a:buFont typeface="Rockwell"/>
              <a:buNone/>
            </a:pPr>
            <a:r>
              <a:rPr b="1" lang="en-US">
                <a:solidFill>
                  <a:srgbClr val="0070C0"/>
                </a:solidFill>
              </a:rPr>
              <a:t>NEW FEATURES</a:t>
            </a:r>
            <a:endParaRPr/>
          </a:p>
        </p:txBody>
      </p:sp>
      <p:sp>
        <p:nvSpPr>
          <p:cNvPr id="128" name="Google Shape;128;p3"/>
          <p:cNvSpPr txBox="1"/>
          <p:nvPr>
            <p:ph idx="1" type="body"/>
          </p:nvPr>
        </p:nvSpPr>
        <p:spPr>
          <a:xfrm>
            <a:off x="76200" y="1066800"/>
            <a:ext cx="8552688" cy="510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25400" lvl="0" marL="571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210"/>
              <a:buNone/>
            </a:pPr>
            <a:r>
              <a:rPr lang="en-US" sz="2600"/>
              <a:t>Some of the most interesting new features in  HTML5 are:</a:t>
            </a:r>
            <a:endParaRPr/>
          </a:p>
          <a:p>
            <a:pPr indent="-182879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210"/>
              <a:buChar char="▪"/>
            </a:pPr>
            <a:r>
              <a:rPr lang="en-US" sz="2600"/>
              <a:t>The </a:t>
            </a:r>
            <a:r>
              <a:rPr b="1" i="1" lang="en-US" sz="2600">
                <a:solidFill>
                  <a:srgbClr val="C00000"/>
                </a:solidFill>
              </a:rPr>
              <a:t>&lt;canvas&gt; </a:t>
            </a:r>
            <a:r>
              <a:rPr lang="en-US" sz="2600"/>
              <a:t>element for 2D drawing</a:t>
            </a:r>
            <a:endParaRPr/>
          </a:p>
          <a:p>
            <a:pPr indent="-182879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210"/>
              <a:buChar char="▪"/>
            </a:pPr>
            <a:r>
              <a:rPr lang="en-US" sz="2600"/>
              <a:t>The </a:t>
            </a:r>
            <a:r>
              <a:rPr b="1" i="1" lang="en-US" sz="2600">
                <a:solidFill>
                  <a:srgbClr val="C00000"/>
                </a:solidFill>
              </a:rPr>
              <a:t>&lt;video&gt; </a:t>
            </a:r>
            <a:r>
              <a:rPr lang="en-US" sz="2600"/>
              <a:t>and </a:t>
            </a:r>
            <a:r>
              <a:rPr b="1" i="1" lang="en-US" sz="2600">
                <a:solidFill>
                  <a:srgbClr val="C00000"/>
                </a:solidFill>
              </a:rPr>
              <a:t>&lt;audio&gt; </a:t>
            </a:r>
            <a:r>
              <a:rPr lang="en-US" sz="2600"/>
              <a:t>elements for media playback</a:t>
            </a:r>
            <a:endParaRPr/>
          </a:p>
          <a:p>
            <a:pPr indent="-182879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210"/>
              <a:buChar char="▪"/>
            </a:pPr>
            <a:r>
              <a:rPr lang="en-US" sz="2600"/>
              <a:t>Support for local storage</a:t>
            </a:r>
            <a:endParaRPr/>
          </a:p>
          <a:p>
            <a:pPr indent="-182879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210"/>
              <a:buChar char="▪"/>
            </a:pPr>
            <a:r>
              <a:rPr lang="en-US" sz="2600"/>
              <a:t>New content-specific elements, like </a:t>
            </a:r>
            <a:r>
              <a:rPr b="1" i="1" lang="en-US" sz="2600">
                <a:solidFill>
                  <a:srgbClr val="C00000"/>
                </a:solidFill>
              </a:rPr>
              <a:t>&lt;article&gt;, &lt;footer&gt;, &lt;header&gt;, &lt;nav&gt;, &lt;section&gt;</a:t>
            </a:r>
            <a:endParaRPr/>
          </a:p>
          <a:p>
            <a:pPr indent="-182879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2210"/>
              <a:buChar char="▪"/>
            </a:pPr>
            <a:r>
              <a:rPr lang="en-US" sz="2600"/>
              <a:t>New form controls, like </a:t>
            </a:r>
            <a:r>
              <a:rPr b="1" i="1" lang="en-US" sz="2600">
                <a:solidFill>
                  <a:srgbClr val="C00000"/>
                </a:solidFill>
              </a:rPr>
              <a:t>calendar, date, time, email, url, search</a:t>
            </a:r>
            <a:endParaRPr/>
          </a:p>
          <a:p>
            <a:pPr indent="-42544" lvl="0" marL="18288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210"/>
              <a:buNone/>
            </a:pPr>
            <a:r>
              <a:t/>
            </a:r>
            <a:endParaRPr sz="2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4"/>
          <p:cNvSpPr txBox="1"/>
          <p:nvPr>
            <p:ph type="title"/>
          </p:nvPr>
        </p:nvSpPr>
        <p:spPr>
          <a:xfrm>
            <a:off x="381000" y="0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200"/>
              <a:buFont typeface="Rockwell"/>
              <a:buNone/>
            </a:pPr>
            <a:r>
              <a:rPr b="1" lang="en-US">
                <a:solidFill>
                  <a:srgbClr val="0070C0"/>
                </a:solidFill>
              </a:rPr>
              <a:t>HTML5 STRUCTURAL ELEMENTS</a:t>
            </a:r>
            <a:endParaRPr/>
          </a:p>
        </p:txBody>
      </p:sp>
      <p:sp>
        <p:nvSpPr>
          <p:cNvPr id="135" name="Google Shape;135;p4"/>
          <p:cNvSpPr txBox="1"/>
          <p:nvPr>
            <p:ph idx="1" type="body"/>
          </p:nvPr>
        </p:nvSpPr>
        <p:spPr>
          <a:xfrm>
            <a:off x="5029200" y="838200"/>
            <a:ext cx="4114800" cy="5867400"/>
          </a:xfrm>
          <a:prstGeom prst="rect">
            <a:avLst/>
          </a:prstGeom>
          <a:gradFill>
            <a:gsLst>
              <a:gs pos="0">
                <a:srgbClr val="F89387"/>
              </a:gs>
              <a:gs pos="50000">
                <a:srgbClr val="F9BCB6"/>
              </a:gs>
              <a:gs pos="100000">
                <a:srgbClr val="FCDFDC"/>
              </a:gs>
            </a:gsLst>
            <a:lin ang="5400000" scaled="0"/>
          </a:gra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40"/>
              <a:buChar char="▪"/>
            </a:pPr>
            <a:r>
              <a:rPr lang="en-US" sz="2400"/>
              <a:t>header Element</a:t>
            </a:r>
            <a:endParaRPr/>
          </a:p>
          <a:p>
            <a:pPr indent="0" lvl="1" marL="447675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Font typeface="Noto Sans Symbols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&lt;header&gt;&lt;/header&gt;</a:t>
            </a:r>
            <a:br>
              <a:rPr b="1" lang="en-US" sz="2000"/>
            </a:br>
            <a:r>
              <a:rPr lang="en-US" sz="2000"/>
              <a:t>Contains the web page </a:t>
            </a:r>
            <a:br>
              <a:rPr lang="en-US" sz="2000"/>
            </a:br>
            <a:r>
              <a:rPr lang="en-US" sz="2000"/>
              <a:t>document’s headings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40"/>
              <a:buChar char="▪"/>
            </a:pPr>
            <a:r>
              <a:rPr lang="en-US" sz="2400"/>
              <a:t>nav Element</a:t>
            </a:r>
            <a:endParaRPr/>
          </a:p>
          <a:p>
            <a:pPr indent="0" lvl="1" marL="447675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Font typeface="Noto Sans Symbols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&lt;nav&gt;&lt;/nav&gt;</a:t>
            </a:r>
            <a:br>
              <a:rPr b="1" lang="en-US" sz="2000"/>
            </a:br>
            <a:r>
              <a:rPr lang="en-US" sz="2000"/>
              <a:t>Contains web page </a:t>
            </a:r>
            <a:br>
              <a:rPr lang="en-US" sz="2000"/>
            </a:br>
            <a:r>
              <a:rPr lang="en-US" sz="2000"/>
              <a:t>document’s main navigation</a:t>
            </a:r>
            <a:endParaRPr/>
          </a:p>
          <a:p>
            <a:pPr indent="-342900" lvl="0" marL="390525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2040"/>
              <a:buChar char="▪"/>
            </a:pPr>
            <a:r>
              <a:rPr lang="en-US" sz="2400"/>
              <a:t>main Element</a:t>
            </a:r>
            <a:br>
              <a:rPr lang="en-US" sz="2400"/>
            </a:br>
            <a:r>
              <a:rPr b="1" lang="en-US">
                <a:latin typeface="Times New Roman"/>
                <a:ea typeface="Times New Roman"/>
                <a:cs typeface="Times New Roman"/>
                <a:sym typeface="Times New Roman"/>
              </a:rPr>
              <a:t>&lt;main&gt;&lt;/main&gt;</a:t>
            </a:r>
            <a:br>
              <a:rPr b="1" lang="en-US" sz="2400"/>
            </a:br>
            <a:r>
              <a:rPr lang="en-US"/>
              <a:t>Contains the web page </a:t>
            </a:r>
            <a:br>
              <a:rPr lang="en-US"/>
            </a:br>
            <a:r>
              <a:rPr lang="en-US"/>
              <a:t>document’s main content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Char char="▪"/>
            </a:pPr>
            <a:r>
              <a:rPr lang="en-US" sz="2400"/>
              <a:t>footer Element</a:t>
            </a:r>
            <a:endParaRPr/>
          </a:p>
          <a:p>
            <a:pPr indent="0" lvl="1" marL="447675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Font typeface="Noto Sans Symbols"/>
              <a:buNone/>
            </a:pPr>
            <a:r>
              <a:rPr b="1" lang="en-US" sz="2000">
                <a:latin typeface="Times New Roman"/>
                <a:ea typeface="Times New Roman"/>
                <a:cs typeface="Times New Roman"/>
                <a:sym typeface="Times New Roman"/>
              </a:rPr>
              <a:t>&lt;footer&gt;&lt;/footer&gt;</a:t>
            </a:r>
            <a:br>
              <a:rPr b="1" lang="en-US" sz="2000"/>
            </a:br>
            <a:r>
              <a:rPr lang="en-US" sz="2000"/>
              <a:t>Contains the web page </a:t>
            </a:r>
            <a:br>
              <a:rPr lang="en-US" sz="2000"/>
            </a:br>
            <a:r>
              <a:rPr lang="en-US" sz="2000"/>
              <a:t>document’s  footer</a:t>
            </a:r>
            <a:br>
              <a:rPr lang="en-US" sz="2400"/>
            </a:br>
            <a:endParaRPr sz="1400"/>
          </a:p>
        </p:txBody>
      </p:sp>
      <p:sp>
        <p:nvSpPr>
          <p:cNvPr id="136" name="Google Shape;136;p4"/>
          <p:cNvSpPr txBox="1"/>
          <p:nvPr>
            <p:ph idx="12" type="sldNum"/>
          </p:nvPr>
        </p:nvSpPr>
        <p:spPr>
          <a:xfrm>
            <a:off x="8153400" y="6421438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7" name="Google Shape;13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1219200"/>
            <a:ext cx="4267200" cy="449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"/>
          <p:cNvSpPr txBox="1"/>
          <p:nvPr>
            <p:ph type="title"/>
          </p:nvPr>
        </p:nvSpPr>
        <p:spPr>
          <a:xfrm>
            <a:off x="228600" y="80356"/>
            <a:ext cx="82296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200"/>
              <a:buFont typeface="Rockwell"/>
              <a:buNone/>
            </a:pPr>
            <a:r>
              <a:rPr b="1" lang="en-US">
                <a:solidFill>
                  <a:srgbClr val="0070C0"/>
                </a:solidFill>
              </a:rPr>
              <a:t>HTML5 STRUCTURAL  ELEMENTS</a:t>
            </a:r>
            <a:endParaRPr/>
          </a:p>
        </p:txBody>
      </p:sp>
      <p:sp>
        <p:nvSpPr>
          <p:cNvPr id="143" name="Google Shape;143;p5"/>
          <p:cNvSpPr txBox="1"/>
          <p:nvPr>
            <p:ph idx="1" type="body"/>
          </p:nvPr>
        </p:nvSpPr>
        <p:spPr>
          <a:xfrm>
            <a:off x="152400" y="990600"/>
            <a:ext cx="83058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82588" lvl="0" marL="4191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4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&lt;body&gt;</a:t>
            </a:r>
            <a:endParaRPr/>
          </a:p>
          <a:p>
            <a:pPr indent="-382588" lvl="0" marL="4191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 &lt;header&gt; </a:t>
            </a:r>
            <a:r>
              <a:rPr i="1" lang="en-US" sz="2400">
                <a:latin typeface="Times New Roman"/>
                <a:ea typeface="Times New Roman"/>
                <a:cs typeface="Times New Roman"/>
                <a:sym typeface="Times New Roman"/>
              </a:rPr>
              <a:t>document headings go he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re &lt;/header&gt;</a:t>
            </a:r>
            <a:endParaRPr/>
          </a:p>
          <a:p>
            <a:pPr indent="-382588" lvl="0" marL="4191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 &lt;nav&gt; </a:t>
            </a:r>
            <a:r>
              <a:rPr i="1" lang="en-US" sz="2400">
                <a:latin typeface="Times New Roman"/>
                <a:ea typeface="Times New Roman"/>
                <a:cs typeface="Times New Roman"/>
                <a:sym typeface="Times New Roman"/>
              </a:rPr>
              <a:t>main navigation goes here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&lt;/nav&gt;</a:t>
            </a:r>
            <a:endParaRPr/>
          </a:p>
          <a:p>
            <a:pPr indent="-382588" lvl="0" marL="4191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 &lt;main&gt; </a:t>
            </a:r>
            <a:r>
              <a:rPr i="1" lang="en-US" sz="2400">
                <a:latin typeface="Times New Roman"/>
                <a:ea typeface="Times New Roman"/>
                <a:cs typeface="Times New Roman"/>
                <a:sym typeface="Times New Roman"/>
              </a:rPr>
              <a:t>main content goes here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&lt;/main&gt;</a:t>
            </a:r>
            <a:endParaRPr/>
          </a:p>
          <a:p>
            <a:pPr indent="-382588" lvl="0" marL="4191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 &lt;footer&gt;  </a:t>
            </a:r>
            <a:r>
              <a:rPr i="1" lang="en-US" sz="2400">
                <a:latin typeface="Times New Roman"/>
                <a:ea typeface="Times New Roman"/>
                <a:cs typeface="Times New Roman"/>
                <a:sym typeface="Times New Roman"/>
              </a:rPr>
              <a:t>document footer information goes here </a:t>
            </a: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&lt;/footer&gt;</a:t>
            </a:r>
            <a:endParaRPr/>
          </a:p>
          <a:p>
            <a:pPr indent="-382588" lvl="0" marL="41910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&lt;/body&gt;</a:t>
            </a:r>
            <a:endParaRPr/>
          </a:p>
        </p:txBody>
      </p:sp>
      <p:sp>
        <p:nvSpPr>
          <p:cNvPr id="144" name="Google Shape;144;p5"/>
          <p:cNvSpPr txBox="1"/>
          <p:nvPr>
            <p:ph idx="12" type="sldNum"/>
          </p:nvPr>
        </p:nvSpPr>
        <p:spPr>
          <a:xfrm>
            <a:off x="8153400" y="6421438"/>
            <a:ext cx="7620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US" sz="120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1" sz="1200">
              <a:solidFill>
                <a:srgbClr val="FFFFF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C:\Users\DrMorris\Documents\0WDF7E\Figures\Chapter2\Figure2.21.tif" id="145" name="Google Shape;14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819400" y="3352800"/>
            <a:ext cx="4330700" cy="2938463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6"/>
          <p:cNvSpPr txBox="1"/>
          <p:nvPr>
            <p:ph type="title"/>
          </p:nvPr>
        </p:nvSpPr>
        <p:spPr>
          <a:xfrm>
            <a:off x="0" y="-152400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200"/>
              <a:buFont typeface="Rockwell"/>
              <a:buNone/>
            </a:pPr>
            <a:r>
              <a:rPr b="1" lang="en-US">
                <a:solidFill>
                  <a:srgbClr val="0070C0"/>
                </a:solidFill>
              </a:rPr>
              <a:t>NEW HTML 5 ELEEMENTS</a:t>
            </a:r>
            <a:endParaRPr b="1">
              <a:solidFill>
                <a:srgbClr val="0070C0"/>
              </a:solidFill>
            </a:endParaRPr>
          </a:p>
        </p:txBody>
      </p:sp>
      <p:graphicFrame>
        <p:nvGraphicFramePr>
          <p:cNvPr id="151" name="Google Shape;151;p6"/>
          <p:cNvGraphicFramePr/>
          <p:nvPr/>
        </p:nvGraphicFramePr>
        <p:xfrm>
          <a:off x="304800" y="12192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{3A97619E-6812-489A-B13F-C40A5FEB528C}</a:tableStyleId>
              </a:tblPr>
              <a:tblGrid>
                <a:gridCol w="1524000"/>
                <a:gridCol w="6934200"/>
              </a:tblGrid>
              <a:tr h="34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cap="none" strike="noStrike"/>
                        <a:t>ELEMENTS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DESCRIPTION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8205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&lt;article&gt;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Represent a self</a:t>
                      </a:r>
                      <a:r>
                        <a:rPr lang="en-US" sz="1800"/>
                        <a:t> contained composition in a page, like a blog post, user forum post, or newspaper article.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60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&lt;aside&gt;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Contains content that</a:t>
                      </a:r>
                      <a:r>
                        <a:rPr lang="en-US" sz="1800"/>
                        <a:t> is supplemented to the page content, like a callout or sidebar.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60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&lt;section&gt;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 thematic grouping</a:t>
                      </a:r>
                      <a:r>
                        <a:rPr lang="en-US" sz="1800"/>
                        <a:t> of content, typically with a header and possibly of footer.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60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&lt;time&gt;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ckwell"/>
                        <a:buNone/>
                      </a:pPr>
                      <a:r>
                        <a:rPr lang="en-US" sz="1800"/>
                        <a:t>can contain a date or time or both.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605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&lt;video&gt;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Used to add video media to your page.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52" name="Google Shape;152;p6"/>
          <p:cNvSpPr txBox="1"/>
          <p:nvPr>
            <p:ph idx="12" type="sldNum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76200"/>
            <a:ext cx="8686800" cy="640080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7"/>
          <p:cNvSpPr txBox="1"/>
          <p:nvPr>
            <p:ph idx="12" type="sldNum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"/>
          <p:cNvSpPr txBox="1"/>
          <p:nvPr>
            <p:ph idx="12" type="sldNum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4" name="Google Shape;164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228600"/>
            <a:ext cx="8610600" cy="64007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9"/>
          <p:cNvSpPr txBox="1"/>
          <p:nvPr>
            <p:ph idx="12" type="sldNum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0" name="Google Shape;17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800" y="127259"/>
            <a:ext cx="8305800" cy="6603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"/>
          <p:cNvSpPr txBox="1"/>
          <p:nvPr>
            <p:ph type="title"/>
          </p:nvPr>
        </p:nvSpPr>
        <p:spPr>
          <a:xfrm>
            <a:off x="0" y="0"/>
            <a:ext cx="91440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200"/>
              <a:buFont typeface="Rockwell"/>
              <a:buNone/>
            </a:pPr>
            <a:r>
              <a:rPr lang="en-US">
                <a:solidFill>
                  <a:srgbClr val="0070C0"/>
                </a:solidFill>
              </a:rPr>
              <a:t>FORMS &amp; FORMS CONTROL </a:t>
            </a:r>
            <a:endParaRPr/>
          </a:p>
        </p:txBody>
      </p:sp>
      <p:sp>
        <p:nvSpPr>
          <p:cNvPr id="176" name="Google Shape;176;p10"/>
          <p:cNvSpPr txBox="1"/>
          <p:nvPr>
            <p:ph idx="1" type="body"/>
          </p:nvPr>
        </p:nvSpPr>
        <p:spPr>
          <a:xfrm>
            <a:off x="914400" y="838200"/>
            <a:ext cx="7620000" cy="51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Form – gather information from a web page visitor.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Forms control – the objects that accept the information.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text boxes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 scrolling text boxes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select lists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radio buttons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check boxes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Buttons</a:t>
            </a:r>
            <a:endParaRPr/>
          </a:p>
          <a:p>
            <a:pPr indent="-85725" lvl="1" marL="457200" rtl="0" algn="l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SzPts val="1530"/>
              <a:buNone/>
            </a:pPr>
            <a:r>
              <a:t/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40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HTML 5 – new form controls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e-mail address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URLS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dates &amp; date selections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times</a:t>
            </a:r>
            <a:endParaRPr/>
          </a:p>
          <a:p>
            <a:pPr indent="-182880" lvl="1" marL="457200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530"/>
              <a:buChar char="▪"/>
            </a:pPr>
            <a:r>
              <a:rPr lang="en-US"/>
              <a:t>numbers</a:t>
            </a:r>
            <a:endParaRPr/>
          </a:p>
        </p:txBody>
      </p:sp>
      <p:sp>
        <p:nvSpPr>
          <p:cNvPr id="177" name="Google Shape;177;p10"/>
          <p:cNvSpPr txBox="1"/>
          <p:nvPr>
            <p:ph idx="12" type="sldNum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200"/>
              <a:buFont typeface="Rockwell"/>
              <a:buNone/>
            </a:pPr>
            <a:r>
              <a:rPr lang="en-US">
                <a:solidFill>
                  <a:srgbClr val="0070C0"/>
                </a:solidFill>
              </a:rPr>
              <a:t>FORM ELEMENT</a:t>
            </a:r>
            <a:endParaRPr/>
          </a:p>
        </p:txBody>
      </p:sp>
      <p:graphicFrame>
        <p:nvGraphicFramePr>
          <p:cNvPr id="183" name="Google Shape;183;p11"/>
          <p:cNvGraphicFramePr/>
          <p:nvPr/>
        </p:nvGraphicFramePr>
        <p:xfrm>
          <a:off x="94526" y="6858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{3A97619E-6812-489A-B13F-C40A5FEB528C}</a:tableStyleId>
              </a:tblPr>
              <a:tblGrid>
                <a:gridCol w="1586750"/>
                <a:gridCol w="2987925"/>
                <a:gridCol w="44169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Attribute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Value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Purpose 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action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URL /file</a:t>
                      </a:r>
                      <a:r>
                        <a:rPr lang="en-US" sz="1800"/>
                        <a:t> name/file path of server-side processing script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C00000"/>
                          </a:solidFill>
                        </a:rPr>
                        <a:t>Required: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Indicates where</a:t>
                      </a:r>
                      <a:r>
                        <a:rPr lang="en-US" sz="1800"/>
                        <a:t> to send the form information when the form is submitted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method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get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post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8B7B57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rgbClr val="8B7B57"/>
                          </a:solidFill>
                        </a:rPr>
                        <a:t>Default</a:t>
                      </a:r>
                      <a:r>
                        <a:rPr lang="en-US" sz="1800">
                          <a:solidFill>
                            <a:srgbClr val="8B7B57"/>
                          </a:solidFill>
                        </a:rPr>
                        <a:t> value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7030A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rgbClr val="7030A0"/>
                          </a:solidFill>
                        </a:rPr>
                        <a:t>get</a:t>
                      </a:r>
                      <a:r>
                        <a:rPr lang="en-US" sz="1800"/>
                        <a:t> – the form data to be appended to the URL and sent to the web server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None/>
                      </a:pPr>
                      <a:r>
                        <a:t/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B050"/>
                        </a:buClr>
                        <a:buSzPts val="1800"/>
                        <a:buFont typeface="Arial"/>
                        <a:buNone/>
                      </a:pPr>
                      <a:r>
                        <a:rPr lang="en-US" sz="1800">
                          <a:solidFill>
                            <a:srgbClr val="00B050"/>
                          </a:solidFill>
                        </a:rPr>
                        <a:t>post</a:t>
                      </a:r>
                      <a:r>
                        <a:rPr lang="en-US" sz="1800"/>
                        <a:t> – more private &amp; transmits the form data in the body of the HTTP response</a:t>
                      </a:r>
                      <a:endParaRPr/>
                    </a:p>
                    <a:p>
                      <a:pPr indent="-11430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Arial"/>
                        <a:buChar char="•"/>
                      </a:pPr>
                      <a:r>
                        <a:rPr lang="en-US" sz="1800"/>
                        <a:t> more preferred by the W3C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Alphanumeric, no spaces, unique</a:t>
                      </a:r>
                      <a:r>
                        <a:rPr lang="en-US" sz="1800"/>
                        <a:t> &amp; not used for id values on the same web page document.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C000"/>
                          </a:solidFill>
                        </a:rPr>
                        <a:t>Optional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Provides a unique identifier for the form.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name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ckwell"/>
                        <a:buNone/>
                      </a:pPr>
                      <a:r>
                        <a:rPr lang="en-US" sz="1800"/>
                        <a:t>Alphanumeric, no spaces, begin with a letter; choose a form name value</a:t>
                      </a:r>
                      <a:r>
                        <a:rPr lang="en-US" sz="1800"/>
                        <a:t> that is descriptive but short (Order Form is better than Form1)</a:t>
                      </a:r>
                      <a:endParaRPr sz="1800"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C000"/>
                          </a:solidFill>
                        </a:rPr>
                        <a:t>Optional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The</a:t>
                      </a:r>
                      <a:r>
                        <a:rPr lang="en-US" sz="1800"/>
                        <a:t> form can be easily accessed by cliebt-side scripting languages, to edit and verify the form information before the server-side processing is invoked.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  <p:sp>
        <p:nvSpPr>
          <p:cNvPr id="184" name="Google Shape;184;p11"/>
          <p:cNvSpPr txBox="1"/>
          <p:nvPr>
            <p:ph idx="12" type="sldNum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2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200"/>
              <a:buFont typeface="Rockwell"/>
              <a:buNone/>
            </a:pPr>
            <a:r>
              <a:rPr lang="en-US">
                <a:solidFill>
                  <a:srgbClr val="0070C0"/>
                </a:solidFill>
              </a:rPr>
              <a:t>FORM ELEMENT</a:t>
            </a:r>
            <a:endParaRPr/>
          </a:p>
        </p:txBody>
      </p:sp>
      <p:sp>
        <p:nvSpPr>
          <p:cNvPr id="190" name="Google Shape;190;p12"/>
          <p:cNvSpPr txBox="1"/>
          <p:nvPr>
            <p:ph idx="1" type="body"/>
          </p:nvPr>
        </p:nvSpPr>
        <p:spPr>
          <a:xfrm>
            <a:off x="457200" y="990600"/>
            <a:ext cx="8305800" cy="13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720"/>
              <a:buNone/>
            </a:pPr>
            <a:r>
              <a:rPr lang="en-US" sz="3200"/>
              <a:t>Why use both the “name” and “id” attributes on form controls?</a:t>
            </a:r>
            <a:endParaRPr/>
          </a:p>
        </p:txBody>
      </p:sp>
      <p:sp>
        <p:nvSpPr>
          <p:cNvPr id="191" name="Google Shape;191;p12"/>
          <p:cNvSpPr txBox="1"/>
          <p:nvPr>
            <p:ph idx="12" type="sldNum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92" name="Google Shape;192;p12"/>
          <p:cNvSpPr txBox="1"/>
          <p:nvPr/>
        </p:nvSpPr>
        <p:spPr>
          <a:xfrm>
            <a:off x="533400" y="2286000"/>
            <a:ext cx="8305800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“Name” – names the form element. So, it can be easily accessed by client-side scripting languages e.g JavaScript or by server-side processing languages such as PHP.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“id” – for use with CSS &amp; scripting.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values assigned to the “name” &amp; “id” attributes on a particular form element are the same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9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3"/>
          <p:cNvSpPr txBox="1"/>
          <p:nvPr>
            <p:ph type="title"/>
          </p:nvPr>
        </p:nvSpPr>
        <p:spPr>
          <a:xfrm>
            <a:off x="0" y="0"/>
            <a:ext cx="9144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200"/>
              <a:buFont typeface="Rockwell"/>
              <a:buNone/>
            </a:pPr>
            <a:r>
              <a:rPr b="1" lang="en-US">
                <a:solidFill>
                  <a:srgbClr val="0070C0"/>
                </a:solidFill>
              </a:rPr>
              <a:t>HTML5:  EMAIL TEXT BOX  </a:t>
            </a:r>
            <a:endParaRPr/>
          </a:p>
        </p:txBody>
      </p:sp>
      <p:sp>
        <p:nvSpPr>
          <p:cNvPr id="199" name="Google Shape;199;p13"/>
          <p:cNvSpPr txBox="1"/>
          <p:nvPr>
            <p:ph idx="1" type="body"/>
          </p:nvPr>
        </p:nvSpPr>
        <p:spPr>
          <a:xfrm>
            <a:off x="381000" y="762000"/>
            <a:ext cx="8382000" cy="8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282575" lvl="0" marL="3651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5000"/>
              <a:buFont typeface="Noto Sans Symbols"/>
              <a:buChar char="⚫"/>
            </a:pPr>
            <a:r>
              <a:rPr lang="en-US" sz="2400"/>
              <a:t>&lt;input&gt;</a:t>
            </a:r>
            <a:endParaRPr/>
          </a:p>
          <a:p>
            <a:pPr indent="-282575" lvl="0" marL="365125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Font typeface="Noto Sans Symbols"/>
              <a:buChar char="⚫"/>
            </a:pPr>
            <a:r>
              <a:rPr lang="en-US" sz="2400"/>
              <a:t>Accepts text information in e-mail address format</a:t>
            </a:r>
            <a:br>
              <a:rPr lang="en-US" sz="2400"/>
            </a:br>
            <a:endParaRPr sz="1600"/>
          </a:p>
          <a:p>
            <a:pPr indent="-198913" lvl="0" marL="365125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Font typeface="Noto Sans Symbols"/>
              <a:buNone/>
            </a:pPr>
            <a:r>
              <a:t/>
            </a:r>
            <a:endParaRPr/>
          </a:p>
          <a:p>
            <a:pPr indent="-198913" lvl="0" marL="365125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Font typeface="Noto Sans Symbols"/>
              <a:buNone/>
            </a:pPr>
            <a:r>
              <a:t/>
            </a:r>
            <a:endParaRPr/>
          </a:p>
        </p:txBody>
      </p:sp>
      <p:sp>
        <p:nvSpPr>
          <p:cNvPr id="200" name="Google Shape;200;p13"/>
          <p:cNvSpPr txBox="1"/>
          <p:nvPr>
            <p:ph idx="12" type="sldNum"/>
          </p:nvPr>
        </p:nvSpPr>
        <p:spPr>
          <a:xfrm>
            <a:off x="8640763" y="6556375"/>
            <a:ext cx="503237" cy="301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</a:rPr>
              <a:t>‹#›</a:t>
            </a:fld>
            <a:endParaRPr sz="1200">
              <a:solidFill>
                <a:schemeClr val="dk1"/>
              </a:solidFill>
            </a:endParaRPr>
          </a:p>
        </p:txBody>
      </p:sp>
      <p:sp>
        <p:nvSpPr>
          <p:cNvPr id="201" name="Google Shape;201;p13"/>
          <p:cNvSpPr/>
          <p:nvPr/>
        </p:nvSpPr>
        <p:spPr>
          <a:xfrm>
            <a:off x="3548063" y="3090863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02" name="Google Shape;202;p13"/>
          <p:cNvGraphicFramePr/>
          <p:nvPr/>
        </p:nvGraphicFramePr>
        <p:xfrm>
          <a:off x="304800" y="175260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{3A97619E-6812-489A-B13F-C40A5FEB528C}</a:tableStyleId>
              </a:tblPr>
              <a:tblGrid>
                <a:gridCol w="1706875"/>
                <a:gridCol w="3034450"/>
                <a:gridCol w="379307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Attribute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Value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Purpose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type</a:t>
                      </a:r>
                      <a:endParaRPr sz="1800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Text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Configures a text box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1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ckwell"/>
                        <a:buNone/>
                      </a:pPr>
                      <a:r>
                        <a:rPr lang="en-US" sz="1800" u="none" cap="none" strike="noStrike"/>
                        <a:t>name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Alphanumeric, no spaces, begin with a letter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Names the form element</a:t>
                      </a:r>
                      <a:r>
                        <a:rPr lang="en-US" sz="1800"/>
                        <a:t> – unique.</a:t>
                      </a:r>
                      <a:endParaRPr/>
                    </a:p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It can be easily accessed by client-side scripting languages or server-side processing.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1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ckwell"/>
                        <a:buNone/>
                      </a:pPr>
                      <a:r>
                        <a:rPr lang="en-US" sz="1800" u="none" cap="none" strike="noStrike"/>
                        <a:t>id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ckwell"/>
                        <a:buNone/>
                      </a:pPr>
                      <a:r>
                        <a:rPr lang="en-US" sz="1800"/>
                        <a:t>Alphanumeric, no spaces, begin with a letter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ckwell"/>
                        <a:buNone/>
                      </a:pPr>
                      <a:r>
                        <a:rPr lang="en-US" sz="1800"/>
                        <a:t>Provides a unique identifier for the form element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1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ckwell"/>
                        <a:buNone/>
                      </a:pPr>
                      <a:r>
                        <a:rPr lang="en-US" sz="1800" u="none" cap="none" strike="noStrike"/>
                        <a:t>size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Numeric value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Width of the text box </a:t>
                      </a:r>
                      <a:endParaRPr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1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ckwell"/>
                        <a:buNone/>
                      </a:pPr>
                      <a:r>
                        <a:rPr lang="en-US" sz="1800" u="none" cap="none" strike="noStrike"/>
                        <a:t>maxlength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Numeric value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The max. length</a:t>
                      </a:r>
                      <a:r>
                        <a:rPr lang="en-US" sz="1800"/>
                        <a:t> of data accepted by the text box.</a:t>
                      </a:r>
                      <a:endParaRPr sz="1800"/>
                    </a:p>
                  </a:txBody>
                  <a:tcPr marT="45725" marB="45725" marR="91450" marL="91450"/>
                </a:tc>
              </a:tr>
              <a:tr h="370850">
                <a:tc>
                  <a:txBody>
                    <a:bodyPr/>
                    <a:lstStyle/>
                    <a:p>
                      <a:pPr indent="0" lvl="1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ckwell"/>
                        <a:buNone/>
                      </a:pPr>
                      <a:r>
                        <a:rPr lang="en-US" sz="1800" u="none" cap="none" strike="noStrike"/>
                        <a:t>required</a:t>
                      </a:r>
                      <a:endParaRPr sz="1800" u="none" cap="none" strike="noStrike"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Required</a:t>
                      </a:r>
                      <a:endParaRPr/>
                    </a:p>
                  </a:txBody>
                  <a:tcPr marT="45725" marB="45725" marR="91450" marL="9145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800"/>
                        <a:buFont typeface="Rockwell"/>
                        <a:buNone/>
                      </a:pPr>
                      <a:r>
                        <a:rPr lang="en-US" sz="1800"/>
                        <a:t>HTML5 </a:t>
                      </a:r>
                      <a:r>
                        <a:rPr lang="en-US" sz="1800"/>
                        <a:t> attribute; browser verifies entry of information before submitting the form.</a:t>
                      </a:r>
                      <a:endParaRPr sz="1800"/>
                    </a:p>
                  </a:txBody>
                  <a:tcPr marT="45725" marB="45725" marR="91450" marL="91450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4"/>
          <p:cNvSpPr txBox="1"/>
          <p:nvPr>
            <p:ph type="title"/>
          </p:nvPr>
        </p:nvSpPr>
        <p:spPr>
          <a:xfrm>
            <a:off x="0" y="0"/>
            <a:ext cx="9144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200"/>
              <a:buFont typeface="Rockwell"/>
              <a:buNone/>
            </a:pPr>
            <a:r>
              <a:rPr b="1" lang="en-US">
                <a:solidFill>
                  <a:srgbClr val="0070C0"/>
                </a:solidFill>
              </a:rPr>
              <a:t>HTML5:  EMAIL TEXT BOX  </a:t>
            </a:r>
            <a:endParaRPr/>
          </a:p>
        </p:txBody>
      </p:sp>
      <p:pic>
        <p:nvPicPr>
          <p:cNvPr id="208" name="Google Shape;208;p14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00600" y="1905000"/>
            <a:ext cx="4038600" cy="2438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  <p:sp>
        <p:nvSpPr>
          <p:cNvPr id="209" name="Google Shape;209;p14"/>
          <p:cNvSpPr txBox="1"/>
          <p:nvPr>
            <p:ph idx="12" type="sldNum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0" name="Google Shape;210;p14"/>
          <p:cNvSpPr txBox="1"/>
          <p:nvPr/>
        </p:nvSpPr>
        <p:spPr>
          <a:xfrm>
            <a:off x="228600" y="762000"/>
            <a:ext cx="4419600" cy="5940088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&lt;!DOCTYPE html&gt;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&lt;html lang="en"&gt;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&lt;head&gt;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&lt;title&gt;Form Example&lt;/title&gt;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&lt;meta charset="utf-8"&gt;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&lt;/head&gt;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&lt;body&gt;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&lt;h1&gt;Join Our Newsletter&lt;/h1&gt;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&lt;form method="get"&gt;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&lt;label for="email"&gt;E-mail:&lt;/label&gt;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&lt;input </a:t>
            </a: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type="email" name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="email" 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id</a:t>
            </a: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="email“  required="required" 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&lt;br&gt;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&lt;br&gt;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&lt;input type="submit" value="Sign Me Up!"&gt; &lt;input type="reset"&gt;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&lt;/form&gt;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&lt;/body&gt;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&lt;/html&gt;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5"/>
          <p:cNvSpPr txBox="1"/>
          <p:nvPr>
            <p:ph type="title"/>
          </p:nvPr>
        </p:nvSpPr>
        <p:spPr>
          <a:xfrm>
            <a:off x="0" y="0"/>
            <a:ext cx="91440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Rockwell"/>
              <a:buNone/>
            </a:pPr>
            <a:br>
              <a:rPr b="1" lang="en-US">
                <a:solidFill>
                  <a:srgbClr val="0070C0"/>
                </a:solidFill>
              </a:rPr>
            </a:br>
            <a:r>
              <a:rPr b="1" lang="en-US">
                <a:solidFill>
                  <a:srgbClr val="0070C0"/>
                </a:solidFill>
              </a:rPr>
              <a:t>HTML5: URL TEXT BOX</a:t>
            </a:r>
            <a:br>
              <a:rPr b="1" lang="en-US">
                <a:solidFill>
                  <a:srgbClr val="0070C0"/>
                </a:solidFill>
              </a:rPr>
            </a:br>
            <a:endParaRPr b="1">
              <a:solidFill>
                <a:srgbClr val="0070C0"/>
              </a:solidFill>
            </a:endParaRPr>
          </a:p>
        </p:txBody>
      </p:sp>
      <p:sp>
        <p:nvSpPr>
          <p:cNvPr id="217" name="Google Shape;217;p15"/>
          <p:cNvSpPr txBox="1"/>
          <p:nvPr>
            <p:ph idx="1" type="body"/>
          </p:nvPr>
        </p:nvSpPr>
        <p:spPr>
          <a:xfrm>
            <a:off x="304800" y="914400"/>
            <a:ext cx="83058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2575" lvl="0" marL="3651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40"/>
              <a:buFont typeface="Noto Sans Symbols"/>
              <a:buChar char="⚫"/>
            </a:pPr>
            <a:r>
              <a:rPr lang="en-US" sz="2400"/>
              <a:t>&lt;input&gt;</a:t>
            </a:r>
            <a:endParaRPr/>
          </a:p>
          <a:p>
            <a:pPr indent="-282575" lvl="0" marL="365125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Font typeface="Noto Sans Symbols"/>
              <a:buChar char="⚫"/>
            </a:pPr>
            <a:r>
              <a:rPr lang="en-US" sz="2400"/>
              <a:t>Accepts text information in URL format</a:t>
            </a:r>
            <a:br>
              <a:rPr lang="en-US" sz="2400"/>
            </a:br>
            <a:endParaRPr sz="1600"/>
          </a:p>
          <a:p>
            <a:pPr indent="-282575" lvl="0" marL="365125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Font typeface="Noto Sans Symbols"/>
              <a:buChar char="⚫"/>
            </a:pPr>
            <a:r>
              <a:rPr lang="en-US" sz="2400"/>
              <a:t>Common Attributes:</a:t>
            </a:r>
            <a:endParaRPr/>
          </a:p>
          <a:p>
            <a:pPr indent="-236537" lvl="1" marL="63976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Font typeface="Verdana"/>
              <a:buChar char="◦"/>
            </a:pPr>
            <a:r>
              <a:rPr b="1" lang="en-US" sz="2000"/>
              <a:t>type=“url”</a:t>
            </a:r>
            <a:endParaRPr/>
          </a:p>
          <a:p>
            <a:pPr indent="-236537" lvl="1" marL="639763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Font typeface="Verdana"/>
              <a:buChar char="◦"/>
            </a:pPr>
            <a:r>
              <a:rPr lang="en-US" sz="2000"/>
              <a:t>name</a:t>
            </a:r>
            <a:endParaRPr/>
          </a:p>
          <a:p>
            <a:pPr indent="-236537" lvl="1" marL="639763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Font typeface="Verdana"/>
              <a:buChar char="◦"/>
            </a:pPr>
            <a:r>
              <a:rPr lang="en-US" sz="2000"/>
              <a:t>id</a:t>
            </a:r>
            <a:endParaRPr/>
          </a:p>
          <a:p>
            <a:pPr indent="-236537" lvl="1" marL="639763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Font typeface="Verdana"/>
              <a:buChar char="◦"/>
            </a:pPr>
            <a:r>
              <a:rPr lang="en-US" sz="2000"/>
              <a:t>size</a:t>
            </a:r>
            <a:endParaRPr/>
          </a:p>
          <a:p>
            <a:pPr indent="-236537" lvl="1" marL="639763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Font typeface="Verdana"/>
              <a:buChar char="◦"/>
            </a:pPr>
            <a:r>
              <a:rPr lang="en-US" sz="2000"/>
              <a:t>maxlength</a:t>
            </a:r>
            <a:endParaRPr sz="2000"/>
          </a:p>
          <a:p>
            <a:pPr indent="-236537" lvl="1" marL="639763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Font typeface="Verdana"/>
              <a:buChar char="◦"/>
            </a:pPr>
            <a:r>
              <a:rPr lang="en-US" sz="2000"/>
              <a:t>value</a:t>
            </a:r>
            <a:endParaRPr/>
          </a:p>
          <a:p>
            <a:pPr indent="-236537" lvl="1" marL="639763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Font typeface="Verdana"/>
              <a:buChar char="◦"/>
            </a:pPr>
            <a:r>
              <a:rPr lang="en-US" sz="2000"/>
              <a:t>placeholder</a:t>
            </a:r>
            <a:endParaRPr/>
          </a:p>
          <a:p>
            <a:pPr indent="-236537" lvl="1" marL="639763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Font typeface="Verdana"/>
              <a:buChar char="◦"/>
            </a:pPr>
            <a:r>
              <a:rPr lang="en-US" sz="2000"/>
              <a:t>required</a:t>
            </a:r>
            <a:endParaRPr/>
          </a:p>
        </p:txBody>
      </p:sp>
      <p:sp>
        <p:nvSpPr>
          <p:cNvPr id="218" name="Google Shape;218;p15"/>
          <p:cNvSpPr txBox="1"/>
          <p:nvPr>
            <p:ph idx="12" type="sldNum"/>
          </p:nvPr>
        </p:nvSpPr>
        <p:spPr>
          <a:xfrm>
            <a:off x="8640763" y="6556375"/>
            <a:ext cx="503237" cy="301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</a:rPr>
              <a:t>‹#›</a:t>
            </a:fld>
            <a:endParaRPr sz="1200">
              <a:solidFill>
                <a:schemeClr val="dk1"/>
              </a:solidFill>
            </a:endParaRPr>
          </a:p>
        </p:txBody>
      </p:sp>
      <p:sp>
        <p:nvSpPr>
          <p:cNvPr id="219" name="Google Shape;219;p15"/>
          <p:cNvSpPr/>
          <p:nvPr/>
        </p:nvSpPr>
        <p:spPr>
          <a:xfrm>
            <a:off x="3548063" y="3090863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6"/>
          <p:cNvSpPr txBox="1"/>
          <p:nvPr>
            <p:ph type="title"/>
          </p:nvPr>
        </p:nvSpPr>
        <p:spPr>
          <a:xfrm>
            <a:off x="0" y="0"/>
            <a:ext cx="9144000" cy="79216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Rockwell"/>
              <a:buNone/>
            </a:pPr>
            <a:br>
              <a:rPr b="1" lang="en-US">
                <a:solidFill>
                  <a:srgbClr val="0070C0"/>
                </a:solidFill>
              </a:rPr>
            </a:br>
            <a:r>
              <a:rPr b="1" lang="en-US">
                <a:solidFill>
                  <a:srgbClr val="0070C0"/>
                </a:solidFill>
              </a:rPr>
              <a:t>HTML5: URL TEXT BOX</a:t>
            </a:r>
            <a:br>
              <a:rPr b="1" lang="en-US">
                <a:solidFill>
                  <a:srgbClr val="0070C0"/>
                </a:solidFill>
              </a:rPr>
            </a:br>
            <a:endParaRPr b="1">
              <a:solidFill>
                <a:srgbClr val="0070C0"/>
              </a:solidFill>
            </a:endParaRPr>
          </a:p>
        </p:txBody>
      </p:sp>
      <p:sp>
        <p:nvSpPr>
          <p:cNvPr id="225" name="Google Shape;225;p16"/>
          <p:cNvSpPr txBox="1"/>
          <p:nvPr>
            <p:ph idx="1" type="body"/>
          </p:nvPr>
        </p:nvSpPr>
        <p:spPr>
          <a:xfrm>
            <a:off x="76200" y="609600"/>
            <a:ext cx="4876800" cy="6324600"/>
          </a:xfrm>
          <a:prstGeom prst="rect">
            <a:avLst/>
          </a:prstGeom>
          <a:noFill/>
          <a:ln cap="flat" cmpd="sng" w="25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6985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5000"/>
              <a:buNone/>
            </a:pPr>
            <a:r>
              <a:rPr lang="en-US" sz="1600"/>
              <a:t>&lt;!DOCTYPE html&gt;</a:t>
            </a:r>
            <a:endParaRPr/>
          </a:p>
          <a:p>
            <a:pPr indent="0" lvl="0" marL="6985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 sz="1600"/>
              <a:t>&lt;html lang="en"&gt;</a:t>
            </a:r>
            <a:endParaRPr/>
          </a:p>
          <a:p>
            <a:pPr indent="0" lvl="0" marL="6985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 sz="1600"/>
              <a:t>&lt;head&gt;</a:t>
            </a:r>
            <a:endParaRPr/>
          </a:p>
          <a:p>
            <a:pPr indent="0" lvl="0" marL="6985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 sz="1600"/>
              <a:t>&lt;title&gt;Form Example&lt;/title&gt;</a:t>
            </a:r>
            <a:endParaRPr/>
          </a:p>
          <a:p>
            <a:pPr indent="0" lvl="0" marL="6985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 sz="1600"/>
              <a:t>&lt;meta charset="utf-8"&gt;</a:t>
            </a:r>
            <a:endParaRPr/>
          </a:p>
          <a:p>
            <a:pPr indent="0" lvl="0" marL="6985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 sz="1600"/>
              <a:t>&lt;/head&gt;</a:t>
            </a:r>
            <a:endParaRPr/>
          </a:p>
          <a:p>
            <a:pPr indent="0" lvl="0" marL="6985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 sz="1600"/>
              <a:t>&lt;body&gt;</a:t>
            </a:r>
            <a:endParaRPr/>
          </a:p>
          <a:p>
            <a:pPr indent="0" lvl="0" marL="6985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 sz="1600"/>
              <a:t>&lt;h1&gt;Share and Collaborate&lt;/h1&gt;</a:t>
            </a:r>
            <a:endParaRPr/>
          </a:p>
          <a:p>
            <a:pPr indent="0" lvl="0" marL="6985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 sz="1600"/>
              <a:t>&lt;form method="get"&gt;</a:t>
            </a:r>
            <a:endParaRPr/>
          </a:p>
          <a:p>
            <a:pPr indent="0" lvl="0" marL="6985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 sz="1600"/>
              <a:t>&lt;label for="myWebsite"&gt;Suggest a Website:&lt;/label&gt;</a:t>
            </a:r>
            <a:endParaRPr/>
          </a:p>
          <a:p>
            <a:pPr indent="0" lvl="0" marL="6985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 sz="1600"/>
              <a:t>&lt;input </a:t>
            </a:r>
            <a:r>
              <a:rPr b="1" lang="en-US" sz="1600"/>
              <a:t>type="url" name="myWebsite" id="myWebsite" </a:t>
            </a:r>
            <a:r>
              <a:rPr lang="en-US" sz="1600"/>
              <a:t>&gt;</a:t>
            </a:r>
            <a:endParaRPr/>
          </a:p>
          <a:p>
            <a:pPr indent="0" lvl="0" marL="6985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 sz="1600"/>
              <a:t>&lt;br&gt;</a:t>
            </a:r>
            <a:endParaRPr/>
          </a:p>
          <a:p>
            <a:pPr indent="0" lvl="0" marL="6985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 sz="1600"/>
              <a:t>&lt;br&gt;</a:t>
            </a:r>
            <a:endParaRPr/>
          </a:p>
          <a:p>
            <a:pPr indent="0" lvl="0" marL="6985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 sz="1600"/>
              <a:t>&lt;input type="submit" value="Send Form!"&gt; &lt;input type="reset"&gt;</a:t>
            </a:r>
            <a:endParaRPr/>
          </a:p>
          <a:p>
            <a:pPr indent="0" lvl="0" marL="6985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 sz="1600"/>
              <a:t>&lt;/form&gt;</a:t>
            </a:r>
            <a:endParaRPr/>
          </a:p>
          <a:p>
            <a:pPr indent="0" lvl="0" marL="6985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 sz="1600"/>
              <a:t>&lt;/body&gt;</a:t>
            </a:r>
            <a:endParaRPr/>
          </a:p>
          <a:p>
            <a:pPr indent="0" lvl="0" marL="6985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 sz="1600"/>
              <a:t>&lt;/html&gt;</a:t>
            </a:r>
            <a:endParaRPr/>
          </a:p>
        </p:txBody>
      </p:sp>
      <p:sp>
        <p:nvSpPr>
          <p:cNvPr id="226" name="Google Shape;226;p16"/>
          <p:cNvSpPr txBox="1"/>
          <p:nvPr>
            <p:ph idx="12" type="sldNum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27" name="Google Shape;22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81600" y="2438400"/>
            <a:ext cx="3810000" cy="21336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7"/>
          <p:cNvSpPr txBox="1"/>
          <p:nvPr>
            <p:ph type="title"/>
          </p:nvPr>
        </p:nvSpPr>
        <p:spPr>
          <a:xfrm>
            <a:off x="0" y="0"/>
            <a:ext cx="9144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4999"/>
              <a:buFont typeface="Rockwell"/>
              <a:buNone/>
            </a:pPr>
            <a:br>
              <a:rPr b="1" lang="en-US">
                <a:solidFill>
                  <a:srgbClr val="0070C0"/>
                </a:solidFill>
              </a:rPr>
            </a:br>
            <a:r>
              <a:rPr b="1" lang="en-US" sz="4000">
                <a:solidFill>
                  <a:srgbClr val="0070C0"/>
                </a:solidFill>
              </a:rPr>
              <a:t>HTML5: TELEPHONE NUMBER TEXT BOX</a:t>
            </a:r>
            <a:br>
              <a:rPr b="1" lang="en-US" sz="4000">
                <a:solidFill>
                  <a:srgbClr val="0070C0"/>
                </a:solidFill>
              </a:rPr>
            </a:br>
            <a:endParaRPr b="1" sz="4000">
              <a:solidFill>
                <a:srgbClr val="0070C0"/>
              </a:solidFill>
            </a:endParaRPr>
          </a:p>
        </p:txBody>
      </p:sp>
      <p:sp>
        <p:nvSpPr>
          <p:cNvPr id="234" name="Google Shape;234;p17"/>
          <p:cNvSpPr txBox="1"/>
          <p:nvPr>
            <p:ph idx="1" type="body"/>
          </p:nvPr>
        </p:nvSpPr>
        <p:spPr>
          <a:xfrm>
            <a:off x="228600" y="762000"/>
            <a:ext cx="7620000" cy="548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2575" lvl="0" marL="3651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40"/>
              <a:buFont typeface="Noto Sans Symbols"/>
              <a:buChar char="⚫"/>
            </a:pPr>
            <a:r>
              <a:rPr lang="en-US" sz="2400"/>
              <a:t>&lt;input&gt;</a:t>
            </a:r>
            <a:endParaRPr/>
          </a:p>
          <a:p>
            <a:pPr indent="-282575" lvl="0" marL="365125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Font typeface="Noto Sans Symbols"/>
              <a:buChar char="⚫"/>
            </a:pPr>
            <a:r>
              <a:rPr lang="en-US" sz="2400"/>
              <a:t>Accepts text information in telephone number format</a:t>
            </a:r>
            <a:br>
              <a:rPr lang="en-US" sz="2400"/>
            </a:br>
            <a:endParaRPr sz="1600"/>
          </a:p>
          <a:p>
            <a:pPr indent="-282575" lvl="0" marL="365125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Font typeface="Noto Sans Symbols"/>
              <a:buChar char="⚫"/>
            </a:pPr>
            <a:r>
              <a:rPr lang="en-US" sz="2400"/>
              <a:t>Common Attributes:</a:t>
            </a:r>
            <a:endParaRPr/>
          </a:p>
          <a:p>
            <a:pPr indent="-236537" lvl="1" marL="63976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Font typeface="Verdana"/>
              <a:buChar char="◦"/>
            </a:pPr>
            <a:r>
              <a:rPr lang="en-US" sz="2000"/>
              <a:t>type=“tel”</a:t>
            </a:r>
            <a:endParaRPr/>
          </a:p>
          <a:p>
            <a:pPr indent="-236537" lvl="1" marL="639763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Font typeface="Verdana"/>
              <a:buChar char="◦"/>
            </a:pPr>
            <a:r>
              <a:rPr lang="en-US" sz="2000"/>
              <a:t>name</a:t>
            </a:r>
            <a:endParaRPr/>
          </a:p>
          <a:p>
            <a:pPr indent="-236537" lvl="1" marL="639763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Font typeface="Verdana"/>
              <a:buChar char="◦"/>
            </a:pPr>
            <a:r>
              <a:rPr lang="en-US" sz="2000"/>
              <a:t>id</a:t>
            </a:r>
            <a:endParaRPr/>
          </a:p>
          <a:p>
            <a:pPr indent="-236537" lvl="1" marL="639763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Font typeface="Verdana"/>
              <a:buChar char="◦"/>
            </a:pPr>
            <a:r>
              <a:rPr lang="en-US" sz="2000"/>
              <a:t>size</a:t>
            </a:r>
            <a:endParaRPr/>
          </a:p>
          <a:p>
            <a:pPr indent="-236537" lvl="1" marL="639763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Font typeface="Verdana"/>
              <a:buChar char="◦"/>
            </a:pPr>
            <a:r>
              <a:rPr lang="en-US" sz="2000"/>
              <a:t>maxlength</a:t>
            </a:r>
            <a:endParaRPr sz="2000"/>
          </a:p>
          <a:p>
            <a:pPr indent="-236537" lvl="1" marL="639763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Font typeface="Verdana"/>
              <a:buChar char="◦"/>
            </a:pPr>
            <a:r>
              <a:rPr lang="en-US" sz="2000"/>
              <a:t>value</a:t>
            </a:r>
            <a:endParaRPr/>
          </a:p>
          <a:p>
            <a:pPr indent="-236537" lvl="1" marL="639763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Font typeface="Verdana"/>
              <a:buChar char="◦"/>
            </a:pPr>
            <a:r>
              <a:rPr lang="en-US" sz="2000"/>
              <a:t>placeholder</a:t>
            </a:r>
            <a:endParaRPr/>
          </a:p>
          <a:p>
            <a:pPr indent="-236537" lvl="1" marL="639763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Font typeface="Verdana"/>
              <a:buChar char="◦"/>
            </a:pPr>
            <a:r>
              <a:rPr lang="en-US" sz="2000"/>
              <a:t>required</a:t>
            </a:r>
            <a:endParaRPr/>
          </a:p>
        </p:txBody>
      </p:sp>
      <p:sp>
        <p:nvSpPr>
          <p:cNvPr id="235" name="Google Shape;235;p17"/>
          <p:cNvSpPr txBox="1"/>
          <p:nvPr>
            <p:ph idx="12" type="sldNum"/>
          </p:nvPr>
        </p:nvSpPr>
        <p:spPr>
          <a:xfrm>
            <a:off x="8640763" y="6556375"/>
            <a:ext cx="503237" cy="301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</a:rPr>
              <a:t>‹#›</a:t>
            </a:fld>
            <a:endParaRPr sz="1200">
              <a:solidFill>
                <a:schemeClr val="dk1"/>
              </a:solidFill>
            </a:endParaRPr>
          </a:p>
        </p:txBody>
      </p:sp>
      <p:sp>
        <p:nvSpPr>
          <p:cNvPr id="236" name="Google Shape;236;p17"/>
          <p:cNvSpPr/>
          <p:nvPr/>
        </p:nvSpPr>
        <p:spPr>
          <a:xfrm>
            <a:off x="3548063" y="3090863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37" name="Google Shape;237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38600" y="2438400"/>
            <a:ext cx="4648200" cy="251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8"/>
          <p:cNvSpPr txBox="1"/>
          <p:nvPr>
            <p:ph type="title"/>
          </p:nvPr>
        </p:nvSpPr>
        <p:spPr>
          <a:xfrm>
            <a:off x="0" y="0"/>
            <a:ext cx="91440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4999"/>
              <a:buFont typeface="Rockwell"/>
              <a:buNone/>
            </a:pPr>
            <a:br>
              <a:rPr b="1" lang="en-US">
                <a:solidFill>
                  <a:srgbClr val="0070C0"/>
                </a:solidFill>
              </a:rPr>
            </a:br>
            <a:r>
              <a:rPr b="1" lang="en-US" sz="4000">
                <a:solidFill>
                  <a:srgbClr val="0070C0"/>
                </a:solidFill>
              </a:rPr>
              <a:t>HTML5: TELEPHONE NUMBER TEXT BOX</a:t>
            </a:r>
            <a:br>
              <a:rPr b="1" lang="en-US" sz="4000">
                <a:solidFill>
                  <a:srgbClr val="0070C0"/>
                </a:solidFill>
              </a:rPr>
            </a:br>
            <a:endParaRPr b="1" sz="4000">
              <a:solidFill>
                <a:srgbClr val="0070C0"/>
              </a:solidFill>
            </a:endParaRPr>
          </a:p>
        </p:txBody>
      </p:sp>
      <p:sp>
        <p:nvSpPr>
          <p:cNvPr id="243" name="Google Shape;243;p18"/>
          <p:cNvSpPr txBox="1"/>
          <p:nvPr>
            <p:ph idx="1" type="body"/>
          </p:nvPr>
        </p:nvSpPr>
        <p:spPr>
          <a:xfrm>
            <a:off x="762000" y="762000"/>
            <a:ext cx="6858000" cy="57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5000"/>
              <a:buNone/>
            </a:pPr>
            <a:r>
              <a:rPr lang="en-US" sz="1600"/>
              <a:t>&lt;!DOCTYPE html&gt;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 sz="1600"/>
              <a:t>&lt;html lang="en"&gt;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 sz="1600"/>
              <a:t>&lt;head&gt;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 sz="1600"/>
              <a:t>&lt;title&gt;Form Example&lt;/title&gt;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 sz="1600"/>
              <a:t>&lt;meta charset="utf-8"&gt;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 sz="1600"/>
              <a:t>&lt;/head&gt;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 sz="1600"/>
              <a:t>&lt;body&gt;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 sz="1600"/>
              <a:t>&lt;h1&gt;Sign Up for Text Messages&lt;/h1&gt;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 sz="1600"/>
              <a:t>&lt;form method="get"&gt;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 sz="1600"/>
              <a:t>&lt;label for="mobile"&gt;Mobile Number:&lt;/label&gt;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 sz="1600"/>
              <a:t>&lt;input </a:t>
            </a:r>
            <a:r>
              <a:rPr b="1" lang="en-US" sz="1600"/>
              <a:t>type="tel" </a:t>
            </a:r>
            <a:r>
              <a:rPr lang="en-US" sz="1600"/>
              <a:t>name="mobile" id="mobile" &gt;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 sz="1600"/>
              <a:t>&lt;br&gt;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 sz="1600"/>
              <a:t>&lt;br&gt;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 sz="1600"/>
              <a:t>&lt;input type="submit" value="Text Me"&gt; &lt;input type="reset"&gt;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 sz="1600"/>
              <a:t>&lt;/form&gt;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 sz="1600"/>
              <a:t>&lt;/body&gt;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 sz="1600"/>
              <a:t>&lt;/html&gt;</a:t>
            </a:r>
            <a:endParaRPr/>
          </a:p>
        </p:txBody>
      </p:sp>
      <p:sp>
        <p:nvSpPr>
          <p:cNvPr id="244" name="Google Shape;244;p18"/>
          <p:cNvSpPr txBox="1"/>
          <p:nvPr>
            <p:ph idx="12" type="sldNum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9"/>
          <p:cNvSpPr txBox="1"/>
          <p:nvPr>
            <p:ph type="title"/>
          </p:nvPr>
        </p:nvSpPr>
        <p:spPr>
          <a:xfrm>
            <a:off x="0" y="0"/>
            <a:ext cx="9144000" cy="820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000"/>
              <a:buFont typeface="Rockwell"/>
              <a:buNone/>
            </a:pPr>
            <a:br>
              <a:rPr lang="en-US" sz="4000">
                <a:solidFill>
                  <a:srgbClr val="0070C0"/>
                </a:solidFill>
              </a:rPr>
            </a:br>
            <a:r>
              <a:rPr b="1" lang="en-US" sz="4000">
                <a:solidFill>
                  <a:srgbClr val="0070C0"/>
                </a:solidFill>
              </a:rPr>
              <a:t>HTML5</a:t>
            </a:r>
            <a:r>
              <a:rPr lang="en-US" sz="4000">
                <a:solidFill>
                  <a:srgbClr val="0070C0"/>
                </a:solidFill>
              </a:rPr>
              <a:t>: SEARCH TEXT BOX</a:t>
            </a:r>
            <a:br>
              <a:rPr lang="en-US" sz="4000">
                <a:solidFill>
                  <a:srgbClr val="0070C0"/>
                </a:solidFill>
              </a:rPr>
            </a:br>
            <a:endParaRPr sz="4000">
              <a:solidFill>
                <a:srgbClr val="0070C0"/>
              </a:solidFill>
            </a:endParaRPr>
          </a:p>
        </p:txBody>
      </p:sp>
      <p:sp>
        <p:nvSpPr>
          <p:cNvPr id="251" name="Google Shape;251;p19"/>
          <p:cNvSpPr txBox="1"/>
          <p:nvPr>
            <p:ph idx="1" type="body"/>
          </p:nvPr>
        </p:nvSpPr>
        <p:spPr>
          <a:xfrm>
            <a:off x="381000" y="914400"/>
            <a:ext cx="3733800" cy="4876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2575" lvl="0" marL="365125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40"/>
              <a:buFont typeface="Noto Sans Symbols"/>
              <a:buChar char="⚫"/>
            </a:pPr>
            <a:r>
              <a:rPr lang="en-US" sz="2400"/>
              <a:t>&lt;input&gt;</a:t>
            </a:r>
            <a:endParaRPr/>
          </a:p>
          <a:p>
            <a:pPr indent="-282575" lvl="0" marL="365125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Font typeface="Noto Sans Symbols"/>
              <a:buChar char="⚫"/>
            </a:pPr>
            <a:r>
              <a:rPr lang="en-US" sz="2400"/>
              <a:t>Accepts search  terms</a:t>
            </a:r>
            <a:endParaRPr sz="1600"/>
          </a:p>
          <a:p>
            <a:pPr indent="-282575" lvl="0" marL="365125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Font typeface="Noto Sans Symbols"/>
              <a:buChar char="⚫"/>
            </a:pPr>
            <a:r>
              <a:rPr lang="en-US" sz="2400"/>
              <a:t>Common Attributes:</a:t>
            </a:r>
            <a:endParaRPr/>
          </a:p>
          <a:p>
            <a:pPr indent="-236537" lvl="1" marL="639763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700"/>
              <a:buFont typeface="Verdana"/>
              <a:buChar char="◦"/>
            </a:pPr>
            <a:r>
              <a:rPr b="1" lang="en-US" sz="2000"/>
              <a:t>type=“search”</a:t>
            </a:r>
            <a:endParaRPr/>
          </a:p>
          <a:p>
            <a:pPr indent="-236537" lvl="1" marL="639763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Font typeface="Verdana"/>
              <a:buChar char="◦"/>
            </a:pPr>
            <a:r>
              <a:rPr lang="en-US" sz="2000"/>
              <a:t>name</a:t>
            </a:r>
            <a:endParaRPr/>
          </a:p>
          <a:p>
            <a:pPr indent="-236537" lvl="1" marL="639763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Font typeface="Verdana"/>
              <a:buChar char="◦"/>
            </a:pPr>
            <a:r>
              <a:rPr lang="en-US" sz="2000"/>
              <a:t>id</a:t>
            </a:r>
            <a:endParaRPr/>
          </a:p>
          <a:p>
            <a:pPr indent="-236537" lvl="1" marL="639763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Font typeface="Verdana"/>
              <a:buChar char="◦"/>
            </a:pPr>
            <a:r>
              <a:rPr lang="en-US" sz="2000"/>
              <a:t>size</a:t>
            </a:r>
            <a:endParaRPr/>
          </a:p>
          <a:p>
            <a:pPr indent="-236537" lvl="1" marL="639763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Font typeface="Verdana"/>
              <a:buChar char="◦"/>
            </a:pPr>
            <a:r>
              <a:rPr lang="en-US" sz="2000"/>
              <a:t>maxlength</a:t>
            </a:r>
            <a:endParaRPr sz="2000"/>
          </a:p>
          <a:p>
            <a:pPr indent="-236537" lvl="1" marL="639763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Font typeface="Verdana"/>
              <a:buChar char="◦"/>
            </a:pPr>
            <a:r>
              <a:rPr lang="en-US" sz="2000"/>
              <a:t>value</a:t>
            </a:r>
            <a:endParaRPr/>
          </a:p>
          <a:p>
            <a:pPr indent="-236537" lvl="1" marL="639763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Font typeface="Verdana"/>
              <a:buChar char="◦"/>
            </a:pPr>
            <a:r>
              <a:rPr lang="en-US" sz="2000"/>
              <a:t>placeholder</a:t>
            </a:r>
            <a:endParaRPr/>
          </a:p>
          <a:p>
            <a:pPr indent="-236537" lvl="1" marL="639763" rtl="0" algn="l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SzPts val="1700"/>
              <a:buFont typeface="Verdana"/>
              <a:buChar char="◦"/>
            </a:pPr>
            <a:r>
              <a:rPr lang="en-US" sz="2000"/>
              <a:t>required</a:t>
            </a:r>
            <a:endParaRPr/>
          </a:p>
        </p:txBody>
      </p:sp>
      <p:sp>
        <p:nvSpPr>
          <p:cNvPr id="252" name="Google Shape;252;p19"/>
          <p:cNvSpPr txBox="1"/>
          <p:nvPr>
            <p:ph idx="12" type="sldNum"/>
          </p:nvPr>
        </p:nvSpPr>
        <p:spPr>
          <a:xfrm>
            <a:off x="8640763" y="6556375"/>
            <a:ext cx="503237" cy="301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</a:rPr>
              <a:t>‹#›</a:t>
            </a:fld>
            <a:endParaRPr sz="1200">
              <a:solidFill>
                <a:schemeClr val="dk1"/>
              </a:solidFill>
            </a:endParaRPr>
          </a:p>
        </p:txBody>
      </p:sp>
      <p:sp>
        <p:nvSpPr>
          <p:cNvPr id="253" name="Google Shape;253;p19"/>
          <p:cNvSpPr/>
          <p:nvPr/>
        </p:nvSpPr>
        <p:spPr>
          <a:xfrm>
            <a:off x="3548063" y="3090863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54" name="Google Shape;254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19600" y="2362200"/>
            <a:ext cx="4343400" cy="25146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20"/>
          <p:cNvSpPr txBox="1"/>
          <p:nvPr>
            <p:ph type="title"/>
          </p:nvPr>
        </p:nvSpPr>
        <p:spPr>
          <a:xfrm>
            <a:off x="0" y="0"/>
            <a:ext cx="9144000" cy="8207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000"/>
              <a:buFont typeface="Rockwell"/>
              <a:buNone/>
            </a:pPr>
            <a:br>
              <a:rPr b="1" lang="en-US" sz="4000">
                <a:solidFill>
                  <a:srgbClr val="0070C0"/>
                </a:solidFill>
              </a:rPr>
            </a:br>
            <a:r>
              <a:rPr b="1" lang="en-US" sz="4000">
                <a:solidFill>
                  <a:srgbClr val="0070C0"/>
                </a:solidFill>
              </a:rPr>
              <a:t>HTML5: SEARCH </a:t>
            </a:r>
            <a:r>
              <a:rPr b="1" lang="en-US" sz="3200">
                <a:solidFill>
                  <a:srgbClr val="0070C0"/>
                </a:solidFill>
              </a:rPr>
              <a:t>TEXT</a:t>
            </a:r>
            <a:r>
              <a:rPr b="1" lang="en-US" sz="4000">
                <a:solidFill>
                  <a:srgbClr val="0070C0"/>
                </a:solidFill>
              </a:rPr>
              <a:t> BOX</a:t>
            </a:r>
            <a:br>
              <a:rPr b="1" lang="en-US" sz="4000">
                <a:solidFill>
                  <a:srgbClr val="0070C0"/>
                </a:solidFill>
              </a:rPr>
            </a:br>
            <a:endParaRPr b="1" sz="4000">
              <a:solidFill>
                <a:srgbClr val="0070C0"/>
              </a:solidFill>
            </a:endParaRPr>
          </a:p>
        </p:txBody>
      </p:sp>
      <p:sp>
        <p:nvSpPr>
          <p:cNvPr id="260" name="Google Shape;260;p20"/>
          <p:cNvSpPr txBox="1"/>
          <p:nvPr>
            <p:ph idx="1" type="body"/>
          </p:nvPr>
        </p:nvSpPr>
        <p:spPr>
          <a:xfrm>
            <a:off x="1905000" y="914400"/>
            <a:ext cx="5257800" cy="56388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85000"/>
              <a:buNone/>
            </a:pPr>
            <a:r>
              <a:rPr lang="en-US" sz="1600"/>
              <a:t>&lt;!DOCTYPE html&gt;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 sz="1600"/>
              <a:t>&lt;html lang="en"&gt;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 sz="1600"/>
              <a:t>&lt;head&gt;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 sz="1600"/>
              <a:t>&lt;title&gt;Form Example&lt;/title&gt;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 sz="1600"/>
              <a:t>&lt;meta charset="utf-8"&gt;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 sz="1600"/>
              <a:t>&lt;/head&gt;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 sz="1600"/>
              <a:t>&lt;body&gt;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 sz="1600"/>
              <a:t>&lt;h1&gt;Sign Up for Text Messages&lt;/h1&gt;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 sz="1600"/>
              <a:t>&lt;form method="get"&gt;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 sz="1600"/>
              <a:t>&lt;label for="keyword"&gt;Search:&lt;/label&gt; 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 sz="1600"/>
              <a:t>&lt;input </a:t>
            </a:r>
            <a:r>
              <a:rPr b="1" lang="en-US" sz="1600"/>
              <a:t>type="search"</a:t>
            </a:r>
            <a:r>
              <a:rPr lang="en-US" sz="1600"/>
              <a:t> name="keyword" id="keyword" &gt;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 sz="1600"/>
              <a:t>&lt;br&gt;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 sz="1600"/>
              <a:t>&lt;br&gt;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 sz="1600"/>
              <a:t>&lt;input type="submit" value="Go"&gt; &lt;input type="reset"&gt;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 sz="1600"/>
              <a:t>&lt;/form&gt;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 sz="1600"/>
              <a:t>&lt;/body&gt;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ct val="85000"/>
              <a:buNone/>
            </a:pPr>
            <a:r>
              <a:rPr lang="en-US" sz="1600"/>
              <a:t>&lt;/html&gt;</a:t>
            </a:r>
            <a:endParaRPr/>
          </a:p>
        </p:txBody>
      </p:sp>
      <p:sp>
        <p:nvSpPr>
          <p:cNvPr id="261" name="Google Shape;261;p20"/>
          <p:cNvSpPr txBox="1"/>
          <p:nvPr>
            <p:ph idx="12" type="sldNum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1"/>
          <p:cNvSpPr txBox="1"/>
          <p:nvPr>
            <p:ph type="title"/>
          </p:nvPr>
        </p:nvSpPr>
        <p:spPr>
          <a:xfrm>
            <a:off x="0" y="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200"/>
              <a:buFont typeface="Rockwell"/>
              <a:buNone/>
            </a:pPr>
            <a:r>
              <a:rPr b="1" lang="en-US">
                <a:solidFill>
                  <a:srgbClr val="0070C0"/>
                </a:solidFill>
              </a:rPr>
              <a:t>HTML5: DATALIST CONTROL  </a:t>
            </a:r>
            <a:endParaRPr/>
          </a:p>
        </p:txBody>
      </p:sp>
      <p:sp>
        <p:nvSpPr>
          <p:cNvPr id="268" name="Google Shape;268;p21"/>
          <p:cNvSpPr txBox="1"/>
          <p:nvPr>
            <p:ph idx="1" type="body"/>
          </p:nvPr>
        </p:nvSpPr>
        <p:spPr>
          <a:xfrm>
            <a:off x="304800" y="877888"/>
            <a:ext cx="8610600" cy="5446712"/>
          </a:xfrm>
          <a:prstGeom prst="rect">
            <a:avLst/>
          </a:prstGeom>
          <a:solidFill>
            <a:srgbClr val="FAD8CB">
              <a:alpha val="72941"/>
            </a:srgbClr>
          </a:solidFill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4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&lt;label for="color"&gt;Favorite Color:&lt;/label&gt; </a:t>
            </a:r>
            <a:b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&lt;input type="text" name="color" id="color" list="colors" &gt;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&lt;datalist id="colors"&gt;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    &lt;option value="red"&gt;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    &lt;option value="green"&gt;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    &lt;option value="blue"&gt;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    &lt;option value="yellow"&gt;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    &lt;option value="pink"&gt;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     &lt;option value="black"&gt;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&lt;/datalist&gt;</a:t>
            </a:r>
            <a:endParaRPr/>
          </a:p>
        </p:txBody>
      </p:sp>
      <p:sp>
        <p:nvSpPr>
          <p:cNvPr id="269" name="Google Shape;269;p21"/>
          <p:cNvSpPr txBox="1"/>
          <p:nvPr>
            <p:ph idx="12" type="sldNum"/>
          </p:nvPr>
        </p:nvSpPr>
        <p:spPr>
          <a:xfrm>
            <a:off x="8640763" y="6556375"/>
            <a:ext cx="503237" cy="301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</a:rPr>
              <a:t>‹#›</a:t>
            </a:fld>
            <a:endParaRPr sz="1200">
              <a:solidFill>
                <a:schemeClr val="dk1"/>
              </a:solidFill>
            </a:endParaRPr>
          </a:p>
        </p:txBody>
      </p:sp>
      <p:sp>
        <p:nvSpPr>
          <p:cNvPr id="270" name="Google Shape;270;p21"/>
          <p:cNvSpPr/>
          <p:nvPr/>
        </p:nvSpPr>
        <p:spPr>
          <a:xfrm>
            <a:off x="3548063" y="3090863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Figure10.24.tif" id="271" name="Google Shape;271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91000" y="2133600"/>
            <a:ext cx="4224338" cy="335280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2"/>
          <p:cNvSpPr txBox="1"/>
          <p:nvPr>
            <p:ph type="title"/>
          </p:nvPr>
        </p:nvSpPr>
        <p:spPr>
          <a:xfrm>
            <a:off x="0" y="0"/>
            <a:ext cx="9144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200"/>
              <a:buFont typeface="Rockwell"/>
              <a:buNone/>
            </a:pPr>
            <a:r>
              <a:rPr b="1" lang="en-US">
                <a:solidFill>
                  <a:srgbClr val="0070C0"/>
                </a:solidFill>
              </a:rPr>
              <a:t>HTML5: SLIDER CONTROL</a:t>
            </a:r>
            <a:endParaRPr/>
          </a:p>
        </p:txBody>
      </p:sp>
      <p:sp>
        <p:nvSpPr>
          <p:cNvPr id="278" name="Google Shape;278;p22"/>
          <p:cNvSpPr txBox="1"/>
          <p:nvPr>
            <p:ph idx="1" type="body"/>
          </p:nvPr>
        </p:nvSpPr>
        <p:spPr>
          <a:xfrm>
            <a:off x="228600" y="1143000"/>
            <a:ext cx="87630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4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&lt;label for="myChoice"&gt;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Choose a number between 1 and 100:&lt;/label&gt;&lt;br&gt;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Low &lt;input type="range" name="myChoice" id="myChoice" min="1" max="100"&gt; High</a:t>
            </a:r>
            <a:endParaRPr/>
          </a:p>
        </p:txBody>
      </p:sp>
      <p:sp>
        <p:nvSpPr>
          <p:cNvPr id="279" name="Google Shape;279;p22"/>
          <p:cNvSpPr txBox="1"/>
          <p:nvPr>
            <p:ph idx="12" type="sldNum"/>
          </p:nvPr>
        </p:nvSpPr>
        <p:spPr>
          <a:xfrm>
            <a:off x="8640763" y="6556375"/>
            <a:ext cx="503237" cy="301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</a:rPr>
              <a:t>‹#›</a:t>
            </a:fld>
            <a:endParaRPr sz="1200">
              <a:solidFill>
                <a:schemeClr val="dk1"/>
              </a:solidFill>
            </a:endParaRPr>
          </a:p>
        </p:txBody>
      </p:sp>
      <p:sp>
        <p:nvSpPr>
          <p:cNvPr id="280" name="Google Shape;280;p22"/>
          <p:cNvSpPr/>
          <p:nvPr/>
        </p:nvSpPr>
        <p:spPr>
          <a:xfrm>
            <a:off x="3548063" y="3090863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Figure10.27.tif" id="281" name="Google Shape;281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95400" y="3124200"/>
            <a:ext cx="5486400" cy="297180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23"/>
          <p:cNvSpPr txBox="1"/>
          <p:nvPr>
            <p:ph type="title"/>
          </p:nvPr>
        </p:nvSpPr>
        <p:spPr>
          <a:xfrm>
            <a:off x="0" y="0"/>
            <a:ext cx="91440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ct val="100000"/>
              <a:buFont typeface="Rockwell"/>
              <a:buNone/>
            </a:pPr>
            <a:br>
              <a:rPr b="1" lang="en-US">
                <a:solidFill>
                  <a:srgbClr val="0070C0"/>
                </a:solidFill>
              </a:rPr>
            </a:br>
            <a:r>
              <a:rPr b="1" lang="en-US" sz="4000">
                <a:solidFill>
                  <a:srgbClr val="0070C0"/>
                </a:solidFill>
              </a:rPr>
              <a:t>HTML5: SPINNER CONTROL</a:t>
            </a:r>
            <a:br>
              <a:rPr b="1" lang="en-US">
                <a:solidFill>
                  <a:srgbClr val="0070C0"/>
                </a:solidFill>
              </a:rPr>
            </a:br>
            <a:endParaRPr b="1">
              <a:solidFill>
                <a:srgbClr val="0070C0"/>
              </a:solidFill>
            </a:endParaRPr>
          </a:p>
        </p:txBody>
      </p:sp>
      <p:sp>
        <p:nvSpPr>
          <p:cNvPr id="288" name="Google Shape;288;p23"/>
          <p:cNvSpPr txBox="1"/>
          <p:nvPr>
            <p:ph idx="1" type="body"/>
          </p:nvPr>
        </p:nvSpPr>
        <p:spPr>
          <a:xfrm>
            <a:off x="212725" y="1295400"/>
            <a:ext cx="8991600" cy="441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4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&lt;label for="myChoice"&gt;Choose a number between 1 and 10:&lt;/label&gt;</a:t>
            </a:r>
            <a:b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&lt;input type="number"  name="myChoice"  id="myChoice"</a:t>
            </a:r>
            <a:endParaRPr/>
          </a:p>
          <a:p>
            <a:pPr indent="-182880" lvl="0" marL="18288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SzPts val="204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       min="1" max="10"&gt; </a:t>
            </a:r>
            <a:endParaRPr/>
          </a:p>
        </p:txBody>
      </p:sp>
      <p:sp>
        <p:nvSpPr>
          <p:cNvPr id="289" name="Google Shape;289;p23"/>
          <p:cNvSpPr txBox="1"/>
          <p:nvPr>
            <p:ph idx="12" type="sldNum"/>
          </p:nvPr>
        </p:nvSpPr>
        <p:spPr>
          <a:xfrm>
            <a:off x="8640763" y="6556375"/>
            <a:ext cx="503237" cy="301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</a:rPr>
              <a:t>‹#›</a:t>
            </a:fld>
            <a:endParaRPr sz="1200">
              <a:solidFill>
                <a:schemeClr val="dk1"/>
              </a:solidFill>
            </a:endParaRPr>
          </a:p>
        </p:txBody>
      </p:sp>
      <p:sp>
        <p:nvSpPr>
          <p:cNvPr id="290" name="Google Shape;290;p23"/>
          <p:cNvSpPr/>
          <p:nvPr/>
        </p:nvSpPr>
        <p:spPr>
          <a:xfrm>
            <a:off x="3548063" y="3090863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Figure10.29.tif" id="291" name="Google Shape;291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47800" y="2667000"/>
            <a:ext cx="6248400" cy="3581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24"/>
          <p:cNvSpPr txBox="1"/>
          <p:nvPr>
            <p:ph type="title"/>
          </p:nvPr>
        </p:nvSpPr>
        <p:spPr>
          <a:xfrm>
            <a:off x="0" y="1"/>
            <a:ext cx="91440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200"/>
              <a:buFont typeface="Rockwell"/>
              <a:buNone/>
            </a:pPr>
            <a:r>
              <a:rPr b="1" lang="en-US">
                <a:solidFill>
                  <a:srgbClr val="0070C0"/>
                </a:solidFill>
              </a:rPr>
              <a:t>HTML5: CALENDAR CONTROL  </a:t>
            </a:r>
            <a:endParaRPr/>
          </a:p>
        </p:txBody>
      </p:sp>
      <p:sp>
        <p:nvSpPr>
          <p:cNvPr id="298" name="Google Shape;298;p24"/>
          <p:cNvSpPr txBox="1"/>
          <p:nvPr>
            <p:ph idx="1" type="body"/>
          </p:nvPr>
        </p:nvSpPr>
        <p:spPr>
          <a:xfrm>
            <a:off x="152400" y="1066800"/>
            <a:ext cx="9144000" cy="48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40"/>
              <a:buFont typeface="Noto Sans Symbols"/>
              <a:buNone/>
            </a:pP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    &lt;label for="myDate"&gt;Choose a Date&lt;/label&gt;</a:t>
            </a:r>
            <a:b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n-US" sz="2400">
                <a:latin typeface="Times New Roman"/>
                <a:ea typeface="Times New Roman"/>
                <a:cs typeface="Times New Roman"/>
                <a:sym typeface="Times New Roman"/>
              </a:rPr>
              <a:t>&lt;input type="date" name="myDate" id="myDate"&gt; </a:t>
            </a:r>
            <a:endParaRPr/>
          </a:p>
        </p:txBody>
      </p:sp>
      <p:sp>
        <p:nvSpPr>
          <p:cNvPr id="299" name="Google Shape;299;p24"/>
          <p:cNvSpPr txBox="1"/>
          <p:nvPr>
            <p:ph idx="12" type="sldNum"/>
          </p:nvPr>
        </p:nvSpPr>
        <p:spPr>
          <a:xfrm>
            <a:off x="8640763" y="6556375"/>
            <a:ext cx="503237" cy="301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</a:rPr>
              <a:t>‹#›</a:t>
            </a:fld>
            <a:endParaRPr sz="1200">
              <a:solidFill>
                <a:schemeClr val="dk1"/>
              </a:solidFill>
            </a:endParaRPr>
          </a:p>
        </p:txBody>
      </p:sp>
      <p:sp>
        <p:nvSpPr>
          <p:cNvPr id="300" name="Google Shape;300;p24"/>
          <p:cNvSpPr/>
          <p:nvPr/>
        </p:nvSpPr>
        <p:spPr>
          <a:xfrm>
            <a:off x="3548063" y="3090863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Figure10.30.tif" id="301" name="Google Shape;301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2057400"/>
            <a:ext cx="6705600" cy="4114800"/>
          </a:xfrm>
          <a:prstGeom prst="rect">
            <a:avLst/>
          </a:prstGeom>
          <a:noFill/>
          <a:ln>
            <a:noFill/>
          </a:ln>
          <a:effectLst>
            <a:outerShdw blurRad="50800" rotWithShape="0" algn="tl" dir="2700000" dist="3810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5"/>
          <p:cNvSpPr txBox="1"/>
          <p:nvPr>
            <p:ph type="title"/>
          </p:nvPr>
        </p:nvSpPr>
        <p:spPr>
          <a:xfrm>
            <a:off x="0" y="0"/>
            <a:ext cx="91440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4200"/>
              <a:buFont typeface="Rockwell"/>
              <a:buNone/>
            </a:pPr>
            <a:r>
              <a:rPr lang="en-US">
                <a:solidFill>
                  <a:srgbClr val="0070C0"/>
                </a:solidFill>
              </a:rPr>
              <a:t>PRACTICE WITH AN HTML5 FORM</a:t>
            </a:r>
            <a:endParaRPr/>
          </a:p>
        </p:txBody>
      </p:sp>
      <p:sp>
        <p:nvSpPr>
          <p:cNvPr id="307" name="Google Shape;307;p25"/>
          <p:cNvSpPr txBox="1"/>
          <p:nvPr>
            <p:ph idx="1" type="body"/>
          </p:nvPr>
        </p:nvSpPr>
        <p:spPr>
          <a:xfrm>
            <a:off x="381000" y="1219200"/>
            <a:ext cx="8229600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82880" lvl="0" marL="18288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700"/>
              <a:buChar char="▪"/>
            </a:pPr>
            <a:r>
              <a:rPr lang="en-US"/>
              <a:t>The form display and functioning varies with browser support.</a:t>
            </a:r>
            <a:endParaRPr/>
          </a:p>
        </p:txBody>
      </p:sp>
      <p:sp>
        <p:nvSpPr>
          <p:cNvPr id="308" name="Google Shape;308;p25"/>
          <p:cNvSpPr txBox="1"/>
          <p:nvPr>
            <p:ph idx="12" type="sldNum"/>
          </p:nvPr>
        </p:nvSpPr>
        <p:spPr>
          <a:xfrm>
            <a:off x="8640763" y="6556375"/>
            <a:ext cx="503237" cy="3016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</a:rPr>
              <a:t>‹#›</a:t>
            </a:fld>
            <a:endParaRPr sz="1200">
              <a:solidFill>
                <a:schemeClr val="dk1"/>
              </a:solidFill>
            </a:endParaRPr>
          </a:p>
        </p:txBody>
      </p:sp>
      <p:pic>
        <p:nvPicPr>
          <p:cNvPr descr="Figure10.31.tif" id="309" name="Google Shape;30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5800" y="2209800"/>
            <a:ext cx="3709988" cy="265271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igure10.32.tif" id="310" name="Google Shape;310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48200" y="2133600"/>
            <a:ext cx="3870325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od Type">
  <a:themeElements>
    <a:clrScheme name="Wood Type">
      <a:dk1>
        <a:srgbClr val="000000"/>
      </a:dk1>
      <a:lt1>
        <a:srgbClr val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2002-01-17T02:49:49Z</dcterms:created>
  <dc:creator>Terry Felke-Morris</dc:creator>
</cp:coreProperties>
</file>