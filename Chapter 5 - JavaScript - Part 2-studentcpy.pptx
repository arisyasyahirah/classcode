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y="6858000" cx="9144000"/>
  <p:notesSz cx="6858000" cy="9144000"/>
  <p:embeddedFontLst>
    <p:embeddedFont>
      <p:font typeface="Libre Baskerville"/>
      <p:regular r:id="rId60"/>
      <p:bold r:id="rId61"/>
      <p:italic r:id="rId62"/>
    </p:embeddedFont>
    <p:embeddedFont>
      <p:font typeface="Book Antiqua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67" roundtripDataSignature="AMtx7miLTsRSlG9I67U17/Nefswax6EH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A44A3E-4571-4005-9AA6-476AF16606E2}">
  <a:tblStyle styleId="{47A44A3E-4571-4005-9AA6-476AF16606E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LibreBaskerville-italic.fntdata"/><Relationship Id="rId61" Type="http://schemas.openxmlformats.org/officeDocument/2006/relationships/font" Target="fonts/LibreBaskerville-bold.fntdata"/><Relationship Id="rId20" Type="http://schemas.openxmlformats.org/officeDocument/2006/relationships/slide" Target="slides/slide13.xml"/><Relationship Id="rId64" Type="http://schemas.openxmlformats.org/officeDocument/2006/relationships/font" Target="fonts/BookAntiqua-bold.fntdata"/><Relationship Id="rId63" Type="http://schemas.openxmlformats.org/officeDocument/2006/relationships/font" Target="fonts/BookAntiqua-regular.fntdata"/><Relationship Id="rId22" Type="http://schemas.openxmlformats.org/officeDocument/2006/relationships/slide" Target="slides/slide15.xml"/><Relationship Id="rId66" Type="http://schemas.openxmlformats.org/officeDocument/2006/relationships/font" Target="fonts/BookAntiqua-boldItalic.fntdata"/><Relationship Id="rId21" Type="http://schemas.openxmlformats.org/officeDocument/2006/relationships/slide" Target="slides/slide14.xml"/><Relationship Id="rId65" Type="http://schemas.openxmlformats.org/officeDocument/2006/relationships/font" Target="fonts/BookAntiqua-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7" Type="http://customschemas.google.com/relationships/presentationmetadata" Target="metadata"/><Relationship Id="rId60" Type="http://schemas.openxmlformats.org/officeDocument/2006/relationships/font" Target="fonts/LibreBaskerville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5"/>
          <p:cNvSpPr txBox="1"/>
          <p:nvPr>
            <p:ph idx="1" type="body"/>
          </p:nvPr>
        </p:nvSpPr>
        <p:spPr>
          <a:xfrm>
            <a:off x="-1143000" y="-3048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6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7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7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7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7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7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7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7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7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7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7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6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7.png"/><Relationship Id="rId4" Type="http://schemas.openxmlformats.org/officeDocument/2006/relationships/image" Target="../media/image1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Relationship Id="rId4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3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://www.w3schools.com/js/default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/>
          <p:nvPr>
            <p:ph type="ctrTitle"/>
          </p:nvPr>
        </p:nvSpPr>
        <p:spPr>
          <a:xfrm>
            <a:off x="609600" y="28733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6600"/>
              <a:buFont typeface="Libre Baskerville"/>
              <a:buNone/>
            </a:pPr>
            <a:r>
              <a:rPr b="1" lang="en-US" sz="66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JavaScript – Part II</a:t>
            </a:r>
            <a:endParaRPr/>
          </a:p>
        </p:txBody>
      </p:sp>
      <p:sp>
        <p:nvSpPr>
          <p:cNvPr id="165" name="Google Shape;165;p1"/>
          <p:cNvSpPr txBox="1"/>
          <p:nvPr>
            <p:ph idx="1" type="subTitle"/>
          </p:nvPr>
        </p:nvSpPr>
        <p:spPr>
          <a:xfrm>
            <a:off x="1295400" y="5257800"/>
            <a:ext cx="6400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CSF3206</a:t>
            </a:r>
            <a:endParaRPr/>
          </a:p>
        </p:txBody>
      </p:sp>
      <p:sp>
        <p:nvSpPr>
          <p:cNvPr id="166" name="Google Shape;166;p1"/>
          <p:cNvSpPr txBox="1"/>
          <p:nvPr/>
        </p:nvSpPr>
        <p:spPr>
          <a:xfrm>
            <a:off x="2743200" y="1219200"/>
            <a:ext cx="35052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Chapter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 txBox="1"/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/>
              <a:t>Learning Outcomes</a:t>
            </a:r>
            <a:endParaRPr b="1" i="1" sz="3600"/>
          </a:p>
        </p:txBody>
      </p:sp>
      <p:sp>
        <p:nvSpPr>
          <p:cNvPr id="173" name="Google Shape;173;p2"/>
          <p:cNvSpPr txBox="1"/>
          <p:nvPr>
            <p:ph idx="1" type="body"/>
          </p:nvPr>
        </p:nvSpPr>
        <p:spPr>
          <a:xfrm>
            <a:off x="457200" y="12954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Describe the use of </a:t>
            </a:r>
            <a:r>
              <a:rPr b="1" i="1" lang="en-US"/>
              <a:t>Object</a:t>
            </a:r>
            <a:r>
              <a:rPr lang="en-US"/>
              <a:t> in JavaScript.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How to create and use an Object? 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Explain core JavaScript’s object.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Creating user defined JavaScript’s object.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Applying the concept of </a:t>
            </a:r>
            <a:r>
              <a:rPr b="1" i="1" lang="en-US"/>
              <a:t>Document Object Model (DOM)</a:t>
            </a:r>
            <a:r>
              <a:rPr lang="en-US"/>
              <a:t>.</a:t>
            </a:r>
            <a:endParaRPr/>
          </a:p>
          <a:p>
            <a:pPr indent="-514350" lvl="0" marL="51435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/>
              <a:t>User JavaScript to redirect to other page.</a:t>
            </a:r>
            <a:endParaRPr/>
          </a:p>
        </p:txBody>
      </p:sp>
      <p:sp>
        <p:nvSpPr>
          <p:cNvPr id="174" name="Google Shape;17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176" name="Google Shape;17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/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00FF"/>
                </a:solidFill>
              </a:rPr>
              <a:t>JavaScript Objects</a:t>
            </a:r>
            <a:endParaRPr b="1" i="1" sz="3600">
              <a:solidFill>
                <a:srgbClr val="0000FF"/>
              </a:solidFill>
            </a:endParaRPr>
          </a:p>
        </p:txBody>
      </p:sp>
      <p:sp>
        <p:nvSpPr>
          <p:cNvPr id="182" name="Google Shape;18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3"/>
          <p:cNvSpPr txBox="1"/>
          <p:nvPr/>
        </p:nvSpPr>
        <p:spPr>
          <a:xfrm>
            <a:off x="381000" y="1066800"/>
            <a:ext cx="8458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Almost everything in JavaScript is an object; E.g. String, Array, Date, Windows, buttons, form, etc.</a:t>
            </a:r>
            <a:endParaRPr/>
          </a:p>
        </p:txBody>
      </p:sp>
      <p:grpSp>
        <p:nvGrpSpPr>
          <p:cNvPr id="184" name="Google Shape;184;p3"/>
          <p:cNvGrpSpPr/>
          <p:nvPr/>
        </p:nvGrpSpPr>
        <p:grpSpPr>
          <a:xfrm>
            <a:off x="2293623" y="2286676"/>
            <a:ext cx="4899653" cy="3732446"/>
            <a:chOff x="388623" y="676"/>
            <a:chExt cx="4899653" cy="3732446"/>
          </a:xfrm>
        </p:grpSpPr>
        <p:sp>
          <p:nvSpPr>
            <p:cNvPr id="185" name="Google Shape;185;p3"/>
            <p:cNvSpPr/>
            <p:nvPr/>
          </p:nvSpPr>
          <p:spPr>
            <a:xfrm>
              <a:off x="388623" y="676"/>
              <a:ext cx="1361014" cy="1361014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"/>
            <p:cNvSpPr txBox="1"/>
            <p:nvPr/>
          </p:nvSpPr>
          <p:spPr>
            <a:xfrm>
              <a:off x="587939" y="199992"/>
              <a:ext cx="962382" cy="9623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Properties</a:t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674436" y="1472205"/>
              <a:ext cx="789388" cy="789388"/>
            </a:xfrm>
            <a:prstGeom prst="mathPlus">
              <a:avLst>
                <a:gd fmla="val 23520" name="adj1"/>
              </a:avLst>
            </a:prstGeom>
            <a:solidFill>
              <a:srgbClr val="B1C0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"/>
            <p:cNvSpPr txBox="1"/>
            <p:nvPr/>
          </p:nvSpPr>
          <p:spPr>
            <a:xfrm>
              <a:off x="779069" y="1774067"/>
              <a:ext cx="580122" cy="185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388623" y="2372108"/>
              <a:ext cx="1361014" cy="1361014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 txBox="1"/>
            <p:nvPr/>
          </p:nvSpPr>
          <p:spPr>
            <a:xfrm>
              <a:off x="587939" y="2571424"/>
              <a:ext cx="962382" cy="9623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Methods</a:t>
              </a: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1953790" y="1613751"/>
              <a:ext cx="432802" cy="506297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1C0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1953790" y="1715010"/>
              <a:ext cx="302961" cy="303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2566247" y="505885"/>
              <a:ext cx="2722029" cy="2722029"/>
            </a:xfrm>
            <a:prstGeom prst="ellipse">
              <a:avLst/>
            </a:prstGeom>
            <a:solidFill>
              <a:srgbClr val="FF33CC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"/>
            <p:cNvSpPr txBox="1"/>
            <p:nvPr/>
          </p:nvSpPr>
          <p:spPr>
            <a:xfrm>
              <a:off x="2964879" y="904517"/>
              <a:ext cx="1924765" cy="1924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58400" spcFirstLastPara="1" rIns="58400" wrap="square" tIns="58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Calibri"/>
                <a:buNone/>
              </a:pPr>
              <a:r>
                <a:rPr b="0" i="0" lang="en-US" sz="4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Objects</a:t>
              </a:r>
              <a:endParaRPr/>
            </a:p>
          </p:txBody>
        </p:sp>
      </p:grpSp>
      <p:sp>
        <p:nvSpPr>
          <p:cNvPr id="195" name="Google Shape;19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196" name="Google Shape;196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©2016-Faizah Aplop</a:t>
            </a:r>
            <a:endParaRPr/>
          </a:p>
        </p:txBody>
      </p:sp>
      <p:sp>
        <p:nvSpPr>
          <p:cNvPr id="202" name="Google Shape;20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203" name="Google Shape;20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1143000" y="1219200"/>
            <a:ext cx="67056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an </a:t>
            </a:r>
            <a:r>
              <a:rPr b="1" i="1" lang="en-US" sz="5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457200" y="3048000"/>
            <a:ext cx="82296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way of </a:t>
            </a:r>
            <a:r>
              <a:rPr b="1" i="1" lang="en-US" sz="36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something real,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 though the object is an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abstract entity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©2016-Faizah Aplop</a:t>
            </a:r>
            <a:endParaRPr/>
          </a:p>
        </p:txBody>
      </p:sp>
      <p:sp>
        <p:nvSpPr>
          <p:cNvPr id="211" name="Google Shape;21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212" name="Google Shape;21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3" name="Google Shape;213;p5"/>
          <p:cNvPicPr preferRelativeResize="0"/>
          <p:nvPr/>
        </p:nvPicPr>
        <p:blipFill rotWithShape="1">
          <a:blip r:embed="rId3">
            <a:alphaModFix/>
          </a:blip>
          <a:srcRect b="8521" l="15855" r="18876" t="43138"/>
          <a:stretch/>
        </p:blipFill>
        <p:spPr>
          <a:xfrm>
            <a:off x="228600" y="78978"/>
            <a:ext cx="8762999" cy="6134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"/>
          <p:cNvSpPr txBox="1"/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00FF"/>
                </a:solidFill>
              </a:rPr>
              <a:t>Objects in JavaScript</a:t>
            </a:r>
            <a:endParaRPr b="1" i="1" sz="3600">
              <a:solidFill>
                <a:srgbClr val="0000FF"/>
              </a:solidFill>
            </a:endParaRPr>
          </a:p>
        </p:txBody>
      </p:sp>
      <p:sp>
        <p:nvSpPr>
          <p:cNvPr id="219" name="Google Shape;21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485503" y="1076504"/>
            <a:ext cx="8458200" cy="3724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Object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a</a:t>
            </a:r>
            <a:r>
              <a:rPr b="1" i="0" lang="en-US" sz="24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 flexible way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JavaScript scripting.</a:t>
            </a:r>
            <a:endParaRPr/>
          </a:p>
          <a:p>
            <a:pPr indent="-1333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JavaScript objects - basically a collection of properties and values, (known as a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table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programming).</a:t>
            </a:r>
            <a:endParaRPr/>
          </a:p>
          <a:p>
            <a:pPr indent="-1333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JavaScript, objects are data (variables), with properties and methods.</a:t>
            </a:r>
            <a:endParaRPr/>
          </a:p>
          <a:p>
            <a:pPr indent="-1333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Example; Creating JavaScript </a:t>
            </a:r>
            <a:r>
              <a:rPr b="0" i="1" lang="en-US" sz="2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object.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0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mySubject = </a:t>
            </a:r>
            <a:r>
              <a:rPr b="1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0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String(“CSF3203”);</a:t>
            </a:r>
            <a:endParaRPr/>
          </a:p>
        </p:txBody>
      </p:sp>
      <p:graphicFrame>
        <p:nvGraphicFramePr>
          <p:cNvPr id="221" name="Google Shape;221;p6"/>
          <p:cNvGraphicFramePr/>
          <p:nvPr/>
        </p:nvGraphicFramePr>
        <p:xfrm>
          <a:off x="533400" y="49959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{47A44A3E-4571-4005-9AA6-476AF16606E2}</a:tableStyleId>
              </a:tblPr>
              <a:tblGrid>
                <a:gridCol w="2794000"/>
                <a:gridCol w="2549525"/>
                <a:gridCol w="3038475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Object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Property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Method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8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“CSF3203”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mySubject.length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mySubject.indexOf(“CSF”)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2" name="Google Shape;22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223" name="Google Shape;223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©2016-Faizah Aplop</a:t>
            </a:r>
            <a:endParaRPr/>
          </a:p>
        </p:txBody>
      </p:sp>
      <p:sp>
        <p:nvSpPr>
          <p:cNvPr id="229" name="Google Shape;22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230" name="Google Shape;23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609600" y="685800"/>
            <a:ext cx="61722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groups of objects in JavaScript:-</a:t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762000" y="1905000"/>
            <a:ext cx="2133600" cy="533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User-defined objects</a:t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762000" y="2819400"/>
            <a:ext cx="2133600" cy="533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Built-in objects</a:t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762000" y="3733800"/>
            <a:ext cx="2133600" cy="533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Browser objects</a:t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762000" y="4800600"/>
            <a:ext cx="2133600" cy="533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 objects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3810000" y="19812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 objects by programmer</a:t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3783105" y="2929678"/>
            <a:ext cx="2971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Provided by JavaScript itself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3747247" y="3733800"/>
            <a:ext cx="49395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 not specified by as part of JavaScript language but most browsers support 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3771900" y="4763869"/>
            <a:ext cx="52959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 that are part of DOM. They present the programmer with a structured interface to HTML and XML documents</a:t>
            </a:r>
            <a:endParaRPr/>
          </a:p>
        </p:txBody>
      </p:sp>
      <p:cxnSp>
        <p:nvCxnSpPr>
          <p:cNvPr id="240" name="Google Shape;240;p7"/>
          <p:cNvCxnSpPr>
            <a:stCxn id="232" idx="3"/>
            <a:endCxn id="236" idx="1"/>
          </p:cNvCxnSpPr>
          <p:nvPr/>
        </p:nvCxnSpPr>
        <p:spPr>
          <a:xfrm>
            <a:off x="2895600" y="2171700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41" name="Google Shape;241;p7"/>
          <p:cNvCxnSpPr/>
          <p:nvPr/>
        </p:nvCxnSpPr>
        <p:spPr>
          <a:xfrm>
            <a:off x="2895600" y="3124200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42" name="Google Shape;242;p7"/>
          <p:cNvCxnSpPr/>
          <p:nvPr/>
        </p:nvCxnSpPr>
        <p:spPr>
          <a:xfrm>
            <a:off x="2895600" y="4002740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43" name="Google Shape;243;p7"/>
          <p:cNvCxnSpPr/>
          <p:nvPr/>
        </p:nvCxnSpPr>
        <p:spPr>
          <a:xfrm>
            <a:off x="2895600" y="5087470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©2016-Faizah Aplop</a:t>
            </a:r>
            <a:endParaRPr/>
          </a:p>
        </p:txBody>
      </p:sp>
      <p:sp>
        <p:nvSpPr>
          <p:cNvPr id="249" name="Google Shape;24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250" name="Google Shape;25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8"/>
          <p:cNvSpPr txBox="1"/>
          <p:nvPr/>
        </p:nvSpPr>
        <p:spPr>
          <a:xfrm>
            <a:off x="1066800" y="457200"/>
            <a:ext cx="70866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are </a:t>
            </a:r>
            <a:r>
              <a:rPr b="1" i="1" lang="en-US" sz="5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objects </a:t>
            </a: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useful?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990600" y="2000508"/>
            <a:ext cx="71628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give programmer another way to </a:t>
            </a:r>
            <a:r>
              <a:rPr b="1" i="1" lang="en-US" sz="360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organize</a:t>
            </a: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things within a script 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1066800" y="4572000"/>
            <a:ext cx="67818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similar variables together under an object</a:t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3429000" y="3505200"/>
            <a:ext cx="18288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How to Create An Object?</a:t>
            </a:r>
            <a:endParaRPr b="1" i="1" sz="3000"/>
          </a:p>
        </p:txBody>
      </p:sp>
      <p:sp>
        <p:nvSpPr>
          <p:cNvPr id="260" name="Google Shape;2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9"/>
          <p:cNvSpPr txBox="1"/>
          <p:nvPr/>
        </p:nvSpPr>
        <p:spPr>
          <a:xfrm>
            <a:off x="381000" y="914400"/>
            <a:ext cx="8458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 – to interact with user.</a:t>
            </a:r>
            <a:endParaRPr/>
          </a:p>
        </p:txBody>
      </p:sp>
      <p:grpSp>
        <p:nvGrpSpPr>
          <p:cNvPr id="262" name="Google Shape;262;p9"/>
          <p:cNvGrpSpPr/>
          <p:nvPr/>
        </p:nvGrpSpPr>
        <p:grpSpPr>
          <a:xfrm>
            <a:off x="3276599" y="1676400"/>
            <a:ext cx="2743200" cy="4063650"/>
            <a:chOff x="1676399" y="0"/>
            <a:chExt cx="2743200" cy="4063650"/>
          </a:xfrm>
        </p:grpSpPr>
        <p:sp>
          <p:nvSpPr>
            <p:cNvPr id="263" name="Google Shape;263;p9"/>
            <p:cNvSpPr/>
            <p:nvPr/>
          </p:nvSpPr>
          <p:spPr>
            <a:xfrm>
              <a:off x="2438400" y="1422400"/>
              <a:ext cx="1219200" cy="12192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9"/>
            <p:cNvSpPr txBox="1"/>
            <p:nvPr/>
          </p:nvSpPr>
          <p:spPr>
            <a:xfrm>
              <a:off x="2497916" y="1481916"/>
              <a:ext cx="1100168" cy="1100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250" lIns="48250" spcFirstLastPara="1" rIns="48250" wrap="square" tIns="48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1" lang="en-US" sz="1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Creating JavaScript Object</a:t>
              </a:r>
              <a:endParaRPr b="1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9"/>
            <p:cNvSpPr/>
            <p:nvPr/>
          </p:nvSpPr>
          <p:spPr>
            <a:xfrm rot="-5400000">
              <a:off x="2745232" y="1119632"/>
              <a:ext cx="605535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66" name="Google Shape;266;p9"/>
            <p:cNvSpPr/>
            <p:nvPr/>
          </p:nvSpPr>
          <p:spPr>
            <a:xfrm>
              <a:off x="1676399" y="0"/>
              <a:ext cx="2743200" cy="816864"/>
            </a:xfrm>
            <a:prstGeom prst="roundRect">
              <a:avLst>
                <a:gd fmla="val 16667" name="adj"/>
              </a:avLst>
            </a:prstGeom>
            <a:solidFill>
              <a:srgbClr val="5DAEA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9"/>
            <p:cNvSpPr txBox="1"/>
            <p:nvPr/>
          </p:nvSpPr>
          <p:spPr>
            <a:xfrm>
              <a:off x="1716275" y="39876"/>
              <a:ext cx="2663448" cy="737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Calibri"/>
                <a:buNone/>
              </a:pPr>
              <a:r>
                <a:rPr b="1" lang="en-US" sz="2400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Object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Calibri"/>
                <a:buNone/>
              </a:pPr>
              <a:r>
                <a:rPr b="1" lang="en-US" sz="2400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Constructor</a:t>
              </a:r>
              <a:endParaRPr b="1" sz="2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 rot="5400000">
              <a:off x="2745406" y="2944193"/>
              <a:ext cx="605186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69" name="Google Shape;269;p9"/>
            <p:cNvSpPr/>
            <p:nvPr/>
          </p:nvSpPr>
          <p:spPr>
            <a:xfrm>
              <a:off x="1676399" y="3246786"/>
              <a:ext cx="2743200" cy="816864"/>
            </a:xfrm>
            <a:prstGeom prst="roundRect">
              <a:avLst>
                <a:gd fmla="val 16667" name="adj"/>
              </a:avLst>
            </a:prstGeom>
            <a:solidFill>
              <a:srgbClr val="7F63A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9"/>
            <p:cNvSpPr txBox="1"/>
            <p:nvPr/>
          </p:nvSpPr>
          <p:spPr>
            <a:xfrm>
              <a:off x="1716275" y="3286662"/>
              <a:ext cx="2663448" cy="737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Calibri"/>
                <a:buNone/>
              </a:pPr>
              <a:r>
                <a:rPr b="1" lang="en-US" sz="2400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object literal notation</a:t>
              </a:r>
              <a:endParaRPr b="1" sz="2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272" name="Google Shape;27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 txBox="1"/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Creating an Object</a:t>
            </a:r>
            <a:endParaRPr b="1" sz="3000">
              <a:solidFill>
                <a:srgbClr val="0070C0"/>
              </a:solidFill>
            </a:endParaRPr>
          </a:p>
        </p:txBody>
      </p:sp>
      <p:sp>
        <p:nvSpPr>
          <p:cNvPr id="279" name="Google Shape;27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80" name="Google Shape;280;p10"/>
          <p:cNvGrpSpPr/>
          <p:nvPr/>
        </p:nvGrpSpPr>
        <p:grpSpPr>
          <a:xfrm>
            <a:off x="2554594" y="1411594"/>
            <a:ext cx="4034810" cy="4034810"/>
            <a:chOff x="1030594" y="14594"/>
            <a:chExt cx="4034810" cy="4034810"/>
          </a:xfrm>
        </p:grpSpPr>
        <p:sp>
          <p:nvSpPr>
            <p:cNvPr id="281" name="Google Shape;281;p10"/>
            <p:cNvSpPr/>
            <p:nvPr/>
          </p:nvSpPr>
          <p:spPr>
            <a:xfrm>
              <a:off x="2488348" y="1472348"/>
              <a:ext cx="1119303" cy="111930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8CA8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 txBox="1"/>
            <p:nvPr/>
          </p:nvSpPr>
          <p:spPr>
            <a:xfrm>
              <a:off x="2652266" y="1636266"/>
              <a:ext cx="791467" cy="791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17775" spcFirstLastPara="1" rIns="17775" wrap="square" tIns="17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Book</a:t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0"/>
            <p:cNvSpPr/>
            <p:nvPr/>
          </p:nvSpPr>
          <p:spPr>
            <a:xfrm rot="-5400000">
              <a:off x="2878775" y="1286598"/>
              <a:ext cx="338449" cy="3305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7A94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0"/>
            <p:cNvSpPr txBox="1"/>
            <p:nvPr/>
          </p:nvSpPr>
          <p:spPr>
            <a:xfrm rot="-5400000">
              <a:off x="3039538" y="1294661"/>
              <a:ext cx="16922" cy="16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2488348" y="14594"/>
              <a:ext cx="1119303" cy="111930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8CA8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2652266" y="178512"/>
              <a:ext cx="791467" cy="791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ISBN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3607651" y="2015474"/>
              <a:ext cx="338449" cy="3305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7A94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0"/>
            <p:cNvSpPr txBox="1"/>
            <p:nvPr/>
          </p:nvSpPr>
          <p:spPr>
            <a:xfrm>
              <a:off x="3768415" y="2023538"/>
              <a:ext cx="16922" cy="16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0"/>
            <p:cNvSpPr/>
            <p:nvPr/>
          </p:nvSpPr>
          <p:spPr>
            <a:xfrm>
              <a:off x="3946101" y="1472348"/>
              <a:ext cx="1119303" cy="111930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8CA8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0"/>
            <p:cNvSpPr txBox="1"/>
            <p:nvPr/>
          </p:nvSpPr>
          <p:spPr>
            <a:xfrm>
              <a:off x="4110019" y="1636266"/>
              <a:ext cx="791467" cy="791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Title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0"/>
            <p:cNvSpPr/>
            <p:nvPr/>
          </p:nvSpPr>
          <p:spPr>
            <a:xfrm rot="5400000">
              <a:off x="2878775" y="2744351"/>
              <a:ext cx="338449" cy="3305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7A94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0"/>
            <p:cNvSpPr txBox="1"/>
            <p:nvPr/>
          </p:nvSpPr>
          <p:spPr>
            <a:xfrm rot="5400000">
              <a:off x="3039538" y="2752415"/>
              <a:ext cx="16922" cy="16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2488348" y="2930101"/>
              <a:ext cx="1119303" cy="111930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8CA8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0"/>
            <p:cNvSpPr txBox="1"/>
            <p:nvPr/>
          </p:nvSpPr>
          <p:spPr>
            <a:xfrm>
              <a:off x="2652266" y="3094019"/>
              <a:ext cx="791467" cy="791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Publisher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0"/>
            <p:cNvSpPr/>
            <p:nvPr/>
          </p:nvSpPr>
          <p:spPr>
            <a:xfrm rot="10800000">
              <a:off x="2149898" y="2015474"/>
              <a:ext cx="338449" cy="3305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7A94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0"/>
            <p:cNvSpPr txBox="1"/>
            <p:nvPr/>
          </p:nvSpPr>
          <p:spPr>
            <a:xfrm>
              <a:off x="2310661" y="2023538"/>
              <a:ext cx="16922" cy="16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1030594" y="1472348"/>
              <a:ext cx="1119303" cy="111930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8CA8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0"/>
            <p:cNvSpPr txBox="1"/>
            <p:nvPr/>
          </p:nvSpPr>
          <p:spPr>
            <a:xfrm>
              <a:off x="1194512" y="1636266"/>
              <a:ext cx="791467" cy="791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Author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300" name="Google Shape;30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/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Creating Object using </a:t>
            </a:r>
            <a:r>
              <a:rPr b="1" lang="en-US" sz="3000">
                <a:solidFill>
                  <a:srgbClr val="0070C0"/>
                </a:solidFill>
              </a:rPr>
              <a:t>Object Constructor</a:t>
            </a:r>
            <a:endParaRPr/>
          </a:p>
        </p:txBody>
      </p:sp>
      <p:sp>
        <p:nvSpPr>
          <p:cNvPr id="307" name="Google Shape;30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8" name="Google Shape;3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133475"/>
            <a:ext cx="7848600" cy="50387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9" name="Google Shape;309;p11"/>
          <p:cNvSpPr txBox="1"/>
          <p:nvPr/>
        </p:nvSpPr>
        <p:spPr>
          <a:xfrm>
            <a:off x="6172200" y="3516868"/>
            <a:ext cx="289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Assign properties and values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11"/>
          <p:cNvCxnSpPr/>
          <p:nvPr/>
        </p:nvCxnSpPr>
        <p:spPr>
          <a:xfrm rot="10800000">
            <a:off x="6019800" y="3429000"/>
            <a:ext cx="304800" cy="152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1" name="Google Shape;31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312" name="Google Shape;3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66800"/>
            <a:ext cx="8382000" cy="510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9" name="Google Shape;319;p12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Creating Object using Object </a:t>
            </a:r>
            <a:r>
              <a:rPr b="1" lang="en-US" sz="3000">
                <a:solidFill>
                  <a:srgbClr val="0070C0"/>
                </a:solidFill>
              </a:rPr>
              <a:t>Literal Notation</a:t>
            </a:r>
            <a:endParaRPr/>
          </a:p>
        </p:txBody>
      </p:sp>
      <p:sp>
        <p:nvSpPr>
          <p:cNvPr id="320" name="Google Shape;3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12"/>
          <p:cNvSpPr txBox="1"/>
          <p:nvPr/>
        </p:nvSpPr>
        <p:spPr>
          <a:xfrm>
            <a:off x="5943600" y="3669268"/>
            <a:ext cx="289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Assign properties and values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2"/>
          <p:cNvCxnSpPr/>
          <p:nvPr/>
        </p:nvCxnSpPr>
        <p:spPr>
          <a:xfrm rot="10800000">
            <a:off x="6705600" y="3495160"/>
            <a:ext cx="914400" cy="23864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23" name="Google Shape;3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324" name="Google Shape;3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 txBox="1"/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00FF"/>
                </a:solidFill>
              </a:rPr>
              <a:t>Constructor Functions</a:t>
            </a:r>
            <a:endParaRPr b="1" i="1" sz="3600">
              <a:solidFill>
                <a:srgbClr val="0000FF"/>
              </a:solidFill>
            </a:endParaRPr>
          </a:p>
        </p:txBody>
      </p:sp>
      <p:sp>
        <p:nvSpPr>
          <p:cNvPr id="330" name="Google Shape;3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" name="Google Shape;331;p13"/>
          <p:cNvSpPr txBox="1"/>
          <p:nvPr/>
        </p:nvSpPr>
        <p:spPr>
          <a:xfrm>
            <a:off x="381000" y="1336119"/>
            <a:ext cx="8458200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used to create a reusable code for an object.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create </a:t>
            </a:r>
            <a:r>
              <a:rPr b="1" i="1" lang="en-US" sz="260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object.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Can be used for different customer (credit customer, 	cash customer, etc) that having same property &amp; 	method names.</a:t>
            </a:r>
            <a:endParaRPr/>
          </a:p>
        </p:txBody>
      </p:sp>
      <p:sp>
        <p:nvSpPr>
          <p:cNvPr id="332" name="Google Shape;33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333" name="Google Shape;3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9" name="Google Shape;3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62000"/>
            <a:ext cx="8229600" cy="56245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0" name="Google Shape;340;p14"/>
          <p:cNvSpPr txBox="1"/>
          <p:nvPr/>
        </p:nvSpPr>
        <p:spPr>
          <a:xfrm>
            <a:off x="457200" y="-762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Constructor Functions</a:t>
            </a:r>
            <a:endParaRPr/>
          </a:p>
        </p:txBody>
      </p:sp>
      <p:sp>
        <p:nvSpPr>
          <p:cNvPr id="341" name="Google Shape;341;p14"/>
          <p:cNvSpPr txBox="1"/>
          <p:nvPr/>
        </p:nvSpPr>
        <p:spPr>
          <a:xfrm>
            <a:off x="5943600" y="3502223"/>
            <a:ext cx="289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Create new instance of object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14"/>
          <p:cNvCxnSpPr/>
          <p:nvPr/>
        </p:nvCxnSpPr>
        <p:spPr>
          <a:xfrm flipH="1">
            <a:off x="4572000" y="3657600"/>
            <a:ext cx="1600200" cy="76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3" name="Google Shape;343;p14"/>
          <p:cNvSpPr txBox="1"/>
          <p:nvPr/>
        </p:nvSpPr>
        <p:spPr>
          <a:xfrm>
            <a:off x="6096000" y="4264223"/>
            <a:ext cx="289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Create new instance of object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14"/>
          <p:cNvCxnSpPr/>
          <p:nvPr/>
        </p:nvCxnSpPr>
        <p:spPr>
          <a:xfrm flipH="1">
            <a:off x="4724400" y="4419600"/>
            <a:ext cx="1600200" cy="76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5" name="Google Shape;34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346" name="Google Shape;3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762000"/>
            <a:ext cx="8801100" cy="5562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2" name="Google Shape;352;p15"/>
          <p:cNvSpPr txBox="1"/>
          <p:nvPr>
            <p:ph type="title"/>
          </p:nvPr>
        </p:nvSpPr>
        <p:spPr>
          <a:xfrm>
            <a:off x="457200" y="-76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FF"/>
                </a:solidFill>
              </a:rPr>
              <a:t>Display the Object properties using for-in Loop</a:t>
            </a:r>
            <a:endParaRPr/>
          </a:p>
        </p:txBody>
      </p:sp>
      <p:sp>
        <p:nvSpPr>
          <p:cNvPr id="353" name="Google Shape;3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5"/>
          <p:cNvSpPr txBox="1"/>
          <p:nvPr/>
        </p:nvSpPr>
        <p:spPr>
          <a:xfrm>
            <a:off x="7086600" y="4768334"/>
            <a:ext cx="1828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Using for-in Loop</a:t>
            </a:r>
            <a:endParaRPr i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15"/>
          <p:cNvCxnSpPr/>
          <p:nvPr/>
        </p:nvCxnSpPr>
        <p:spPr>
          <a:xfrm flipH="1">
            <a:off x="5105400" y="4953000"/>
            <a:ext cx="1981200" cy="76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6" name="Google Shape;35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357" name="Google Shape;35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FF"/>
                </a:solidFill>
              </a:rPr>
              <a:t>Output for Object properties using for-in Loop</a:t>
            </a:r>
            <a:endParaRPr/>
          </a:p>
        </p:txBody>
      </p:sp>
      <p:sp>
        <p:nvSpPr>
          <p:cNvPr id="364" name="Google Shape;36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5" name="Google Shape;3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752600"/>
            <a:ext cx="6701712" cy="259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6" name="Google Shape;3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367" name="Google Shape;36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00FF"/>
                </a:solidFill>
              </a:rPr>
              <a:t>JavaScript Objects</a:t>
            </a:r>
            <a:endParaRPr b="1" i="1" sz="3600">
              <a:solidFill>
                <a:srgbClr val="0000FF"/>
              </a:solidFill>
            </a:endParaRPr>
          </a:p>
        </p:txBody>
      </p:sp>
      <p:sp>
        <p:nvSpPr>
          <p:cNvPr id="373" name="Google Shape;3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p17"/>
          <p:cNvSpPr txBox="1"/>
          <p:nvPr/>
        </p:nvSpPr>
        <p:spPr>
          <a:xfrm>
            <a:off x="4572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Everything we do in JavaScript – are based on an </a:t>
            </a:r>
            <a:r>
              <a:rPr b="1" i="1" lang="en-US" sz="2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objects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" name="Google Shape;375;p17"/>
          <p:cNvGrpSpPr/>
          <p:nvPr/>
        </p:nvGrpSpPr>
        <p:grpSpPr>
          <a:xfrm>
            <a:off x="2746712" y="1855120"/>
            <a:ext cx="3802975" cy="2715958"/>
            <a:chOff x="841712" y="920"/>
            <a:chExt cx="3802975" cy="2715958"/>
          </a:xfrm>
        </p:grpSpPr>
        <p:sp>
          <p:nvSpPr>
            <p:cNvPr id="376" name="Google Shape;376;p17"/>
            <p:cNvSpPr/>
            <p:nvPr/>
          </p:nvSpPr>
          <p:spPr>
            <a:xfrm>
              <a:off x="2652652" y="1035873"/>
              <a:ext cx="996017" cy="47401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1776"/>
                  </a:lnTo>
                  <a:lnTo>
                    <a:pt x="120000" y="81776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77" name="Google Shape;377;p17"/>
            <p:cNvSpPr/>
            <p:nvPr/>
          </p:nvSpPr>
          <p:spPr>
            <a:xfrm>
              <a:off x="1656635" y="1035873"/>
              <a:ext cx="996017" cy="474013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1776"/>
                  </a:lnTo>
                  <a:lnTo>
                    <a:pt x="0" y="81776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78" name="Google Shape;378;p17"/>
            <p:cNvSpPr/>
            <p:nvPr/>
          </p:nvSpPr>
          <p:spPr>
            <a:xfrm>
              <a:off x="1837729" y="920"/>
              <a:ext cx="1629846" cy="1034952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2018823" y="172960"/>
              <a:ext cx="1629846" cy="1034952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7"/>
            <p:cNvSpPr txBox="1"/>
            <p:nvPr/>
          </p:nvSpPr>
          <p:spPr>
            <a:xfrm>
              <a:off x="2049136" y="203273"/>
              <a:ext cx="1569220" cy="97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Object</a:t>
              </a: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841712" y="1509887"/>
              <a:ext cx="1629846" cy="1034952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1022806" y="1681926"/>
              <a:ext cx="1629846" cy="1034952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7"/>
            <p:cNvSpPr txBox="1"/>
            <p:nvPr/>
          </p:nvSpPr>
          <p:spPr>
            <a:xfrm>
              <a:off x="1053119" y="1712239"/>
              <a:ext cx="1569220" cy="97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Core Objects</a:t>
              </a:r>
              <a:endParaRPr/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2833747" y="1509887"/>
              <a:ext cx="1629846" cy="1034952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3014841" y="1681926"/>
              <a:ext cx="1629846" cy="1034952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7"/>
            <p:cNvSpPr txBox="1"/>
            <p:nvPr/>
          </p:nvSpPr>
          <p:spPr>
            <a:xfrm>
              <a:off x="3045154" y="1712239"/>
              <a:ext cx="1569220" cy="97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User-Defined Objects</a:t>
              </a:r>
              <a:endParaRPr/>
            </a:p>
          </p:txBody>
        </p:sp>
      </p:grpSp>
      <p:sp>
        <p:nvSpPr>
          <p:cNvPr id="387" name="Google Shape;38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388" name="Google Shape;38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133475"/>
            <a:ext cx="8615363" cy="4591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5" name="Google Shape;395;p18"/>
          <p:cNvSpPr txBox="1"/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Example of Creating  </a:t>
            </a:r>
            <a:r>
              <a:rPr b="1" lang="en-US" sz="3000" u="sng"/>
              <a:t>User-Defined Object</a:t>
            </a:r>
            <a:endParaRPr/>
          </a:p>
        </p:txBody>
      </p:sp>
      <p:sp>
        <p:nvSpPr>
          <p:cNvPr id="396" name="Google Shape;39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" name="Google Shape;397;p18"/>
          <p:cNvSpPr txBox="1"/>
          <p:nvPr/>
        </p:nvSpPr>
        <p:spPr>
          <a:xfrm>
            <a:off x="6629400" y="1896070"/>
            <a:ext cx="1828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Create an instance of object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18"/>
          <p:cNvCxnSpPr/>
          <p:nvPr/>
        </p:nvCxnSpPr>
        <p:spPr>
          <a:xfrm flipH="1">
            <a:off x="4038600" y="2362200"/>
            <a:ext cx="2743200" cy="228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99" name="Google Shape;39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400" name="Google Shape;40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"/>
          <p:cNvSpPr txBox="1"/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/>
              <a:t>Output Creating of User-Defined Object</a:t>
            </a:r>
            <a:endParaRPr/>
          </a:p>
        </p:txBody>
      </p:sp>
      <p:sp>
        <p:nvSpPr>
          <p:cNvPr id="407" name="Google Shape;40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8" name="Google Shape;4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828800"/>
            <a:ext cx="5505450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9" name="Google Shape;40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410" name="Google Shape;41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00FF"/>
                </a:solidFill>
              </a:rPr>
              <a:t>JavaScript Core Objects</a:t>
            </a:r>
            <a:endParaRPr/>
          </a:p>
        </p:txBody>
      </p:sp>
      <p:sp>
        <p:nvSpPr>
          <p:cNvPr id="416" name="Google Shape;41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  <p:sp>
        <p:nvSpPr>
          <p:cNvPr id="417" name="Google Shape;41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418" name="Google Shape;41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" name="Google Shape;419;p20"/>
          <p:cNvSpPr txBox="1"/>
          <p:nvPr/>
        </p:nvSpPr>
        <p:spPr>
          <a:xfrm>
            <a:off x="533400" y="2133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core objects:-</a:t>
            </a:r>
            <a:endParaRPr/>
          </a:p>
          <a:p>
            <a:pPr indent="0" lvl="0" marL="0" marR="0" rtl="0" algn="just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r>
              <a:rPr b="1" i="1" lang="en-US" sz="3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Date, String, Array, Math, Regular 	expressions</a:t>
            </a:r>
            <a:r>
              <a:rPr b="1" lang="en-US" sz="3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/>
          </a:p>
          <a:p>
            <a:pPr indent="0" lvl="0" marL="0" marR="0" rtl="0" algn="just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1"/>
          <p:cNvSpPr txBox="1"/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FF"/>
                </a:solidFill>
              </a:rPr>
              <a:t>Main Focus on JavaScript Core Objects</a:t>
            </a:r>
            <a:endParaRPr b="1" i="1" sz="3000">
              <a:solidFill>
                <a:srgbClr val="0000FF"/>
              </a:solidFill>
            </a:endParaRPr>
          </a:p>
        </p:txBody>
      </p:sp>
      <p:sp>
        <p:nvSpPr>
          <p:cNvPr id="425" name="Google Shape;42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6" name="Google Shape;426;p21"/>
          <p:cNvGrpSpPr/>
          <p:nvPr/>
        </p:nvGrpSpPr>
        <p:grpSpPr>
          <a:xfrm>
            <a:off x="2482296" y="1526548"/>
            <a:ext cx="4484207" cy="4058902"/>
            <a:chOff x="805896" y="2548"/>
            <a:chExt cx="4484207" cy="4058902"/>
          </a:xfrm>
        </p:grpSpPr>
        <p:sp>
          <p:nvSpPr>
            <p:cNvPr id="427" name="Google Shape;427;p21"/>
            <p:cNvSpPr/>
            <p:nvPr/>
          </p:nvSpPr>
          <p:spPr>
            <a:xfrm>
              <a:off x="2393156" y="1835358"/>
              <a:ext cx="1309687" cy="1309687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1"/>
            <p:cNvSpPr txBox="1"/>
            <p:nvPr/>
          </p:nvSpPr>
          <p:spPr>
            <a:xfrm>
              <a:off x="2584955" y="2027157"/>
              <a:ext cx="926089" cy="9260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JavaScript Cores Objects</a:t>
              </a:r>
              <a:endParaRPr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21"/>
            <p:cNvSpPr/>
            <p:nvPr/>
          </p:nvSpPr>
          <p:spPr>
            <a:xfrm rot="-5400000">
              <a:off x="2909372" y="1358997"/>
              <a:ext cx="277254" cy="445293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1"/>
            <p:cNvSpPr txBox="1"/>
            <p:nvPr/>
          </p:nvSpPr>
          <p:spPr>
            <a:xfrm rot="-5400000">
              <a:off x="2950960" y="1489644"/>
              <a:ext cx="194078" cy="26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2393156" y="2548"/>
              <a:ext cx="1309687" cy="1309687"/>
            </a:xfrm>
            <a:prstGeom prst="ellipse">
              <a:avLst/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1"/>
            <p:cNvSpPr txBox="1"/>
            <p:nvPr/>
          </p:nvSpPr>
          <p:spPr>
            <a:xfrm>
              <a:off x="2584955" y="194347"/>
              <a:ext cx="926089" cy="9260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Array</a:t>
              </a:r>
              <a:endParaRPr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21"/>
            <p:cNvSpPr/>
            <p:nvPr/>
          </p:nvSpPr>
          <p:spPr>
            <a:xfrm rot="1800000">
              <a:off x="3696206" y="2721834"/>
              <a:ext cx="277254" cy="445293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1"/>
            <p:cNvSpPr txBox="1"/>
            <p:nvPr/>
          </p:nvSpPr>
          <p:spPr>
            <a:xfrm rot="1800000">
              <a:off x="3701778" y="2790099"/>
              <a:ext cx="194078" cy="26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3980416" y="2751763"/>
              <a:ext cx="1309687" cy="1309687"/>
            </a:xfrm>
            <a:prstGeom prst="ellipse">
              <a:avLst/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1"/>
            <p:cNvSpPr txBox="1"/>
            <p:nvPr/>
          </p:nvSpPr>
          <p:spPr>
            <a:xfrm>
              <a:off x="4172215" y="2943562"/>
              <a:ext cx="926089" cy="9260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Math</a:t>
              </a:r>
              <a:endParaRPr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21"/>
            <p:cNvSpPr/>
            <p:nvPr/>
          </p:nvSpPr>
          <p:spPr>
            <a:xfrm rot="9000000">
              <a:off x="2122538" y="2721834"/>
              <a:ext cx="277254" cy="445293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1"/>
            <p:cNvSpPr txBox="1"/>
            <p:nvPr/>
          </p:nvSpPr>
          <p:spPr>
            <a:xfrm rot="-1800000">
              <a:off x="2200142" y="2790099"/>
              <a:ext cx="194078" cy="267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21"/>
            <p:cNvSpPr/>
            <p:nvPr/>
          </p:nvSpPr>
          <p:spPr>
            <a:xfrm>
              <a:off x="805896" y="2751763"/>
              <a:ext cx="1309687" cy="1309687"/>
            </a:xfrm>
            <a:prstGeom prst="ellipse">
              <a:avLst/>
            </a:prstGeom>
            <a:solidFill>
              <a:schemeClr val="accent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 txBox="1"/>
            <p:nvPr/>
          </p:nvSpPr>
          <p:spPr>
            <a:xfrm>
              <a:off x="997695" y="2943562"/>
              <a:ext cx="926089" cy="9260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75" lIns="21575" spcFirstLastPara="1" rIns="21575" wrap="square" tIns="21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Date</a:t>
              </a:r>
              <a:endParaRPr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442" name="Google Shape;44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00FF"/>
                </a:solidFill>
              </a:rPr>
              <a:t>Array Objects</a:t>
            </a:r>
            <a:endParaRPr b="1" i="1" sz="3600">
              <a:solidFill>
                <a:srgbClr val="0000FF"/>
              </a:solidFill>
            </a:endParaRPr>
          </a:p>
        </p:txBody>
      </p:sp>
      <p:sp>
        <p:nvSpPr>
          <p:cNvPr id="448" name="Google Shape;4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9" name="Google Shape;449;p22"/>
          <p:cNvSpPr txBox="1"/>
          <p:nvPr/>
        </p:nvSpPr>
        <p:spPr>
          <a:xfrm>
            <a:off x="457200" y="1219200"/>
            <a:ext cx="82296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i="1"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 collection of data/records/values store as an elements.</a:t>
            </a:r>
            <a:endParaRPr/>
          </a:p>
          <a:p>
            <a:pPr indent="-342900" lvl="0" marL="342900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array is accessed with an index value.</a:t>
            </a:r>
            <a:endParaRPr/>
          </a:p>
          <a:p>
            <a:pPr indent="-342900" lvl="0" marL="342900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Built-in object in JavaScripts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1447800" y="3505200"/>
            <a:ext cx="1524000" cy="381000"/>
          </a:xfrm>
          <a:prstGeom prst="rect">
            <a:avLst/>
          </a:prstGeom>
          <a:solidFill>
            <a:srgbClr val="FABF8E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“A”</a:t>
            </a:r>
            <a:endParaRPr/>
          </a:p>
        </p:txBody>
      </p:sp>
      <p:sp>
        <p:nvSpPr>
          <p:cNvPr id="451" name="Google Shape;451;p22"/>
          <p:cNvSpPr/>
          <p:nvPr/>
        </p:nvSpPr>
        <p:spPr>
          <a:xfrm>
            <a:off x="2971800" y="3505200"/>
            <a:ext cx="1524000" cy="381000"/>
          </a:xfrm>
          <a:prstGeom prst="rect">
            <a:avLst/>
          </a:prstGeom>
          <a:solidFill>
            <a:srgbClr val="FABF8E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“C”</a:t>
            </a:r>
            <a:endParaRPr/>
          </a:p>
        </p:txBody>
      </p:sp>
      <p:sp>
        <p:nvSpPr>
          <p:cNvPr id="452" name="Google Shape;452;p22"/>
          <p:cNvSpPr/>
          <p:nvPr/>
        </p:nvSpPr>
        <p:spPr>
          <a:xfrm>
            <a:off x="4495800" y="3505200"/>
            <a:ext cx="1524000" cy="381000"/>
          </a:xfrm>
          <a:prstGeom prst="rect">
            <a:avLst/>
          </a:prstGeom>
          <a:solidFill>
            <a:srgbClr val="FABF8E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“B-”</a:t>
            </a:r>
            <a:endParaRPr/>
          </a:p>
        </p:txBody>
      </p:sp>
      <p:sp>
        <p:nvSpPr>
          <p:cNvPr id="453" name="Google Shape;453;p22"/>
          <p:cNvSpPr/>
          <p:nvPr/>
        </p:nvSpPr>
        <p:spPr>
          <a:xfrm>
            <a:off x="6019800" y="3505200"/>
            <a:ext cx="1524000" cy="381000"/>
          </a:xfrm>
          <a:prstGeom prst="rect">
            <a:avLst/>
          </a:prstGeom>
          <a:solidFill>
            <a:srgbClr val="FABF8E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“C+”</a:t>
            </a:r>
            <a:endParaRPr/>
          </a:p>
        </p:txBody>
      </p:sp>
      <p:sp>
        <p:nvSpPr>
          <p:cNvPr id="454" name="Google Shape;454;p22"/>
          <p:cNvSpPr txBox="1"/>
          <p:nvPr/>
        </p:nvSpPr>
        <p:spPr>
          <a:xfrm>
            <a:off x="1676400" y="3962400"/>
            <a:ext cx="1143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grade[0]</a:t>
            </a:r>
            <a:endParaRPr/>
          </a:p>
        </p:txBody>
      </p:sp>
      <p:sp>
        <p:nvSpPr>
          <p:cNvPr id="455" name="Google Shape;455;p22"/>
          <p:cNvSpPr txBox="1"/>
          <p:nvPr/>
        </p:nvSpPr>
        <p:spPr>
          <a:xfrm>
            <a:off x="3200400" y="3962400"/>
            <a:ext cx="1143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grade[1]</a:t>
            </a:r>
            <a:endParaRPr/>
          </a:p>
        </p:txBody>
      </p:sp>
      <p:sp>
        <p:nvSpPr>
          <p:cNvPr id="456" name="Google Shape;456;p22"/>
          <p:cNvSpPr txBox="1"/>
          <p:nvPr/>
        </p:nvSpPr>
        <p:spPr>
          <a:xfrm>
            <a:off x="4648200" y="3962400"/>
            <a:ext cx="1143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grade[2]</a:t>
            </a:r>
            <a:endParaRPr/>
          </a:p>
        </p:txBody>
      </p:sp>
      <p:sp>
        <p:nvSpPr>
          <p:cNvPr id="457" name="Google Shape;457;p22"/>
          <p:cNvSpPr txBox="1"/>
          <p:nvPr/>
        </p:nvSpPr>
        <p:spPr>
          <a:xfrm>
            <a:off x="6248400" y="3962400"/>
            <a:ext cx="1143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grade[3]</a:t>
            </a:r>
            <a:endParaRPr/>
          </a:p>
        </p:txBody>
      </p:sp>
      <p:sp>
        <p:nvSpPr>
          <p:cNvPr id="458" name="Google Shape;458;p22"/>
          <p:cNvSpPr txBox="1"/>
          <p:nvPr/>
        </p:nvSpPr>
        <p:spPr>
          <a:xfrm>
            <a:off x="2133600" y="4583668"/>
            <a:ext cx="4419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numeric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object known as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59" name="Google Shape;459;p22"/>
          <p:cNvSpPr txBox="1"/>
          <p:nvPr/>
        </p:nvSpPr>
        <p:spPr>
          <a:xfrm>
            <a:off x="6781800" y="4858435"/>
            <a:ext cx="1143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/>
          </a:p>
        </p:txBody>
      </p:sp>
      <p:cxnSp>
        <p:nvCxnSpPr>
          <p:cNvPr id="460" name="Google Shape;460;p22"/>
          <p:cNvCxnSpPr>
            <a:stCxn id="459" idx="0"/>
          </p:cNvCxnSpPr>
          <p:nvPr/>
        </p:nvCxnSpPr>
        <p:spPr>
          <a:xfrm rot="10800000">
            <a:off x="7086600" y="4285435"/>
            <a:ext cx="266700" cy="573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61" name="Google Shape;46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462" name="Google Shape;4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3"/>
          <p:cNvSpPr txBox="1"/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Declaring and Populating Arrays</a:t>
            </a:r>
            <a:endParaRPr b="1" i="1" sz="3000"/>
          </a:p>
        </p:txBody>
      </p:sp>
      <p:sp>
        <p:nvSpPr>
          <p:cNvPr id="468" name="Google Shape;46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9" name="Google Shape;469;p23"/>
          <p:cNvSpPr txBox="1"/>
          <p:nvPr/>
        </p:nvSpPr>
        <p:spPr>
          <a:xfrm>
            <a:off x="381000" y="1066799"/>
            <a:ext cx="845820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  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</a:t>
            </a:r>
            <a:r>
              <a:rPr i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var array_name = </a:t>
            </a:r>
            <a:r>
              <a:rPr b="1" i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i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Array();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var grade = new Array();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grade[0] = “A”;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grade[1] = “C”;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grade[2] = “B-”;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grade[3] = “C+”;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00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defined the array size; eg.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i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var grade = new Array(10);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Alternative way to declare array?</a:t>
            </a:r>
            <a:endParaRPr/>
          </a:p>
        </p:txBody>
      </p:sp>
      <p:sp>
        <p:nvSpPr>
          <p:cNvPr id="470" name="Google Shape;4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471" name="Google Shape;4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62025"/>
            <a:ext cx="7467600" cy="53625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77" name="Google Shape;477;p24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Example an Array Object</a:t>
            </a:r>
            <a:endParaRPr b="1" i="1" sz="3000"/>
          </a:p>
        </p:txBody>
      </p:sp>
      <p:sp>
        <p:nvSpPr>
          <p:cNvPr id="478" name="Google Shape;47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9" name="Google Shape;479;p24"/>
          <p:cNvSpPr txBox="1"/>
          <p:nvPr/>
        </p:nvSpPr>
        <p:spPr>
          <a:xfrm>
            <a:off x="6019800" y="1600200"/>
            <a:ext cx="23622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Instantiate an Array object</a:t>
            </a:r>
            <a:endParaRPr/>
          </a:p>
        </p:txBody>
      </p:sp>
      <p:cxnSp>
        <p:nvCxnSpPr>
          <p:cNvPr id="480" name="Google Shape;480;p24"/>
          <p:cNvCxnSpPr/>
          <p:nvPr/>
        </p:nvCxnSpPr>
        <p:spPr>
          <a:xfrm flipH="1">
            <a:off x="4648200" y="1981200"/>
            <a:ext cx="2895600" cy="60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81" name="Google Shape;481;p24"/>
          <p:cNvCxnSpPr/>
          <p:nvPr/>
        </p:nvCxnSpPr>
        <p:spPr>
          <a:xfrm flipH="1">
            <a:off x="4495800" y="4495800"/>
            <a:ext cx="1447800" cy="533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82" name="Google Shape;482;p24"/>
          <p:cNvSpPr txBox="1"/>
          <p:nvPr/>
        </p:nvSpPr>
        <p:spPr>
          <a:xfrm>
            <a:off x="5410200" y="4114800"/>
            <a:ext cx="29718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 the values on array CSBook</a:t>
            </a:r>
            <a:endParaRPr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484" name="Google Shape;48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0" name="Google Shape;490;p25"/>
          <p:cNvSpPr txBox="1"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of an Array Object</a:t>
            </a:r>
            <a:endParaRPr b="1" i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447800"/>
            <a:ext cx="6096000" cy="37290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92" name="Google Shape;492;p25"/>
          <p:cNvSpPr txBox="1"/>
          <p:nvPr/>
        </p:nvSpPr>
        <p:spPr>
          <a:xfrm>
            <a:off x="609600" y="5638800"/>
            <a:ext cx="7391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 JavaScript Array object can be implemented using an </a:t>
            </a: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Associative Array.</a:t>
            </a:r>
            <a:endParaRPr/>
          </a:p>
        </p:txBody>
      </p:sp>
      <p:sp>
        <p:nvSpPr>
          <p:cNvPr id="493" name="Google Shape;49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494" name="Google Shape;49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  <p:sp>
        <p:nvSpPr>
          <p:cNvPr id="495" name="Google Shape;495;p25"/>
          <p:cNvSpPr/>
          <p:nvPr/>
        </p:nvSpPr>
        <p:spPr>
          <a:xfrm>
            <a:off x="7391400" y="4724400"/>
            <a:ext cx="1600200" cy="891708"/>
          </a:xfrm>
          <a:prstGeom prst="wedgeEllipseCallout">
            <a:avLst>
              <a:gd fmla="val -76037" name="adj1"/>
              <a:gd fmla="val 62500" name="adj2"/>
            </a:avLst>
          </a:prstGeom>
          <a:solidFill>
            <a:srgbClr val="C0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rPr>
              <a:t>Associate data with names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©2016-Faizah Aplop</a:t>
            </a:r>
            <a:endParaRPr/>
          </a:p>
        </p:txBody>
      </p:sp>
      <p:sp>
        <p:nvSpPr>
          <p:cNvPr id="501" name="Google Shape;50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502" name="Google Shape;50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3" name="Google Shape;503;p26"/>
          <p:cNvSpPr/>
          <p:nvPr/>
        </p:nvSpPr>
        <p:spPr>
          <a:xfrm>
            <a:off x="291353" y="990600"/>
            <a:ext cx="8534400" cy="2895600"/>
          </a:xfrm>
          <a:prstGeom prst="rect">
            <a:avLst/>
          </a:prstGeom>
          <a:solidFill>
            <a:schemeClr val="dk1">
              <a:alpha val="75686"/>
            </a:scheme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var customers = new object();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customers[“John Doe”] = “123 Main St., Metropolis, USA”;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customers[“Jane Cheung”] = “123 Fake St., Vancouver B.C, Canada”;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customers[“Marie-France Lessard”] = “145 Longueil QC, Canada”;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for (var client in customers)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	document.writeln(“The address of client “ + client + “ is:”);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	document.writeln(customers[client]);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	document.writeln(“&lt;br&gt;&lt;br&gt;”);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6"/>
          <p:cNvSpPr txBox="1"/>
          <p:nvPr/>
        </p:nvSpPr>
        <p:spPr>
          <a:xfrm>
            <a:off x="291353" y="4850249"/>
            <a:ext cx="84582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address of client John Doe is: 123 Main St., Metropolis, USA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address of client Jane Cheung is: 123 Fake St., Vancouver B.C, Canada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address of client Marie-France Lessard is: 145 Longueil QC, Canada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6"/>
          <p:cNvSpPr txBox="1"/>
          <p:nvPr/>
        </p:nvSpPr>
        <p:spPr>
          <a:xfrm>
            <a:off x="3276600" y="4139625"/>
            <a:ext cx="18288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Output?</a:t>
            </a:r>
            <a:endParaRPr/>
          </a:p>
        </p:txBody>
      </p:sp>
      <p:sp>
        <p:nvSpPr>
          <p:cNvPr id="506" name="Google Shape;506;p26"/>
          <p:cNvSpPr txBox="1"/>
          <p:nvPr/>
        </p:nvSpPr>
        <p:spPr>
          <a:xfrm>
            <a:off x="762000" y="0"/>
            <a:ext cx="83820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Associative Arrays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(Hashes)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7"/>
          <p:cNvSpPr txBox="1"/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Array Object Properties</a:t>
            </a:r>
            <a:endParaRPr b="1" i="1" sz="3000"/>
          </a:p>
        </p:txBody>
      </p:sp>
      <p:sp>
        <p:nvSpPr>
          <p:cNvPr id="512" name="Google Shape;51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3" name="Google Shape;513;p27"/>
          <p:cNvSpPr txBox="1"/>
          <p:nvPr/>
        </p:nvSpPr>
        <p:spPr>
          <a:xfrm>
            <a:off x="381000" y="1066800"/>
            <a:ext cx="84582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array Object has 3 properties;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constructor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prototype</a:t>
            </a:r>
            <a:endParaRPr/>
          </a:p>
        </p:txBody>
      </p:sp>
      <p:pic>
        <p:nvPicPr>
          <p:cNvPr id="514" name="Google Shape;5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181350"/>
            <a:ext cx="7229475" cy="2305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15" name="Google Shape;515;p27"/>
          <p:cNvSpPr txBox="1"/>
          <p:nvPr/>
        </p:nvSpPr>
        <p:spPr>
          <a:xfrm>
            <a:off x="762000" y="5486400"/>
            <a:ext cx="7086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Source: Quigley, E. (2012) – JavaScript by Example. Second Edition.</a:t>
            </a:r>
            <a:endParaRPr/>
          </a:p>
        </p:txBody>
      </p:sp>
      <p:sp>
        <p:nvSpPr>
          <p:cNvPr id="516" name="Google Shape;51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517" name="Google Shape;51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762000"/>
            <a:ext cx="7372350" cy="560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24" name="Google Shape;524;p28"/>
          <p:cNvSpPr txBox="1"/>
          <p:nvPr>
            <p:ph type="title"/>
          </p:nvPr>
        </p:nvSpPr>
        <p:spPr>
          <a:xfrm>
            <a:off x="457200" y="-76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Example of Array Object Properties</a:t>
            </a:r>
            <a:endParaRPr/>
          </a:p>
        </p:txBody>
      </p:sp>
      <p:sp>
        <p:nvSpPr>
          <p:cNvPr id="525" name="Google Shape;525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26" name="Google Shape;526;p28"/>
          <p:cNvCxnSpPr/>
          <p:nvPr/>
        </p:nvCxnSpPr>
        <p:spPr>
          <a:xfrm flipH="1">
            <a:off x="6096000" y="3429000"/>
            <a:ext cx="838200" cy="990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27" name="Google Shape;527;p28"/>
          <p:cNvSpPr txBox="1"/>
          <p:nvPr/>
        </p:nvSpPr>
        <p:spPr>
          <a:xfrm>
            <a:off x="5867400" y="2858869"/>
            <a:ext cx="2133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Array Object Properties</a:t>
            </a:r>
            <a:endParaRPr/>
          </a:p>
        </p:txBody>
      </p:sp>
      <p:sp>
        <p:nvSpPr>
          <p:cNvPr id="528" name="Google Shape;52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529" name="Google Shape;529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5" name="Google Shape;535;p29"/>
          <p:cNvSpPr txBox="1"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of an Array Object Properties</a:t>
            </a:r>
            <a:endParaRPr b="1" i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6" name="Google Shape;5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676400"/>
            <a:ext cx="5791200" cy="3733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37" name="Google Shape;53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538" name="Google Shape;53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0"/>
          <p:cNvSpPr txBox="1"/>
          <p:nvPr>
            <p:ph type="title"/>
          </p:nvPr>
        </p:nvSpPr>
        <p:spPr>
          <a:xfrm>
            <a:off x="457200" y="76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Two-Dimensional Array</a:t>
            </a:r>
            <a:endParaRPr b="1" i="1" sz="3000"/>
          </a:p>
        </p:txBody>
      </p:sp>
      <p:sp>
        <p:nvSpPr>
          <p:cNvPr id="544" name="Google Shape;54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5" name="Google Shape;545;p30"/>
          <p:cNvSpPr txBox="1"/>
          <p:nvPr/>
        </p:nvSpPr>
        <p:spPr>
          <a:xfrm>
            <a:off x="457200" y="1562993"/>
            <a:ext cx="8153400" cy="3847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Declaration: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Array constructor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var  marking = new Array( new Array(50, 68, 65),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new Array(78, 65, 70),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new Array(88, 52, 62),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);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literal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var  marking = [ [50, 68, 65],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[78, 65, 70],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[88, 52, 62],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];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6" name="Google Shape;54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547" name="Google Shape;54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1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Example of Two-Dimensional Array</a:t>
            </a:r>
            <a:endParaRPr/>
          </a:p>
        </p:txBody>
      </p:sp>
      <p:sp>
        <p:nvSpPr>
          <p:cNvPr id="553" name="Google Shape;5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4" name="Google Shape;55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838200"/>
            <a:ext cx="7543800" cy="54673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55" name="Google Shape;55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556" name="Google Shape;556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Output for</a:t>
            </a:r>
            <a:r>
              <a:rPr b="1" i="1" lang="en-US" sz="3000"/>
              <a:t> </a:t>
            </a:r>
            <a:r>
              <a:rPr b="1" lang="en-US" sz="3000"/>
              <a:t>Two-Dimensional Array</a:t>
            </a:r>
            <a:endParaRPr b="1" i="1" sz="3000"/>
          </a:p>
        </p:txBody>
      </p:sp>
      <p:sp>
        <p:nvSpPr>
          <p:cNvPr id="562" name="Google Shape;56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3" name="Google Shape;5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833563"/>
            <a:ext cx="6019799" cy="34242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64" name="Google Shape;564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565" name="Google Shape;5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3"/>
          <p:cNvSpPr txBox="1"/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Array Methods</a:t>
            </a:r>
            <a:endParaRPr b="1" i="1" sz="3000"/>
          </a:p>
        </p:txBody>
      </p:sp>
      <p:sp>
        <p:nvSpPr>
          <p:cNvPr id="571" name="Google Shape;571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2" name="Google Shape;572;p33"/>
          <p:cNvSpPr txBox="1"/>
          <p:nvPr/>
        </p:nvSpPr>
        <p:spPr>
          <a:xfrm>
            <a:off x="1143000" y="6019800"/>
            <a:ext cx="7086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Source: Quigley, E. (2012) – JavaScript by Example. Second Edition.</a:t>
            </a:r>
            <a:endParaRPr/>
          </a:p>
        </p:txBody>
      </p:sp>
      <p:pic>
        <p:nvPicPr>
          <p:cNvPr id="573" name="Google Shape;57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575" y="990600"/>
            <a:ext cx="6829425" cy="503574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74" name="Google Shape;574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575" name="Google Shape;57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©2016-Faizah Aplop</a:t>
            </a:r>
            <a:endParaRPr/>
          </a:p>
        </p:txBody>
      </p:sp>
      <p:sp>
        <p:nvSpPr>
          <p:cNvPr id="581" name="Google Shape;581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582" name="Google Shape;58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3" name="Google Shape;583;p34"/>
          <p:cNvPicPr preferRelativeResize="0"/>
          <p:nvPr/>
        </p:nvPicPr>
        <p:blipFill rotWithShape="1">
          <a:blip r:embed="rId3">
            <a:alphaModFix/>
          </a:blip>
          <a:srcRect b="0" l="12350" r="20049" t="4044"/>
          <a:stretch/>
        </p:blipFill>
        <p:spPr>
          <a:xfrm>
            <a:off x="609600" y="152400"/>
            <a:ext cx="8001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990600"/>
            <a:ext cx="7124700" cy="441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89" name="Google Shape;589;p35"/>
          <p:cNvSpPr txBox="1"/>
          <p:nvPr>
            <p:ph type="title"/>
          </p:nvPr>
        </p:nvSpPr>
        <p:spPr>
          <a:xfrm>
            <a:off x="457200" y="76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FF"/>
                </a:solidFill>
              </a:rPr>
              <a:t>Example Using </a:t>
            </a:r>
            <a:r>
              <a:rPr b="1" i="1" lang="en-US" sz="3000">
                <a:solidFill>
                  <a:srgbClr val="0000FF"/>
                </a:solidFill>
              </a:rPr>
              <a:t>concat() </a:t>
            </a:r>
            <a:r>
              <a:rPr b="1" lang="en-US" sz="3000">
                <a:solidFill>
                  <a:srgbClr val="0000FF"/>
                </a:solidFill>
              </a:rPr>
              <a:t>Method</a:t>
            </a:r>
            <a:endParaRPr b="1" i="1" sz="3000">
              <a:solidFill>
                <a:srgbClr val="0000FF"/>
              </a:solidFill>
            </a:endParaRPr>
          </a:p>
        </p:txBody>
      </p:sp>
      <p:sp>
        <p:nvSpPr>
          <p:cNvPr id="590" name="Google Shape;59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91" name="Google Shape;59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1125" y="4905375"/>
            <a:ext cx="3571875" cy="1419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92" name="Google Shape;59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593" name="Google Shape;593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6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FF"/>
                </a:solidFill>
              </a:rPr>
              <a:t>Example Using </a:t>
            </a:r>
            <a:r>
              <a:rPr b="1" i="1" lang="en-US" sz="3000">
                <a:solidFill>
                  <a:srgbClr val="0000FF"/>
                </a:solidFill>
              </a:rPr>
              <a:t>pop() </a:t>
            </a:r>
            <a:r>
              <a:rPr b="1" lang="en-US" sz="3000">
                <a:solidFill>
                  <a:srgbClr val="0000FF"/>
                </a:solidFill>
              </a:rPr>
              <a:t>Method</a:t>
            </a:r>
            <a:endParaRPr b="1" i="1" sz="3000">
              <a:solidFill>
                <a:srgbClr val="0000FF"/>
              </a:solidFill>
            </a:endParaRPr>
          </a:p>
        </p:txBody>
      </p:sp>
      <p:sp>
        <p:nvSpPr>
          <p:cNvPr id="599" name="Google Shape;59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0" name="Google Shape;6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75" y="914400"/>
            <a:ext cx="7096125" cy="3962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601" name="Google Shape;60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384" y="4495800"/>
            <a:ext cx="3419475" cy="18859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602" name="Google Shape;60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603" name="Google Shape;603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7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FF"/>
                </a:solidFill>
              </a:rPr>
              <a:t>Example Using </a:t>
            </a:r>
            <a:r>
              <a:rPr b="1" i="1" lang="en-US" sz="3000">
                <a:solidFill>
                  <a:srgbClr val="0000FF"/>
                </a:solidFill>
              </a:rPr>
              <a:t>slice() </a:t>
            </a:r>
            <a:r>
              <a:rPr b="1" lang="en-US" sz="3000">
                <a:solidFill>
                  <a:srgbClr val="0000FF"/>
                </a:solidFill>
              </a:rPr>
              <a:t>Method</a:t>
            </a:r>
            <a:endParaRPr b="1" i="1" sz="3000">
              <a:solidFill>
                <a:srgbClr val="0000FF"/>
              </a:solidFill>
            </a:endParaRPr>
          </a:p>
        </p:txBody>
      </p:sp>
      <p:sp>
        <p:nvSpPr>
          <p:cNvPr id="609" name="Google Shape;609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0" name="Google Shape;6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1" y="838200"/>
            <a:ext cx="7543800" cy="3962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611" name="Google Shape;61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4267200"/>
            <a:ext cx="4057650" cy="205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612" name="Google Shape;61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613" name="Google Shape;613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  <p:sp>
        <p:nvSpPr>
          <p:cNvPr id="619" name="Google Shape;61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620" name="Google Shape;62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1" name="Google Shape;621;p38"/>
          <p:cNvSpPr/>
          <p:nvPr/>
        </p:nvSpPr>
        <p:spPr>
          <a:xfrm>
            <a:off x="1129553" y="1447800"/>
            <a:ext cx="71628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JavaScript,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 </a:t>
            </a: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numbered indexes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JavaScript,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 </a:t>
            </a: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named indexes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8"/>
          <p:cNvSpPr/>
          <p:nvPr/>
        </p:nvSpPr>
        <p:spPr>
          <a:xfrm>
            <a:off x="914400" y="3581400"/>
            <a:ext cx="4238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When to Use Arrays. When to use Objects.</a:t>
            </a:r>
            <a:endParaRPr/>
          </a:p>
        </p:txBody>
      </p:sp>
      <p:sp>
        <p:nvSpPr>
          <p:cNvPr id="623" name="Google Shape;623;p38"/>
          <p:cNvSpPr/>
          <p:nvPr/>
        </p:nvSpPr>
        <p:spPr>
          <a:xfrm>
            <a:off x="914400" y="4114800"/>
            <a:ext cx="7696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should use </a:t>
            </a:r>
            <a:r>
              <a:rPr b="1" i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objects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when you want the element names to be </a:t>
            </a:r>
            <a:r>
              <a:rPr b="1" i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strings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(text).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should use </a:t>
            </a:r>
            <a:r>
              <a:rPr b="1" i="1"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when you want the element names to be </a:t>
            </a:r>
            <a:r>
              <a:rPr b="1" i="1"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numbers</a:t>
            </a:r>
            <a:r>
              <a:rPr b="1" i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624" name="Google Shape;624;p38"/>
          <p:cNvSpPr/>
          <p:nvPr/>
        </p:nvSpPr>
        <p:spPr>
          <a:xfrm>
            <a:off x="914400" y="762000"/>
            <a:ext cx="48047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The Difference Between Arrays and Objects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9"/>
          <p:cNvSpPr txBox="1"/>
          <p:nvPr>
            <p:ph type="title"/>
          </p:nvPr>
        </p:nvSpPr>
        <p:spPr>
          <a:xfrm>
            <a:off x="457200" y="76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Calibri"/>
              <a:buNone/>
            </a:pPr>
            <a:r>
              <a:rPr b="1" i="1" lang="en-US" sz="3000">
                <a:solidFill>
                  <a:srgbClr val="0000FF"/>
                </a:solidFill>
              </a:rPr>
              <a:t>Date</a:t>
            </a:r>
            <a:r>
              <a:rPr b="1" lang="en-US" sz="3000">
                <a:solidFill>
                  <a:srgbClr val="0000FF"/>
                </a:solidFill>
              </a:rPr>
              <a:t> Object</a:t>
            </a:r>
            <a:endParaRPr b="1" i="1" sz="3000">
              <a:solidFill>
                <a:srgbClr val="0000FF"/>
              </a:solidFill>
            </a:endParaRPr>
          </a:p>
        </p:txBody>
      </p:sp>
      <p:sp>
        <p:nvSpPr>
          <p:cNvPr id="630" name="Google Shape;63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1" name="Google Shape;631;p39"/>
          <p:cNvSpPr txBox="1"/>
          <p:nvPr/>
        </p:nvSpPr>
        <p:spPr>
          <a:xfrm>
            <a:off x="457200" y="990600"/>
            <a:ext cx="8229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several method to get and set specific information related to date and time.</a:t>
            </a:r>
            <a:endParaRPr/>
          </a:p>
          <a:p>
            <a:pPr indent="-342900" lvl="0" marL="342900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&amp; times return from Date’s object – based on local pc. </a:t>
            </a:r>
            <a:endParaRPr/>
          </a:p>
          <a:p>
            <a:pPr indent="0" lvl="1" marL="457200" marR="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9"/>
          <p:cNvSpPr txBox="1"/>
          <p:nvPr/>
        </p:nvSpPr>
        <p:spPr>
          <a:xfrm>
            <a:off x="457200" y="2362200"/>
            <a:ext cx="815340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Instantiate Date’s objects: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sng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Format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Date(</a:t>
            </a:r>
            <a:r>
              <a:rPr b="1" i="1" lang="en-US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“Month dd, yyyy hh:mm:ss”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Date(</a:t>
            </a:r>
            <a:r>
              <a:rPr b="1" i="1" lang="en-US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“Month dd, yyyy”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Date(yy, mm, dd, hh,mm,ss);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Date(yy, mm, dd);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E.g.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-US" sz="1600" u="none" cap="none" strike="noStrike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myDate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= new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i="1" lang="en-US" sz="1600" u="none" cap="none" strike="noStrike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myDate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= new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Date(</a:t>
            </a:r>
            <a:r>
              <a:rPr b="1" i="1" lang="en-US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“March 25, 2014 09:45:15”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i="1" lang="en-US" sz="1600" u="none" cap="none" strike="noStrike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myDate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= new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Date(“</a:t>
            </a:r>
            <a:r>
              <a:rPr b="1" i="1" lang="en-US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March 25, 2014”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i="1" lang="en-US" sz="1600" u="none" cap="none" strike="noStrike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myDate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= new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Date(14, 03, 25, 9,45,15);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i="1" lang="en-US" sz="1600" u="none" cap="none" strike="noStrike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myDate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= new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Date(14, 03, 25);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i="1" lang="en-US" sz="1600" u="none" cap="none" strike="noStrike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myDate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= new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Date(1000);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 var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myDate</a:t>
            </a:r>
            <a:r>
              <a:rPr b="1" i="1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= new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Date(milliseconds);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3" name="Google Shape;633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634" name="Google Shape;634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0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i="1" lang="en-US" sz="3000"/>
              <a:t>Date</a:t>
            </a:r>
            <a:r>
              <a:rPr b="1" lang="en-US" sz="3000"/>
              <a:t> Object Methods</a:t>
            </a:r>
            <a:endParaRPr b="1" i="1" sz="3000"/>
          </a:p>
        </p:txBody>
      </p:sp>
      <p:sp>
        <p:nvSpPr>
          <p:cNvPr id="640" name="Google Shape;640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1" name="Google Shape;64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371600"/>
            <a:ext cx="7343775" cy="426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642" name="Google Shape;642;p40"/>
          <p:cNvSpPr txBox="1"/>
          <p:nvPr/>
        </p:nvSpPr>
        <p:spPr>
          <a:xfrm>
            <a:off x="914400" y="5635823"/>
            <a:ext cx="7086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Source: Quigley, E. (2012) – JavaScript by Example. Second Edition.</a:t>
            </a:r>
            <a:endParaRPr/>
          </a:p>
        </p:txBody>
      </p:sp>
      <p:sp>
        <p:nvSpPr>
          <p:cNvPr id="643" name="Google Shape;643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644" name="Google Shape;64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1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i="1" lang="en-US" sz="3000"/>
              <a:t>Date</a:t>
            </a:r>
            <a:r>
              <a:rPr b="1" lang="en-US" sz="3000"/>
              <a:t> Object Methods</a:t>
            </a:r>
            <a:endParaRPr b="1" i="1" sz="3000"/>
          </a:p>
        </p:txBody>
      </p:sp>
      <p:sp>
        <p:nvSpPr>
          <p:cNvPr id="650" name="Google Shape;65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1" name="Google Shape;65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600200"/>
            <a:ext cx="6781800" cy="365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652" name="Google Shape;652;p41"/>
          <p:cNvSpPr txBox="1"/>
          <p:nvPr/>
        </p:nvSpPr>
        <p:spPr>
          <a:xfrm>
            <a:off x="1219200" y="5257800"/>
            <a:ext cx="7086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Source: Quigley, E. (2012) – JavaScript by Example. Second Edition.</a:t>
            </a:r>
            <a:endParaRPr/>
          </a:p>
        </p:txBody>
      </p:sp>
      <p:sp>
        <p:nvSpPr>
          <p:cNvPr id="653" name="Google Shape;653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654" name="Google Shape;654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2"/>
          <p:cNvSpPr txBox="1"/>
          <p:nvPr>
            <p:ph type="title"/>
          </p:nvPr>
        </p:nvSpPr>
        <p:spPr>
          <a:xfrm>
            <a:off x="457200" y="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Example 1 – Using Date Object</a:t>
            </a:r>
            <a:endParaRPr b="1" i="1" sz="3000"/>
          </a:p>
        </p:txBody>
      </p:sp>
      <p:sp>
        <p:nvSpPr>
          <p:cNvPr id="660" name="Google Shape;66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1" name="Google Shape;66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38200"/>
            <a:ext cx="7848600" cy="44053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662" name="Google Shape;66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1250" y="4572000"/>
            <a:ext cx="6076950" cy="1809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cxnSp>
        <p:nvCxnSpPr>
          <p:cNvPr id="663" name="Google Shape;663;p42"/>
          <p:cNvCxnSpPr/>
          <p:nvPr/>
        </p:nvCxnSpPr>
        <p:spPr>
          <a:xfrm flipH="1">
            <a:off x="4419600" y="3124200"/>
            <a:ext cx="1447800" cy="533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64" name="Google Shape;664;p42"/>
          <p:cNvSpPr txBox="1"/>
          <p:nvPr/>
        </p:nvSpPr>
        <p:spPr>
          <a:xfrm>
            <a:off x="5029200" y="2743200"/>
            <a:ext cx="29718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Methods for </a:t>
            </a:r>
            <a:r>
              <a:rPr i="1"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r>
              <a:rPr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object</a:t>
            </a:r>
            <a:endParaRPr/>
          </a:p>
        </p:txBody>
      </p:sp>
      <p:sp>
        <p:nvSpPr>
          <p:cNvPr id="665" name="Google Shape;665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666" name="Google Shape;666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3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Example 2 – Manipulating Date Object</a:t>
            </a:r>
            <a:endParaRPr b="1" i="1" sz="3000"/>
          </a:p>
        </p:txBody>
      </p:sp>
      <p:sp>
        <p:nvSpPr>
          <p:cNvPr id="672" name="Google Shape;672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3" name="Google Shape;67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62000"/>
            <a:ext cx="8839200" cy="4343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674" name="Google Shape;67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5100" y="4581525"/>
            <a:ext cx="3733800" cy="18192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675" name="Google Shape;675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676" name="Google Shape;67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4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FF"/>
                </a:solidFill>
              </a:rPr>
              <a:t>Maths Object</a:t>
            </a:r>
            <a:endParaRPr b="1" i="1" sz="3000">
              <a:solidFill>
                <a:srgbClr val="0000FF"/>
              </a:solidFill>
            </a:endParaRPr>
          </a:p>
        </p:txBody>
      </p:sp>
      <p:sp>
        <p:nvSpPr>
          <p:cNvPr id="682" name="Google Shape;682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3" name="Google Shape;683;p44"/>
          <p:cNvSpPr txBox="1"/>
          <p:nvPr/>
        </p:nvSpPr>
        <p:spPr>
          <a:xfrm>
            <a:off x="381000" y="840938"/>
            <a:ext cx="8458200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developer to work with more advanced arithmetic calculations; square root, trigonometric functions, logarithms, and random numbers.</a:t>
            </a:r>
            <a:endParaRPr/>
          </a:p>
        </p:txBody>
      </p:sp>
      <p:pic>
        <p:nvPicPr>
          <p:cNvPr id="684" name="Google Shape;68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12" y="2133600"/>
            <a:ext cx="8281988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114800"/>
            <a:ext cx="8272463" cy="193675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44"/>
          <p:cNvSpPr txBox="1"/>
          <p:nvPr/>
        </p:nvSpPr>
        <p:spPr>
          <a:xfrm>
            <a:off x="609600" y="6093023"/>
            <a:ext cx="7086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Source: Quigley, E. (2012) – JavaScript by Example. Second Edition.</a:t>
            </a:r>
            <a:endParaRPr/>
          </a:p>
        </p:txBody>
      </p:sp>
      <p:sp>
        <p:nvSpPr>
          <p:cNvPr id="687" name="Google Shape;687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688" name="Google Shape;688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5"/>
          <p:cNvSpPr txBox="1"/>
          <p:nvPr>
            <p:ph type="title"/>
          </p:nvPr>
        </p:nvSpPr>
        <p:spPr>
          <a:xfrm>
            <a:off x="457200" y="76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Math Methods</a:t>
            </a:r>
            <a:endParaRPr b="1" i="1" sz="3000"/>
          </a:p>
        </p:txBody>
      </p:sp>
      <p:sp>
        <p:nvSpPr>
          <p:cNvPr id="695" name="Google Shape;695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6" name="Google Shape;696;p45"/>
          <p:cNvSpPr txBox="1"/>
          <p:nvPr/>
        </p:nvSpPr>
        <p:spPr>
          <a:xfrm>
            <a:off x="1676400" y="6019800"/>
            <a:ext cx="7086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Source: Quigley, E. (2012) – JavaScript by Example. Second Edition.</a:t>
            </a:r>
            <a:endParaRPr/>
          </a:p>
        </p:txBody>
      </p:sp>
      <p:pic>
        <p:nvPicPr>
          <p:cNvPr id="697" name="Google Shape;69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5437" y="928786"/>
            <a:ext cx="6181725" cy="507662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8" name="Google Shape;698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699" name="Google Shape;699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285875"/>
            <a:ext cx="8515350" cy="4048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6" name="Google Shape;706;p46"/>
          <p:cNvSpPr txBox="1"/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Example the use of Math Object</a:t>
            </a:r>
            <a:endParaRPr/>
          </a:p>
        </p:txBody>
      </p:sp>
      <p:sp>
        <p:nvSpPr>
          <p:cNvPr id="707" name="Google Shape;70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8" name="Google Shape;708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709" name="Google Shape;709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7"/>
          <p:cNvSpPr txBox="1"/>
          <p:nvPr>
            <p:ph type="title"/>
          </p:nvPr>
        </p:nvSpPr>
        <p:spPr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/>
              <a:t>Output the use of Math Object</a:t>
            </a:r>
            <a:endParaRPr/>
          </a:p>
        </p:txBody>
      </p:sp>
      <p:sp>
        <p:nvSpPr>
          <p:cNvPr id="716" name="Google Shape;716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7" name="Google Shape;717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pic>
        <p:nvPicPr>
          <p:cNvPr id="718" name="Google Shape;71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94647"/>
            <a:ext cx="8001000" cy="3124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9" name="Google Shape;719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962025"/>
            <a:ext cx="7324725" cy="28479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5" name="Google Shape;725;p48"/>
          <p:cNvSpPr txBox="1"/>
          <p:nvPr>
            <p:ph type="title"/>
          </p:nvPr>
        </p:nvSpPr>
        <p:spPr>
          <a:xfrm>
            <a:off x="457200" y="76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FF"/>
                </a:solidFill>
              </a:rPr>
              <a:t>Redirect the user with a Link</a:t>
            </a:r>
            <a:endParaRPr b="1" i="1" sz="3000">
              <a:solidFill>
                <a:srgbClr val="0000FF"/>
              </a:solidFill>
            </a:endParaRPr>
          </a:p>
        </p:txBody>
      </p:sp>
      <p:sp>
        <p:nvSpPr>
          <p:cNvPr id="726" name="Google Shape;726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27" name="Google Shape;727;p48"/>
          <p:cNvGrpSpPr/>
          <p:nvPr/>
        </p:nvGrpSpPr>
        <p:grpSpPr>
          <a:xfrm>
            <a:off x="-76200" y="4762500"/>
            <a:ext cx="5743575" cy="1866900"/>
            <a:chOff x="-76200" y="4762500"/>
            <a:chExt cx="5743575" cy="1866900"/>
          </a:xfrm>
        </p:grpSpPr>
        <p:pic>
          <p:nvPicPr>
            <p:cNvPr id="728" name="Google Shape;728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400" y="4762500"/>
              <a:ext cx="5133975" cy="18669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pic>
        <p:sp>
          <p:nvSpPr>
            <p:cNvPr id="729" name="Google Shape;729;p48"/>
            <p:cNvSpPr txBox="1"/>
            <p:nvPr/>
          </p:nvSpPr>
          <p:spPr>
            <a:xfrm>
              <a:off x="-76200" y="5481935"/>
              <a:ext cx="762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730" name="Google Shape;730;p48"/>
          <p:cNvGrpSpPr/>
          <p:nvPr/>
        </p:nvGrpSpPr>
        <p:grpSpPr>
          <a:xfrm>
            <a:off x="4000500" y="3200400"/>
            <a:ext cx="5067300" cy="2895600"/>
            <a:chOff x="4000500" y="3200400"/>
            <a:chExt cx="5067300" cy="2895600"/>
          </a:xfrm>
        </p:grpSpPr>
        <p:pic>
          <p:nvPicPr>
            <p:cNvPr id="731" name="Google Shape;731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29200" y="3505200"/>
              <a:ext cx="4038600" cy="25908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pic>
        <p:cxnSp>
          <p:nvCxnSpPr>
            <p:cNvPr id="732" name="Google Shape;732;p48"/>
            <p:cNvCxnSpPr/>
            <p:nvPr/>
          </p:nvCxnSpPr>
          <p:spPr>
            <a:xfrm rot="10800000">
              <a:off x="4000500" y="3200400"/>
              <a:ext cx="876300" cy="762000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733" name="Google Shape;733;p48"/>
            <p:cNvSpPr txBox="1"/>
            <p:nvPr/>
          </p:nvSpPr>
          <p:spPr>
            <a:xfrm>
              <a:off x="4419600" y="3352800"/>
              <a:ext cx="762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734" name="Google Shape;734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735" name="Google Shape;735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" y="2038350"/>
            <a:ext cx="7067550" cy="39052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1" name="Google Shape;741;p49"/>
          <p:cNvSpPr txBox="1"/>
          <p:nvPr>
            <p:ph type="title"/>
          </p:nvPr>
        </p:nvSpPr>
        <p:spPr>
          <a:xfrm>
            <a:off x="457200" y="76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000"/>
              <a:t>Redirect the user by include the redirection inside JavaScript</a:t>
            </a:r>
            <a:endParaRPr b="1" i="1" sz="3000"/>
          </a:p>
        </p:txBody>
      </p:sp>
      <p:sp>
        <p:nvSpPr>
          <p:cNvPr id="742" name="Google Shape;742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3" name="Google Shape;743;p49"/>
          <p:cNvSpPr txBox="1"/>
          <p:nvPr/>
        </p:nvSpPr>
        <p:spPr>
          <a:xfrm>
            <a:off x="304800" y="1066800"/>
            <a:ext cx="8458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 – Create external JavaScript files –&gt; </a:t>
            </a:r>
            <a:r>
              <a:rPr i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myScript1.js</a:t>
            </a:r>
            <a:endParaRPr/>
          </a:p>
        </p:txBody>
      </p:sp>
      <p:cxnSp>
        <p:nvCxnSpPr>
          <p:cNvPr id="744" name="Google Shape;744;p49"/>
          <p:cNvCxnSpPr/>
          <p:nvPr/>
        </p:nvCxnSpPr>
        <p:spPr>
          <a:xfrm>
            <a:off x="1905000" y="4038600"/>
            <a:ext cx="3276600" cy="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5" name="Google Shape;745;p49"/>
          <p:cNvCxnSpPr/>
          <p:nvPr/>
        </p:nvCxnSpPr>
        <p:spPr>
          <a:xfrm rot="10800000">
            <a:off x="5257800" y="4091558"/>
            <a:ext cx="1143000" cy="709042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6" name="Google Shape;746;p49"/>
          <p:cNvSpPr txBox="1"/>
          <p:nvPr/>
        </p:nvSpPr>
        <p:spPr>
          <a:xfrm>
            <a:off x="5791200" y="4800600"/>
            <a:ext cx="3200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Retrieve HTML link element identifier…! </a:t>
            </a:r>
            <a:endParaRPr sz="1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748" name="Google Shape;748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Google Shape;75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885950"/>
            <a:ext cx="8982075" cy="30670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4" name="Google Shape;754;p50"/>
          <p:cNvSpPr txBox="1"/>
          <p:nvPr>
            <p:ph type="title"/>
          </p:nvPr>
        </p:nvSpPr>
        <p:spPr>
          <a:xfrm>
            <a:off x="457200" y="76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000"/>
              <a:t>Redirect the user by include the redirection inside JavaScript</a:t>
            </a:r>
            <a:endParaRPr b="1" i="1" sz="3000"/>
          </a:p>
        </p:txBody>
      </p:sp>
      <p:sp>
        <p:nvSpPr>
          <p:cNvPr id="755" name="Google Shape;755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6" name="Google Shape;756;p50"/>
          <p:cNvSpPr txBox="1"/>
          <p:nvPr/>
        </p:nvSpPr>
        <p:spPr>
          <a:xfrm>
            <a:off x="304800" y="1066800"/>
            <a:ext cx="8458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 – Create HTML file.</a:t>
            </a:r>
            <a:endParaRPr/>
          </a:p>
        </p:txBody>
      </p:sp>
      <p:sp>
        <p:nvSpPr>
          <p:cNvPr id="757" name="Google Shape;757;p50"/>
          <p:cNvSpPr txBox="1"/>
          <p:nvPr/>
        </p:nvSpPr>
        <p:spPr>
          <a:xfrm>
            <a:off x="1600200" y="5334000"/>
            <a:ext cx="76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758" name="Google Shape;758;p50"/>
          <p:cNvCxnSpPr/>
          <p:nvPr/>
        </p:nvCxnSpPr>
        <p:spPr>
          <a:xfrm>
            <a:off x="5791200" y="4191000"/>
            <a:ext cx="990600" cy="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9" name="Google Shape;759;p50"/>
          <p:cNvCxnSpPr/>
          <p:nvPr/>
        </p:nvCxnSpPr>
        <p:spPr>
          <a:xfrm flipH="1">
            <a:off x="6019800" y="3200400"/>
            <a:ext cx="533400" cy="76200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0" name="Google Shape;760;p50"/>
          <p:cNvSpPr txBox="1"/>
          <p:nvPr/>
        </p:nvSpPr>
        <p:spPr>
          <a:xfrm>
            <a:off x="5181600" y="2819400"/>
            <a:ext cx="3200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HTML link identifier</a:t>
            </a:r>
            <a:endParaRPr sz="1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1" name="Google Shape;761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4670673"/>
            <a:ext cx="5810250" cy="16284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2" name="Google Shape;762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763" name="Google Shape;763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1"/>
          <p:cNvSpPr txBox="1"/>
          <p:nvPr>
            <p:ph type="title"/>
          </p:nvPr>
        </p:nvSpPr>
        <p:spPr>
          <a:xfrm>
            <a:off x="457200" y="76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000"/>
              <a:t>Redirect the user by include the redirection inside JavaScript</a:t>
            </a:r>
            <a:endParaRPr b="1" i="1" sz="3000"/>
          </a:p>
        </p:txBody>
      </p:sp>
      <p:sp>
        <p:nvSpPr>
          <p:cNvPr id="769" name="Google Shape;769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0" name="Google Shape;770;p51"/>
          <p:cNvSpPr txBox="1"/>
          <p:nvPr/>
        </p:nvSpPr>
        <p:spPr>
          <a:xfrm>
            <a:off x="2667000" y="1748135"/>
            <a:ext cx="76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71" name="Google Shape;771;p51"/>
          <p:cNvSpPr txBox="1"/>
          <p:nvPr/>
        </p:nvSpPr>
        <p:spPr>
          <a:xfrm>
            <a:off x="1371600" y="4495800"/>
            <a:ext cx="76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pic>
        <p:nvPicPr>
          <p:cNvPr id="772" name="Google Shape;77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1376362"/>
            <a:ext cx="350520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3600" y="3089573"/>
            <a:ext cx="6005513" cy="308262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4" name="Google Shape;774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775" name="Google Shape;775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2"/>
          <p:cNvSpPr txBox="1"/>
          <p:nvPr>
            <p:ph type="title"/>
          </p:nvPr>
        </p:nvSpPr>
        <p:spPr>
          <a:xfrm>
            <a:off x="152400" y="76200"/>
            <a:ext cx="883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0000FF"/>
                </a:solidFill>
              </a:rPr>
              <a:t>Reference</a:t>
            </a:r>
            <a:endParaRPr i="1" sz="3600">
              <a:solidFill>
                <a:srgbClr val="0000FF"/>
              </a:solidFill>
            </a:endParaRPr>
          </a:p>
        </p:txBody>
      </p:sp>
      <p:sp>
        <p:nvSpPr>
          <p:cNvPr id="781" name="Google Shape;781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2" name="Google Shape;782;p52"/>
          <p:cNvSpPr txBox="1"/>
          <p:nvPr>
            <p:ph idx="1" type="body"/>
          </p:nvPr>
        </p:nvSpPr>
        <p:spPr>
          <a:xfrm>
            <a:off x="228600" y="1341438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624078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Quigley, E. (2012). </a:t>
            </a:r>
            <a:r>
              <a:rPr i="1" lang="en-US" sz="2400"/>
              <a:t>JavaScript by Example. 2</a:t>
            </a:r>
            <a:r>
              <a:rPr baseline="30000" i="1" lang="en-US" sz="2400"/>
              <a:t>nd</a:t>
            </a:r>
            <a:r>
              <a:rPr i="1" lang="en-US" sz="2400"/>
              <a:t> Edition.</a:t>
            </a:r>
            <a:r>
              <a:rPr lang="en-US" sz="2400"/>
              <a:t> Michigan, USA. Prentice Hall.</a:t>
            </a:r>
            <a:endParaRPr/>
          </a:p>
          <a:p>
            <a:pPr indent="-514350" lvl="0" marL="624078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Negrino, T. &amp; Smith, D.(2012) – </a:t>
            </a:r>
            <a:r>
              <a:rPr i="1" lang="en-US" sz="2400"/>
              <a:t>JavaScript Eight Edition. </a:t>
            </a:r>
            <a:r>
              <a:rPr lang="en-US" sz="2400"/>
              <a:t>Berkeley, CA.</a:t>
            </a:r>
            <a:r>
              <a:rPr i="1" lang="en-US" sz="2400"/>
              <a:t> </a:t>
            </a:r>
            <a:r>
              <a:rPr lang="en-US" sz="2400"/>
              <a:t>Visual QuickStart Guide.</a:t>
            </a:r>
            <a:endParaRPr/>
          </a:p>
          <a:p>
            <a:pPr indent="-514350" lvl="0" marL="624078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W3schools.com (2014). </a:t>
            </a:r>
            <a:r>
              <a:rPr i="1" lang="en-US" sz="2400"/>
              <a:t>JavaScript Tutorial</a:t>
            </a:r>
            <a:r>
              <a:rPr lang="en-US" sz="2400"/>
              <a:t>.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http://www.w3schools.com/js/default.asp</a:t>
            </a:r>
            <a:endParaRPr i="1" sz="2400"/>
          </a:p>
          <a:p>
            <a:pPr indent="-514350" lvl="0" marL="624078" rtl="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eriod"/>
            </a:pPr>
            <a:r>
              <a:rPr lang="en-US" sz="2300"/>
              <a:t>Tutorialspoint – Simply Easy Learning (2014). </a:t>
            </a:r>
            <a:r>
              <a:rPr i="1" lang="en-US" sz="2300"/>
              <a:t>Javascript Tutorial</a:t>
            </a:r>
            <a:r>
              <a:rPr lang="en-US" sz="2300"/>
              <a:t>. </a:t>
            </a:r>
            <a:r>
              <a:rPr lang="en-US" sz="2300">
                <a:solidFill>
                  <a:srgbClr val="0033CC"/>
                </a:solidFill>
              </a:rPr>
              <a:t>http://www.tutorialspoint.com/javascript/index.htm</a:t>
            </a:r>
            <a:endParaRPr/>
          </a:p>
          <a:p>
            <a:pPr indent="-355600" lvl="0" marL="624078" rtl="0" algn="just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</a:pPr>
            <a:r>
              <a:t/>
            </a:r>
            <a:endParaRPr sz="2500"/>
          </a:p>
          <a:p>
            <a:pPr indent="0" lvl="0" marL="109728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783" name="Google Shape;783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CSF3107 - Web Programming 2</a:t>
            </a:r>
            <a:endParaRPr/>
          </a:p>
        </p:txBody>
      </p:sp>
      <p:sp>
        <p:nvSpPr>
          <p:cNvPr id="784" name="Google Shape;784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©2016-MohamadNor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2013-02-05T02:11:17Z</dcterms:created>
  <dc:creator>Hp</dc:creator>
</cp:coreProperties>
</file>