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1" r:id="rId6"/>
    <p:sldMasterId id="2147483674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</p:sldIdLst>
  <p:sldSz cy="7559675" cx="10080625"/>
  <p:notesSz cx="7772400" cy="10058400"/>
  <p:embeddedFontLst>
    <p:embeddedFont>
      <p:font typeface="Lobster Two"/>
      <p:regular r:id="rId86"/>
      <p:bold r:id="rId87"/>
      <p:italic r:id="rId88"/>
      <p:boldItalic r:id="rId89"/>
    </p:embeddedFont>
    <p:embeddedFont>
      <p:font typeface="Abyssinica SIL"/>
      <p:regular r:id="rId90"/>
    </p:embeddedFont>
    <p:embeddedFont>
      <p:font typeface="Century Schoolbook"/>
      <p:regular r:id="rId91"/>
      <p:bold r:id="rId92"/>
      <p:italic r:id="rId93"/>
      <p:boldItalic r:id="rId94"/>
    </p:embeddedFont>
    <p:embeddedFont>
      <p:font typeface="Libre Baskerville"/>
      <p:regular r:id="rId95"/>
      <p:bold r:id="rId96"/>
      <p:italic r:id="rId97"/>
    </p:embeddedFont>
    <p:embeddedFont>
      <p:font typeface="Cambria Math"/>
      <p:regular r:id="rId9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381">
          <p15:clr>
            <a:srgbClr val="A4A3A4"/>
          </p15:clr>
        </p15:guide>
        <p15:guide id="2" pos="3175">
          <p15:clr>
            <a:srgbClr val="A4A3A4"/>
          </p15:clr>
        </p15:guide>
      </p15:sldGuideLst>
    </p:ext>
    <p:ext uri="GoogleSlidesCustomDataVersion2">
      <go:slidesCustomData xmlns:go="http://customooxmlschemas.google.com/" r:id="rId99" roundtripDataSignature="AMtx7mgaXfiJmD7PtHZLyw4Jq9cnvo4t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8652CF1-3263-4AB3-8F3F-6CAC131F291B}">
  <a:tblStyle styleId="{98652CF1-3263-4AB3-8F3F-6CAC131F291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381" orient="horz"/>
        <p:guide pos="317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9" Type="http://schemas.openxmlformats.org/officeDocument/2006/relationships/slide" Target="slides/slide4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95" Type="http://schemas.openxmlformats.org/officeDocument/2006/relationships/font" Target="fonts/LibreBaskerville-regular.fntdata"/><Relationship Id="rId94" Type="http://schemas.openxmlformats.org/officeDocument/2006/relationships/font" Target="fonts/CenturySchoolbook-boldItalic.fntdata"/><Relationship Id="rId97" Type="http://schemas.openxmlformats.org/officeDocument/2006/relationships/font" Target="fonts/LibreBaskerville-italic.fntdata"/><Relationship Id="rId96" Type="http://schemas.openxmlformats.org/officeDocument/2006/relationships/font" Target="fonts/LibreBaskerville-bold.fntdata"/><Relationship Id="rId11" Type="http://schemas.openxmlformats.org/officeDocument/2006/relationships/slide" Target="slides/slide3.xml"/><Relationship Id="rId99" Type="http://customschemas.google.com/relationships/presentationmetadata" Target="metadata"/><Relationship Id="rId10" Type="http://schemas.openxmlformats.org/officeDocument/2006/relationships/slide" Target="slides/slide2.xml"/><Relationship Id="rId98" Type="http://schemas.openxmlformats.org/officeDocument/2006/relationships/font" Target="fonts/CambriaMath-regular.fntdata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91" Type="http://schemas.openxmlformats.org/officeDocument/2006/relationships/font" Target="fonts/CenturySchoolbook-regular.fntdata"/><Relationship Id="rId90" Type="http://schemas.openxmlformats.org/officeDocument/2006/relationships/font" Target="fonts/AbyssinicaSIL-regular.fntdata"/><Relationship Id="rId93" Type="http://schemas.openxmlformats.org/officeDocument/2006/relationships/font" Target="fonts/CenturySchoolbook-italic.fntdata"/><Relationship Id="rId92" Type="http://schemas.openxmlformats.org/officeDocument/2006/relationships/font" Target="fonts/CenturySchoolbook-bold.fntdata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Relationship Id="rId84" Type="http://schemas.openxmlformats.org/officeDocument/2006/relationships/slide" Target="slides/slide76.xml"/><Relationship Id="rId83" Type="http://schemas.openxmlformats.org/officeDocument/2006/relationships/slide" Target="slides/slide75.xml"/><Relationship Id="rId86" Type="http://schemas.openxmlformats.org/officeDocument/2006/relationships/font" Target="fonts/LobsterTwo-regular.fntdata"/><Relationship Id="rId85" Type="http://schemas.openxmlformats.org/officeDocument/2006/relationships/slide" Target="slides/slide77.xml"/><Relationship Id="rId88" Type="http://schemas.openxmlformats.org/officeDocument/2006/relationships/font" Target="fonts/LobsterTwo-italic.fntdata"/><Relationship Id="rId87" Type="http://schemas.openxmlformats.org/officeDocument/2006/relationships/font" Target="fonts/LobsterTwo-bold.fntdata"/><Relationship Id="rId89" Type="http://schemas.openxmlformats.org/officeDocument/2006/relationships/font" Target="fonts/LobsterTwo-boldItalic.fntdata"/><Relationship Id="rId80" Type="http://schemas.openxmlformats.org/officeDocument/2006/relationships/slide" Target="slides/slide72.xml"/><Relationship Id="rId82" Type="http://schemas.openxmlformats.org/officeDocument/2006/relationships/slide" Target="slides/slide74.xml"/><Relationship Id="rId81" Type="http://schemas.openxmlformats.org/officeDocument/2006/relationships/slide" Target="slides/slide73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73" Type="http://schemas.openxmlformats.org/officeDocument/2006/relationships/slide" Target="slides/slide65.xml"/><Relationship Id="rId72" Type="http://schemas.openxmlformats.org/officeDocument/2006/relationships/slide" Target="slides/slide64.xml"/><Relationship Id="rId75" Type="http://schemas.openxmlformats.org/officeDocument/2006/relationships/slide" Target="slides/slide67.xml"/><Relationship Id="rId74" Type="http://schemas.openxmlformats.org/officeDocument/2006/relationships/slide" Target="slides/slide66.xml"/><Relationship Id="rId77" Type="http://schemas.openxmlformats.org/officeDocument/2006/relationships/slide" Target="slides/slide69.xml"/><Relationship Id="rId76" Type="http://schemas.openxmlformats.org/officeDocument/2006/relationships/slide" Target="slides/slide68.xml"/><Relationship Id="rId79" Type="http://schemas.openxmlformats.org/officeDocument/2006/relationships/slide" Target="slides/slide71.xml"/><Relationship Id="rId78" Type="http://schemas.openxmlformats.org/officeDocument/2006/relationships/slide" Target="slides/slide70.xml"/><Relationship Id="rId71" Type="http://schemas.openxmlformats.org/officeDocument/2006/relationships/slide" Target="slides/slide63.xml"/><Relationship Id="rId70" Type="http://schemas.openxmlformats.org/officeDocument/2006/relationships/slide" Target="slides/slide62.xml"/><Relationship Id="rId62" Type="http://schemas.openxmlformats.org/officeDocument/2006/relationships/slide" Target="slides/slide54.xml"/><Relationship Id="rId61" Type="http://schemas.openxmlformats.org/officeDocument/2006/relationships/slide" Target="slides/slide53.xml"/><Relationship Id="rId64" Type="http://schemas.openxmlformats.org/officeDocument/2006/relationships/slide" Target="slides/slide56.xml"/><Relationship Id="rId63" Type="http://schemas.openxmlformats.org/officeDocument/2006/relationships/slide" Target="slides/slide55.xml"/><Relationship Id="rId66" Type="http://schemas.openxmlformats.org/officeDocument/2006/relationships/slide" Target="slides/slide58.xml"/><Relationship Id="rId65" Type="http://schemas.openxmlformats.org/officeDocument/2006/relationships/slide" Target="slides/slide57.xml"/><Relationship Id="rId68" Type="http://schemas.openxmlformats.org/officeDocument/2006/relationships/slide" Target="slides/slide60.xml"/><Relationship Id="rId67" Type="http://schemas.openxmlformats.org/officeDocument/2006/relationships/slide" Target="slides/slide59.xml"/><Relationship Id="rId60" Type="http://schemas.openxmlformats.org/officeDocument/2006/relationships/slide" Target="slides/slide52.xml"/><Relationship Id="rId69" Type="http://schemas.openxmlformats.org/officeDocument/2006/relationships/slide" Target="slides/slide61.xml"/><Relationship Id="rId51" Type="http://schemas.openxmlformats.org/officeDocument/2006/relationships/slide" Target="slides/slide43.xml"/><Relationship Id="rId50" Type="http://schemas.openxmlformats.org/officeDocument/2006/relationships/slide" Target="slides/slide42.xml"/><Relationship Id="rId53" Type="http://schemas.openxmlformats.org/officeDocument/2006/relationships/slide" Target="slides/slide45.xml"/><Relationship Id="rId52" Type="http://schemas.openxmlformats.org/officeDocument/2006/relationships/slide" Target="slides/slide44.xml"/><Relationship Id="rId55" Type="http://schemas.openxmlformats.org/officeDocument/2006/relationships/slide" Target="slides/slide47.xml"/><Relationship Id="rId54" Type="http://schemas.openxmlformats.org/officeDocument/2006/relationships/slide" Target="slides/slide46.xml"/><Relationship Id="rId57" Type="http://schemas.openxmlformats.org/officeDocument/2006/relationships/slide" Target="slides/slide49.xml"/><Relationship Id="rId56" Type="http://schemas.openxmlformats.org/officeDocument/2006/relationships/slide" Target="slides/slide48.xml"/><Relationship Id="rId59" Type="http://schemas.openxmlformats.org/officeDocument/2006/relationships/slide" Target="slides/slide51.xml"/><Relationship Id="rId58" Type="http://schemas.openxmlformats.org/officeDocument/2006/relationships/slide" Target="slides/slide5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4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1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3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3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4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4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5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5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6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6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7:notes"/>
          <p:cNvSpPr txBox="1"/>
          <p:nvPr>
            <p:ph idx="1" type="body"/>
          </p:nvPr>
        </p:nvSpPr>
        <p:spPr>
          <a:xfrm>
            <a:off x="777240" y="4777560"/>
            <a:ext cx="621720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7:notes"/>
          <p:cNvSpPr/>
          <p:nvPr/>
        </p:nvSpPr>
        <p:spPr>
          <a:xfrm>
            <a:off x="4402440" y="9553680"/>
            <a:ext cx="3367080" cy="50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7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8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8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9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9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0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0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1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1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2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2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3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3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4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4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5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5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6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6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7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7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8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8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9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9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0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30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1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31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2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32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3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3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4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34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5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35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6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36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7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37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8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8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9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39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0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40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1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41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42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43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43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4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4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5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45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46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46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47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47:notes"/>
          <p:cNvSpPr txBox="1"/>
          <p:nvPr/>
        </p:nvSpPr>
        <p:spPr>
          <a:xfrm>
            <a:off x="4402440" y="9553680"/>
            <a:ext cx="336780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47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8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8:notes"/>
          <p:cNvSpPr txBox="1"/>
          <p:nvPr/>
        </p:nvSpPr>
        <p:spPr>
          <a:xfrm>
            <a:off x="4402440" y="9553680"/>
            <a:ext cx="336780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48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49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49:notes"/>
          <p:cNvSpPr txBox="1"/>
          <p:nvPr/>
        </p:nvSpPr>
        <p:spPr>
          <a:xfrm>
            <a:off x="4402440" y="9553680"/>
            <a:ext cx="336780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49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50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50:notes"/>
          <p:cNvSpPr txBox="1"/>
          <p:nvPr/>
        </p:nvSpPr>
        <p:spPr>
          <a:xfrm>
            <a:off x="4402440" y="9553680"/>
            <a:ext cx="336780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50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51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51:notes"/>
          <p:cNvSpPr txBox="1"/>
          <p:nvPr/>
        </p:nvSpPr>
        <p:spPr>
          <a:xfrm>
            <a:off x="4402440" y="9553680"/>
            <a:ext cx="336780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51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52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52:notes"/>
          <p:cNvSpPr txBox="1"/>
          <p:nvPr/>
        </p:nvSpPr>
        <p:spPr>
          <a:xfrm>
            <a:off x="4402440" y="9553680"/>
            <a:ext cx="336780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52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53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53:notes"/>
          <p:cNvSpPr txBox="1"/>
          <p:nvPr/>
        </p:nvSpPr>
        <p:spPr>
          <a:xfrm>
            <a:off x="4402440" y="9553680"/>
            <a:ext cx="336780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53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54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54:notes"/>
          <p:cNvSpPr txBox="1"/>
          <p:nvPr/>
        </p:nvSpPr>
        <p:spPr>
          <a:xfrm>
            <a:off x="4402440" y="9553680"/>
            <a:ext cx="336780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54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55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5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56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56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57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57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58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8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59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9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60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60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61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61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62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62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63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64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65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65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66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66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67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67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68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68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69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69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70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70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71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71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72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72:notes"/>
          <p:cNvSpPr txBox="1"/>
          <p:nvPr/>
        </p:nvSpPr>
        <p:spPr>
          <a:xfrm>
            <a:off x="4402440" y="9553680"/>
            <a:ext cx="336780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72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73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73:notes"/>
          <p:cNvSpPr txBox="1"/>
          <p:nvPr/>
        </p:nvSpPr>
        <p:spPr>
          <a:xfrm>
            <a:off x="4402440" y="9553680"/>
            <a:ext cx="336780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73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74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74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75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75:notes"/>
          <p:cNvSpPr txBox="1"/>
          <p:nvPr/>
        </p:nvSpPr>
        <p:spPr>
          <a:xfrm>
            <a:off x="4402440" y="9553680"/>
            <a:ext cx="336780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75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76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76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77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77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9"/>
          <p:cNvSpPr txBox="1"/>
          <p:nvPr>
            <p:ph type="title"/>
          </p:nvPr>
        </p:nvSpPr>
        <p:spPr>
          <a:xfrm>
            <a:off x="504000" y="302760"/>
            <a:ext cx="907164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9"/>
          <p:cNvSpPr txBox="1"/>
          <p:nvPr>
            <p:ph idx="1" type="subTitle"/>
          </p:nvPr>
        </p:nvSpPr>
        <p:spPr>
          <a:xfrm>
            <a:off x="-1260000" y="-3359880"/>
            <a:ext cx="9071640" cy="498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80"/>
          <p:cNvSpPr txBox="1"/>
          <p:nvPr>
            <p:ph type="title"/>
          </p:nvPr>
        </p:nvSpPr>
        <p:spPr>
          <a:xfrm>
            <a:off x="504000" y="302760"/>
            <a:ext cx="907164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0"/>
          <p:cNvSpPr txBox="1"/>
          <p:nvPr>
            <p:ph idx="1" type="body"/>
          </p:nvPr>
        </p:nvSpPr>
        <p:spPr>
          <a:xfrm>
            <a:off x="-1260000" y="-3359880"/>
            <a:ext cx="9071640" cy="498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88"/>
          <p:cNvSpPr txBox="1"/>
          <p:nvPr>
            <p:ph type="title"/>
          </p:nvPr>
        </p:nvSpPr>
        <p:spPr>
          <a:xfrm>
            <a:off x="504000" y="302760"/>
            <a:ext cx="907164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8"/>
          <p:cNvSpPr txBox="1"/>
          <p:nvPr>
            <p:ph idx="1" type="body"/>
          </p:nvPr>
        </p:nvSpPr>
        <p:spPr>
          <a:xfrm>
            <a:off x="-1260000" y="-3359880"/>
            <a:ext cx="4426920" cy="498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8"/>
          <p:cNvSpPr txBox="1"/>
          <p:nvPr>
            <p:ph idx="2" type="body"/>
          </p:nvPr>
        </p:nvSpPr>
        <p:spPr>
          <a:xfrm>
            <a:off x="3388680" y="-3359880"/>
            <a:ext cx="4426920" cy="498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9"/>
          <p:cNvSpPr txBox="1"/>
          <p:nvPr>
            <p:ph type="title"/>
          </p:nvPr>
        </p:nvSpPr>
        <p:spPr>
          <a:xfrm>
            <a:off x="504000" y="302760"/>
            <a:ext cx="907164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0"/>
          <p:cNvSpPr txBox="1"/>
          <p:nvPr>
            <p:ph idx="1" type="subTitle"/>
          </p:nvPr>
        </p:nvSpPr>
        <p:spPr>
          <a:xfrm>
            <a:off x="504000" y="302760"/>
            <a:ext cx="9071640" cy="5840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91"/>
          <p:cNvSpPr txBox="1"/>
          <p:nvPr>
            <p:ph type="title"/>
          </p:nvPr>
        </p:nvSpPr>
        <p:spPr>
          <a:xfrm>
            <a:off x="504000" y="302760"/>
            <a:ext cx="907164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1"/>
          <p:cNvSpPr txBox="1"/>
          <p:nvPr>
            <p:ph idx="1" type="body"/>
          </p:nvPr>
        </p:nvSpPr>
        <p:spPr>
          <a:xfrm>
            <a:off x="-1260000" y="-335988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1"/>
          <p:cNvSpPr txBox="1"/>
          <p:nvPr>
            <p:ph idx="2" type="body"/>
          </p:nvPr>
        </p:nvSpPr>
        <p:spPr>
          <a:xfrm>
            <a:off x="-1260000" y="-75384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1"/>
          <p:cNvSpPr txBox="1"/>
          <p:nvPr>
            <p:ph idx="3" type="body"/>
          </p:nvPr>
        </p:nvSpPr>
        <p:spPr>
          <a:xfrm>
            <a:off x="3388680" y="-3359880"/>
            <a:ext cx="4426920" cy="498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2"/>
          <p:cNvSpPr txBox="1"/>
          <p:nvPr>
            <p:ph type="title"/>
          </p:nvPr>
        </p:nvSpPr>
        <p:spPr>
          <a:xfrm>
            <a:off x="504000" y="302760"/>
            <a:ext cx="907164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2"/>
          <p:cNvSpPr txBox="1"/>
          <p:nvPr>
            <p:ph idx="1" type="body"/>
          </p:nvPr>
        </p:nvSpPr>
        <p:spPr>
          <a:xfrm>
            <a:off x="-1260000" y="-3359880"/>
            <a:ext cx="4426920" cy="498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2"/>
          <p:cNvSpPr txBox="1"/>
          <p:nvPr>
            <p:ph idx="2" type="body"/>
          </p:nvPr>
        </p:nvSpPr>
        <p:spPr>
          <a:xfrm>
            <a:off x="3388680" y="-335988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2"/>
          <p:cNvSpPr txBox="1"/>
          <p:nvPr>
            <p:ph idx="3" type="body"/>
          </p:nvPr>
        </p:nvSpPr>
        <p:spPr>
          <a:xfrm>
            <a:off x="3388680" y="-75384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3"/>
          <p:cNvSpPr txBox="1"/>
          <p:nvPr>
            <p:ph type="title"/>
          </p:nvPr>
        </p:nvSpPr>
        <p:spPr>
          <a:xfrm>
            <a:off x="504000" y="302760"/>
            <a:ext cx="907164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3"/>
          <p:cNvSpPr txBox="1"/>
          <p:nvPr>
            <p:ph idx="1" type="body"/>
          </p:nvPr>
        </p:nvSpPr>
        <p:spPr>
          <a:xfrm>
            <a:off x="-1260000" y="-335988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3"/>
          <p:cNvSpPr txBox="1"/>
          <p:nvPr>
            <p:ph idx="2" type="body"/>
          </p:nvPr>
        </p:nvSpPr>
        <p:spPr>
          <a:xfrm>
            <a:off x="3388680" y="-335988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93"/>
          <p:cNvSpPr txBox="1"/>
          <p:nvPr>
            <p:ph idx="3" type="body"/>
          </p:nvPr>
        </p:nvSpPr>
        <p:spPr>
          <a:xfrm>
            <a:off x="-1260000" y="-753840"/>
            <a:ext cx="907164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4"/>
          <p:cNvSpPr txBox="1"/>
          <p:nvPr>
            <p:ph type="title"/>
          </p:nvPr>
        </p:nvSpPr>
        <p:spPr>
          <a:xfrm>
            <a:off x="504000" y="302760"/>
            <a:ext cx="907164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4"/>
          <p:cNvSpPr txBox="1"/>
          <p:nvPr>
            <p:ph idx="1" type="body"/>
          </p:nvPr>
        </p:nvSpPr>
        <p:spPr>
          <a:xfrm>
            <a:off x="-1260000" y="-3359880"/>
            <a:ext cx="907164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4"/>
          <p:cNvSpPr txBox="1"/>
          <p:nvPr>
            <p:ph idx="2" type="body"/>
          </p:nvPr>
        </p:nvSpPr>
        <p:spPr>
          <a:xfrm>
            <a:off x="-1260000" y="-753840"/>
            <a:ext cx="907164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5"/>
          <p:cNvSpPr txBox="1"/>
          <p:nvPr>
            <p:ph type="title"/>
          </p:nvPr>
        </p:nvSpPr>
        <p:spPr>
          <a:xfrm>
            <a:off x="504000" y="302760"/>
            <a:ext cx="907164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5"/>
          <p:cNvSpPr txBox="1"/>
          <p:nvPr>
            <p:ph idx="1" type="body"/>
          </p:nvPr>
        </p:nvSpPr>
        <p:spPr>
          <a:xfrm>
            <a:off x="-1260000" y="-335988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5"/>
          <p:cNvSpPr txBox="1"/>
          <p:nvPr>
            <p:ph idx="2" type="body"/>
          </p:nvPr>
        </p:nvSpPr>
        <p:spPr>
          <a:xfrm>
            <a:off x="3388680" y="-335988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5"/>
          <p:cNvSpPr txBox="1"/>
          <p:nvPr>
            <p:ph idx="3" type="body"/>
          </p:nvPr>
        </p:nvSpPr>
        <p:spPr>
          <a:xfrm>
            <a:off x="3388680" y="-75384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95"/>
          <p:cNvSpPr txBox="1"/>
          <p:nvPr>
            <p:ph idx="4" type="body"/>
          </p:nvPr>
        </p:nvSpPr>
        <p:spPr>
          <a:xfrm>
            <a:off x="-1260000" y="-75384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6"/>
          <p:cNvSpPr txBox="1"/>
          <p:nvPr>
            <p:ph type="title"/>
          </p:nvPr>
        </p:nvSpPr>
        <p:spPr>
          <a:xfrm>
            <a:off x="504000" y="302760"/>
            <a:ext cx="907164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6"/>
          <p:cNvSpPr txBox="1"/>
          <p:nvPr>
            <p:ph idx="1" type="body"/>
          </p:nvPr>
        </p:nvSpPr>
        <p:spPr>
          <a:xfrm>
            <a:off x="-1260000" y="-3359880"/>
            <a:ext cx="9071640" cy="498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96"/>
          <p:cNvSpPr txBox="1"/>
          <p:nvPr>
            <p:ph idx="2" type="body"/>
          </p:nvPr>
        </p:nvSpPr>
        <p:spPr>
          <a:xfrm>
            <a:off x="-1260000" y="-3359880"/>
            <a:ext cx="9071640" cy="498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5" name="Google Shape;55;p9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9400" y="-3359880"/>
            <a:ext cx="6252480" cy="4988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9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9400" y="-3359880"/>
            <a:ext cx="6252480" cy="4988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3"/>
          <p:cNvSpPr txBox="1"/>
          <p:nvPr>
            <p:ph type="title"/>
          </p:nvPr>
        </p:nvSpPr>
        <p:spPr>
          <a:xfrm>
            <a:off x="504000" y="302760"/>
            <a:ext cx="907164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3"/>
          <p:cNvSpPr txBox="1"/>
          <p:nvPr>
            <p:ph idx="1" type="subTitle"/>
          </p:nvPr>
        </p:nvSpPr>
        <p:spPr>
          <a:xfrm>
            <a:off x="-1260000" y="-3359880"/>
            <a:ext cx="9071640" cy="498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7"/>
          <p:cNvSpPr txBox="1"/>
          <p:nvPr>
            <p:ph type="title"/>
          </p:nvPr>
        </p:nvSpPr>
        <p:spPr>
          <a:xfrm>
            <a:off x="504000" y="302760"/>
            <a:ext cx="907164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7"/>
          <p:cNvSpPr txBox="1"/>
          <p:nvPr>
            <p:ph idx="1" type="body"/>
          </p:nvPr>
        </p:nvSpPr>
        <p:spPr>
          <a:xfrm>
            <a:off x="-1260000" y="-3359880"/>
            <a:ext cx="9071640" cy="498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8"/>
          <p:cNvSpPr txBox="1"/>
          <p:nvPr>
            <p:ph type="title"/>
          </p:nvPr>
        </p:nvSpPr>
        <p:spPr>
          <a:xfrm>
            <a:off x="504000" y="302760"/>
            <a:ext cx="907164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8"/>
          <p:cNvSpPr txBox="1"/>
          <p:nvPr>
            <p:ph idx="1" type="body"/>
          </p:nvPr>
        </p:nvSpPr>
        <p:spPr>
          <a:xfrm>
            <a:off x="-1260000" y="-3359880"/>
            <a:ext cx="4426920" cy="498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8"/>
          <p:cNvSpPr txBox="1"/>
          <p:nvPr>
            <p:ph idx="2" type="body"/>
          </p:nvPr>
        </p:nvSpPr>
        <p:spPr>
          <a:xfrm>
            <a:off x="3388680" y="-3359880"/>
            <a:ext cx="4426920" cy="498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9"/>
          <p:cNvSpPr txBox="1"/>
          <p:nvPr>
            <p:ph type="title"/>
          </p:nvPr>
        </p:nvSpPr>
        <p:spPr>
          <a:xfrm>
            <a:off x="504000" y="302760"/>
            <a:ext cx="907164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0"/>
          <p:cNvSpPr txBox="1"/>
          <p:nvPr>
            <p:ph idx="1" type="subTitle"/>
          </p:nvPr>
        </p:nvSpPr>
        <p:spPr>
          <a:xfrm>
            <a:off x="504000" y="302760"/>
            <a:ext cx="9071640" cy="5840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1"/>
          <p:cNvSpPr txBox="1"/>
          <p:nvPr>
            <p:ph type="title"/>
          </p:nvPr>
        </p:nvSpPr>
        <p:spPr>
          <a:xfrm>
            <a:off x="504000" y="302760"/>
            <a:ext cx="907164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01"/>
          <p:cNvSpPr txBox="1"/>
          <p:nvPr>
            <p:ph idx="1" type="body"/>
          </p:nvPr>
        </p:nvSpPr>
        <p:spPr>
          <a:xfrm>
            <a:off x="-1260000" y="-335988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01"/>
          <p:cNvSpPr txBox="1"/>
          <p:nvPr>
            <p:ph idx="2" type="body"/>
          </p:nvPr>
        </p:nvSpPr>
        <p:spPr>
          <a:xfrm>
            <a:off x="-1260000" y="-75384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01"/>
          <p:cNvSpPr txBox="1"/>
          <p:nvPr>
            <p:ph idx="3" type="body"/>
          </p:nvPr>
        </p:nvSpPr>
        <p:spPr>
          <a:xfrm>
            <a:off x="3388680" y="-3359880"/>
            <a:ext cx="4426920" cy="498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2"/>
          <p:cNvSpPr txBox="1"/>
          <p:nvPr>
            <p:ph type="title"/>
          </p:nvPr>
        </p:nvSpPr>
        <p:spPr>
          <a:xfrm>
            <a:off x="504000" y="302760"/>
            <a:ext cx="907164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2"/>
          <p:cNvSpPr txBox="1"/>
          <p:nvPr>
            <p:ph idx="1" type="body"/>
          </p:nvPr>
        </p:nvSpPr>
        <p:spPr>
          <a:xfrm>
            <a:off x="-1260000" y="-3359880"/>
            <a:ext cx="4426920" cy="498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02"/>
          <p:cNvSpPr txBox="1"/>
          <p:nvPr>
            <p:ph idx="2" type="body"/>
          </p:nvPr>
        </p:nvSpPr>
        <p:spPr>
          <a:xfrm>
            <a:off x="3388680" y="-335988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2"/>
          <p:cNvSpPr txBox="1"/>
          <p:nvPr>
            <p:ph idx="3" type="body"/>
          </p:nvPr>
        </p:nvSpPr>
        <p:spPr>
          <a:xfrm>
            <a:off x="3388680" y="-75384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03"/>
          <p:cNvSpPr txBox="1"/>
          <p:nvPr>
            <p:ph type="title"/>
          </p:nvPr>
        </p:nvSpPr>
        <p:spPr>
          <a:xfrm>
            <a:off x="504000" y="302760"/>
            <a:ext cx="907164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3"/>
          <p:cNvSpPr txBox="1"/>
          <p:nvPr>
            <p:ph idx="1" type="body"/>
          </p:nvPr>
        </p:nvSpPr>
        <p:spPr>
          <a:xfrm>
            <a:off x="-1260000" y="-335988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3"/>
          <p:cNvSpPr txBox="1"/>
          <p:nvPr>
            <p:ph idx="2" type="body"/>
          </p:nvPr>
        </p:nvSpPr>
        <p:spPr>
          <a:xfrm>
            <a:off x="3388680" y="-335988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3"/>
          <p:cNvSpPr txBox="1"/>
          <p:nvPr>
            <p:ph idx="3" type="body"/>
          </p:nvPr>
        </p:nvSpPr>
        <p:spPr>
          <a:xfrm>
            <a:off x="-1260000" y="-753840"/>
            <a:ext cx="907164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04"/>
          <p:cNvSpPr txBox="1"/>
          <p:nvPr>
            <p:ph type="title"/>
          </p:nvPr>
        </p:nvSpPr>
        <p:spPr>
          <a:xfrm>
            <a:off x="504000" y="302760"/>
            <a:ext cx="907164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04"/>
          <p:cNvSpPr txBox="1"/>
          <p:nvPr>
            <p:ph idx="1" type="body"/>
          </p:nvPr>
        </p:nvSpPr>
        <p:spPr>
          <a:xfrm>
            <a:off x="-1260000" y="-3359880"/>
            <a:ext cx="907164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04"/>
          <p:cNvSpPr txBox="1"/>
          <p:nvPr>
            <p:ph idx="2" type="body"/>
          </p:nvPr>
        </p:nvSpPr>
        <p:spPr>
          <a:xfrm>
            <a:off x="-1260000" y="-753840"/>
            <a:ext cx="907164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5"/>
          <p:cNvSpPr txBox="1"/>
          <p:nvPr>
            <p:ph type="title"/>
          </p:nvPr>
        </p:nvSpPr>
        <p:spPr>
          <a:xfrm>
            <a:off x="504000" y="302760"/>
            <a:ext cx="907164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05"/>
          <p:cNvSpPr txBox="1"/>
          <p:nvPr>
            <p:ph idx="1" type="body"/>
          </p:nvPr>
        </p:nvSpPr>
        <p:spPr>
          <a:xfrm>
            <a:off x="-1260000" y="-335988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05"/>
          <p:cNvSpPr txBox="1"/>
          <p:nvPr>
            <p:ph idx="2" type="body"/>
          </p:nvPr>
        </p:nvSpPr>
        <p:spPr>
          <a:xfrm>
            <a:off x="3388680" y="-335988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05"/>
          <p:cNvSpPr txBox="1"/>
          <p:nvPr>
            <p:ph idx="3" type="body"/>
          </p:nvPr>
        </p:nvSpPr>
        <p:spPr>
          <a:xfrm>
            <a:off x="3388680" y="-75384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05"/>
          <p:cNvSpPr txBox="1"/>
          <p:nvPr>
            <p:ph idx="4" type="body"/>
          </p:nvPr>
        </p:nvSpPr>
        <p:spPr>
          <a:xfrm>
            <a:off x="-1260000" y="-75384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6"/>
          <p:cNvSpPr txBox="1"/>
          <p:nvPr>
            <p:ph type="title"/>
          </p:nvPr>
        </p:nvSpPr>
        <p:spPr>
          <a:xfrm>
            <a:off x="504000" y="302760"/>
            <a:ext cx="907164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06"/>
          <p:cNvSpPr txBox="1"/>
          <p:nvPr>
            <p:ph idx="1" type="body"/>
          </p:nvPr>
        </p:nvSpPr>
        <p:spPr>
          <a:xfrm>
            <a:off x="-1260000" y="-3359880"/>
            <a:ext cx="9071640" cy="498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06"/>
          <p:cNvSpPr txBox="1"/>
          <p:nvPr>
            <p:ph idx="2" type="body"/>
          </p:nvPr>
        </p:nvSpPr>
        <p:spPr>
          <a:xfrm>
            <a:off x="-1260000" y="-3359880"/>
            <a:ext cx="9071640" cy="498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7" name="Google Shape;107;p10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9400" y="-3359880"/>
            <a:ext cx="6252480" cy="4988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0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9400" y="-3359880"/>
            <a:ext cx="6252480" cy="4988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6"/>
          <p:cNvSpPr txBox="1"/>
          <p:nvPr>
            <p:ph type="title"/>
          </p:nvPr>
        </p:nvSpPr>
        <p:spPr>
          <a:xfrm>
            <a:off x="504000" y="302760"/>
            <a:ext cx="907164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86"/>
          <p:cNvSpPr txBox="1"/>
          <p:nvPr>
            <p:ph idx="1" type="subTitle"/>
          </p:nvPr>
        </p:nvSpPr>
        <p:spPr>
          <a:xfrm>
            <a:off x="-1260000" y="-3359880"/>
            <a:ext cx="9071640" cy="4989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7"/>
          <p:cNvSpPr txBox="1"/>
          <p:nvPr>
            <p:ph type="title"/>
          </p:nvPr>
        </p:nvSpPr>
        <p:spPr>
          <a:xfrm>
            <a:off x="504000" y="302760"/>
            <a:ext cx="907164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07"/>
          <p:cNvSpPr txBox="1"/>
          <p:nvPr>
            <p:ph idx="1" type="body"/>
          </p:nvPr>
        </p:nvSpPr>
        <p:spPr>
          <a:xfrm>
            <a:off x="-1260000" y="-3359880"/>
            <a:ext cx="9071640" cy="498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8"/>
          <p:cNvSpPr txBox="1"/>
          <p:nvPr>
            <p:ph type="title"/>
          </p:nvPr>
        </p:nvSpPr>
        <p:spPr>
          <a:xfrm>
            <a:off x="504000" y="302760"/>
            <a:ext cx="907164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08"/>
          <p:cNvSpPr txBox="1"/>
          <p:nvPr>
            <p:ph idx="1" type="body"/>
          </p:nvPr>
        </p:nvSpPr>
        <p:spPr>
          <a:xfrm>
            <a:off x="-1260000" y="-3359880"/>
            <a:ext cx="4426920" cy="498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08"/>
          <p:cNvSpPr txBox="1"/>
          <p:nvPr>
            <p:ph idx="2" type="body"/>
          </p:nvPr>
        </p:nvSpPr>
        <p:spPr>
          <a:xfrm>
            <a:off x="3388680" y="-3359880"/>
            <a:ext cx="4426920" cy="498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9"/>
          <p:cNvSpPr txBox="1"/>
          <p:nvPr>
            <p:ph type="title"/>
          </p:nvPr>
        </p:nvSpPr>
        <p:spPr>
          <a:xfrm>
            <a:off x="504000" y="302760"/>
            <a:ext cx="907164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0"/>
          <p:cNvSpPr txBox="1"/>
          <p:nvPr>
            <p:ph idx="1" type="subTitle"/>
          </p:nvPr>
        </p:nvSpPr>
        <p:spPr>
          <a:xfrm>
            <a:off x="504000" y="302760"/>
            <a:ext cx="9071640" cy="5840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1"/>
          <p:cNvSpPr txBox="1"/>
          <p:nvPr>
            <p:ph type="title"/>
          </p:nvPr>
        </p:nvSpPr>
        <p:spPr>
          <a:xfrm>
            <a:off x="504000" y="302760"/>
            <a:ext cx="907164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11"/>
          <p:cNvSpPr txBox="1"/>
          <p:nvPr>
            <p:ph idx="1" type="body"/>
          </p:nvPr>
        </p:nvSpPr>
        <p:spPr>
          <a:xfrm>
            <a:off x="-1260000" y="-335988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11"/>
          <p:cNvSpPr txBox="1"/>
          <p:nvPr>
            <p:ph idx="2" type="body"/>
          </p:nvPr>
        </p:nvSpPr>
        <p:spPr>
          <a:xfrm>
            <a:off x="-1260000" y="-75384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11"/>
          <p:cNvSpPr txBox="1"/>
          <p:nvPr>
            <p:ph idx="3" type="body"/>
          </p:nvPr>
        </p:nvSpPr>
        <p:spPr>
          <a:xfrm>
            <a:off x="3388680" y="-3359880"/>
            <a:ext cx="4426920" cy="498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2"/>
          <p:cNvSpPr txBox="1"/>
          <p:nvPr>
            <p:ph type="title"/>
          </p:nvPr>
        </p:nvSpPr>
        <p:spPr>
          <a:xfrm>
            <a:off x="504000" y="302760"/>
            <a:ext cx="907164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12"/>
          <p:cNvSpPr txBox="1"/>
          <p:nvPr>
            <p:ph idx="1" type="body"/>
          </p:nvPr>
        </p:nvSpPr>
        <p:spPr>
          <a:xfrm>
            <a:off x="-1260000" y="-3359880"/>
            <a:ext cx="4426920" cy="498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12"/>
          <p:cNvSpPr txBox="1"/>
          <p:nvPr>
            <p:ph idx="2" type="body"/>
          </p:nvPr>
        </p:nvSpPr>
        <p:spPr>
          <a:xfrm>
            <a:off x="3388680" y="-335988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12"/>
          <p:cNvSpPr txBox="1"/>
          <p:nvPr>
            <p:ph idx="3" type="body"/>
          </p:nvPr>
        </p:nvSpPr>
        <p:spPr>
          <a:xfrm>
            <a:off x="3388680" y="-75384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3"/>
          <p:cNvSpPr txBox="1"/>
          <p:nvPr>
            <p:ph type="title"/>
          </p:nvPr>
        </p:nvSpPr>
        <p:spPr>
          <a:xfrm>
            <a:off x="504000" y="302760"/>
            <a:ext cx="907164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13"/>
          <p:cNvSpPr txBox="1"/>
          <p:nvPr>
            <p:ph idx="1" type="body"/>
          </p:nvPr>
        </p:nvSpPr>
        <p:spPr>
          <a:xfrm>
            <a:off x="-1260000" y="-335988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13"/>
          <p:cNvSpPr txBox="1"/>
          <p:nvPr>
            <p:ph idx="2" type="body"/>
          </p:nvPr>
        </p:nvSpPr>
        <p:spPr>
          <a:xfrm>
            <a:off x="3388680" y="-335988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13"/>
          <p:cNvSpPr txBox="1"/>
          <p:nvPr>
            <p:ph idx="3" type="body"/>
          </p:nvPr>
        </p:nvSpPr>
        <p:spPr>
          <a:xfrm>
            <a:off x="-1260000" y="-753840"/>
            <a:ext cx="907164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4"/>
          <p:cNvSpPr txBox="1"/>
          <p:nvPr>
            <p:ph type="title"/>
          </p:nvPr>
        </p:nvSpPr>
        <p:spPr>
          <a:xfrm>
            <a:off x="504000" y="302760"/>
            <a:ext cx="907164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14"/>
          <p:cNvSpPr txBox="1"/>
          <p:nvPr>
            <p:ph idx="1" type="body"/>
          </p:nvPr>
        </p:nvSpPr>
        <p:spPr>
          <a:xfrm>
            <a:off x="-1260000" y="-3359880"/>
            <a:ext cx="907164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14"/>
          <p:cNvSpPr txBox="1"/>
          <p:nvPr>
            <p:ph idx="2" type="body"/>
          </p:nvPr>
        </p:nvSpPr>
        <p:spPr>
          <a:xfrm>
            <a:off x="-1260000" y="-753840"/>
            <a:ext cx="907164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5"/>
          <p:cNvSpPr txBox="1"/>
          <p:nvPr>
            <p:ph type="title"/>
          </p:nvPr>
        </p:nvSpPr>
        <p:spPr>
          <a:xfrm>
            <a:off x="504000" y="302760"/>
            <a:ext cx="907164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15"/>
          <p:cNvSpPr txBox="1"/>
          <p:nvPr>
            <p:ph idx="1" type="body"/>
          </p:nvPr>
        </p:nvSpPr>
        <p:spPr>
          <a:xfrm>
            <a:off x="-1260000" y="-335988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115"/>
          <p:cNvSpPr txBox="1"/>
          <p:nvPr>
            <p:ph idx="2" type="body"/>
          </p:nvPr>
        </p:nvSpPr>
        <p:spPr>
          <a:xfrm>
            <a:off x="3388680" y="-335988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15"/>
          <p:cNvSpPr txBox="1"/>
          <p:nvPr>
            <p:ph idx="3" type="body"/>
          </p:nvPr>
        </p:nvSpPr>
        <p:spPr>
          <a:xfrm>
            <a:off x="3388680" y="-75384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115"/>
          <p:cNvSpPr txBox="1"/>
          <p:nvPr>
            <p:ph idx="4" type="body"/>
          </p:nvPr>
        </p:nvSpPr>
        <p:spPr>
          <a:xfrm>
            <a:off x="-1260000" y="-753840"/>
            <a:ext cx="4426920" cy="2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6"/>
          <p:cNvSpPr txBox="1"/>
          <p:nvPr>
            <p:ph type="title"/>
          </p:nvPr>
        </p:nvSpPr>
        <p:spPr>
          <a:xfrm>
            <a:off x="504000" y="302760"/>
            <a:ext cx="907164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116"/>
          <p:cNvSpPr txBox="1"/>
          <p:nvPr>
            <p:ph idx="1" type="body"/>
          </p:nvPr>
        </p:nvSpPr>
        <p:spPr>
          <a:xfrm>
            <a:off x="-1260000" y="-3359880"/>
            <a:ext cx="9071640" cy="498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16"/>
          <p:cNvSpPr txBox="1"/>
          <p:nvPr>
            <p:ph idx="2" type="body"/>
          </p:nvPr>
        </p:nvSpPr>
        <p:spPr>
          <a:xfrm>
            <a:off x="-1260000" y="-3359880"/>
            <a:ext cx="9071640" cy="498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9" name="Google Shape;159;p1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9400" y="-3359880"/>
            <a:ext cx="6252480" cy="4988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9400" y="-3359880"/>
            <a:ext cx="6252480" cy="4988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8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8"/>
          <p:cNvSpPr txBox="1"/>
          <p:nvPr>
            <p:ph idx="1"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78"/>
          <p:cNvSpPr txBox="1"/>
          <p:nvPr>
            <p:ph idx="10"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78"/>
          <p:cNvSpPr txBox="1"/>
          <p:nvPr>
            <p:ph idx="11"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78"/>
          <p:cNvSpPr txBox="1"/>
          <p:nvPr>
            <p:ph idx="12"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1"/>
          <p:cNvSpPr txBox="1"/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9" name="Google Shape;59;p81"/>
          <p:cNvSpPr txBox="1"/>
          <p:nvPr>
            <p:ph idx="1" type="body"/>
          </p:nvPr>
        </p:nvSpPr>
        <p:spPr>
          <a:xfrm>
            <a:off x="504000" y="176868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0" name="Google Shape;60;p81"/>
          <p:cNvSpPr txBox="1"/>
          <p:nvPr>
            <p:ph idx="10" type="dt"/>
          </p:nvPr>
        </p:nvSpPr>
        <p:spPr>
          <a:xfrm>
            <a:off x="504000" y="6886800"/>
            <a:ext cx="2348280" cy="52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81"/>
          <p:cNvSpPr txBox="1"/>
          <p:nvPr>
            <p:ph idx="11" type="ftr"/>
          </p:nvPr>
        </p:nvSpPr>
        <p:spPr>
          <a:xfrm>
            <a:off x="3447000" y="6886800"/>
            <a:ext cx="3194640" cy="52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81"/>
          <p:cNvSpPr txBox="1"/>
          <p:nvPr>
            <p:ph idx="12" type="sldNum"/>
          </p:nvPr>
        </p:nvSpPr>
        <p:spPr>
          <a:xfrm>
            <a:off x="7227000" y="6886800"/>
            <a:ext cx="2348280" cy="52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4"/>
          <p:cNvSpPr txBox="1"/>
          <p:nvPr>
            <p:ph type="title"/>
          </p:nvPr>
        </p:nvSpPr>
        <p:spPr>
          <a:xfrm>
            <a:off x="504000" y="302760"/>
            <a:ext cx="9071640" cy="1259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1" name="Google Shape;111;p84"/>
          <p:cNvSpPr txBox="1"/>
          <p:nvPr>
            <p:ph idx="1" type="body"/>
          </p:nvPr>
        </p:nvSpPr>
        <p:spPr>
          <a:xfrm>
            <a:off x="-1260000" y="-3359880"/>
            <a:ext cx="9071640" cy="498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2" name="Google Shape;112;p84"/>
          <p:cNvSpPr txBox="1"/>
          <p:nvPr>
            <p:ph idx="10" type="dt"/>
          </p:nvPr>
        </p:nvSpPr>
        <p:spPr>
          <a:xfrm>
            <a:off x="504000" y="7007040"/>
            <a:ext cx="23518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84"/>
          <p:cNvSpPr txBox="1"/>
          <p:nvPr>
            <p:ph idx="11" type="ftr"/>
          </p:nvPr>
        </p:nvSpPr>
        <p:spPr>
          <a:xfrm>
            <a:off x="3443760" y="7007040"/>
            <a:ext cx="319140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" name="Google Shape;114;p84"/>
          <p:cNvSpPr txBox="1"/>
          <p:nvPr>
            <p:ph idx="12" type="sldNum"/>
          </p:nvPr>
        </p:nvSpPr>
        <p:spPr>
          <a:xfrm>
            <a:off x="7223760" y="7007040"/>
            <a:ext cx="23518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0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9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6.png"/><Relationship Id="rId4" Type="http://schemas.openxmlformats.org/officeDocument/2006/relationships/image" Target="../media/image33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1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2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2.png"/><Relationship Id="rId4" Type="http://schemas.openxmlformats.org/officeDocument/2006/relationships/image" Target="../media/image40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1.png"/><Relationship Id="rId4" Type="http://schemas.openxmlformats.org/officeDocument/2006/relationships/image" Target="../media/image23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9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7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5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1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5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4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9.png"/><Relationship Id="rId4" Type="http://schemas.openxmlformats.org/officeDocument/2006/relationships/image" Target="../media/image42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50.png"/><Relationship Id="rId4" Type="http://schemas.openxmlformats.org/officeDocument/2006/relationships/image" Target="../media/image48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43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47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44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49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52.png"/><Relationship Id="rId4" Type="http://schemas.openxmlformats.org/officeDocument/2006/relationships/image" Target="../media/image46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"/>
          <p:cNvSpPr txBox="1"/>
          <p:nvPr/>
        </p:nvSpPr>
        <p:spPr>
          <a:xfrm>
            <a:off x="360360" y="3053173"/>
            <a:ext cx="9071640" cy="2310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80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Chapter 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80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Part 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8000" u="none" cap="none" strike="noStrike">
                <a:solidFill>
                  <a:srgbClr val="0033CC"/>
                </a:solidFill>
                <a:latin typeface="Cambria Math"/>
                <a:ea typeface="Cambria Math"/>
                <a:cs typeface="Cambria Math"/>
                <a:sym typeface="Cambria Math"/>
              </a:rPr>
              <a:t>Intro. to Javascript</a:t>
            </a:r>
            <a:endParaRPr b="0" i="0" sz="8000" u="none" cap="none" strike="noStrike">
              <a:solidFill>
                <a:srgbClr val="0033CC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66" name="Google Shape;166;p1"/>
          <p:cNvSpPr txBox="1"/>
          <p:nvPr/>
        </p:nvSpPr>
        <p:spPr>
          <a:xfrm>
            <a:off x="216000" y="432000"/>
            <a:ext cx="9792000" cy="17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6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CSF 3206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4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(SEM II 2020/21)</a:t>
            </a:r>
            <a:endParaRPr b="0" i="0" sz="44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40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What You Need to Know</a:t>
            </a:r>
            <a:endParaRPr b="0" i="0" sz="4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"/>
          <p:cNvSpPr txBox="1"/>
          <p:nvPr/>
        </p:nvSpPr>
        <p:spPr>
          <a:xfrm>
            <a:off x="1512000" y="2167560"/>
            <a:ext cx="7776000" cy="2404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b="1" i="0" lang="en-CA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b="1" i="0" lang="en-CA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editor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b="1" i="0" lang="en-CA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 browsers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b="1" i="0" lang="en-CA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different versions of JavaScript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"/>
          <p:cNvSpPr txBox="1"/>
          <p:nvPr/>
        </p:nvSpPr>
        <p:spPr>
          <a:xfrm>
            <a:off x="127080" y="7146720"/>
            <a:ext cx="2068920" cy="3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100" u="none" cap="none" strike="noStrike">
                <a:solidFill>
                  <a:srgbClr val="DDDDDD"/>
                </a:solidFill>
                <a:latin typeface="Lobster Two"/>
                <a:ea typeface="Lobster Two"/>
                <a:cs typeface="Lobster Two"/>
                <a:sym typeface="Lobster Two"/>
              </a:rPr>
              <a:t>Faizah Aplop CSF3107/2016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4000" u="none" cap="none" strike="noStrike">
                <a:solidFill>
                  <a:srgbClr val="0070C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What You Will Learn</a:t>
            </a:r>
            <a:endParaRPr b="0" i="0" sz="40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"/>
          <p:cNvSpPr txBox="1"/>
          <p:nvPr/>
        </p:nvSpPr>
        <p:spPr>
          <a:xfrm>
            <a:off x="1223888" y="2167560"/>
            <a:ext cx="7776000" cy="4564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b="1" i="0" lang="en-CA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Component of Dynamic Website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b="1" i="0" lang="en-CA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 to JavaScript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❖"/>
            </a:pPr>
            <a:r>
              <a:rPr b="1" i="0" lang="en-CA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Basic JavaScript</a:t>
            </a:r>
            <a:endParaRPr/>
          </a:p>
          <a:p>
            <a:pPr indent="-405765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1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1" i="0" lang="en-CA" sz="3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* Data type		* Variable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3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		* Constant			* Operator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3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		* Dialog Box		* Looping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CA" sz="3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		* Conditional 		* Function</a:t>
            </a:r>
            <a:endParaRPr/>
          </a:p>
        </p:txBody>
      </p:sp>
      <p:sp>
        <p:nvSpPr>
          <p:cNvPr id="180" name="Google Shape;180;p3"/>
          <p:cNvSpPr txBox="1"/>
          <p:nvPr/>
        </p:nvSpPr>
        <p:spPr>
          <a:xfrm>
            <a:off x="127080" y="7146720"/>
            <a:ext cx="2068920" cy="3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1100" u="none" cap="none" strike="noStrike">
                <a:solidFill>
                  <a:srgbClr val="DDDDDD"/>
                </a:solidFill>
                <a:latin typeface="Lobster Two"/>
                <a:ea typeface="Lobster Two"/>
                <a:cs typeface="Lobster Two"/>
                <a:sym typeface="Lobster Two"/>
              </a:rPr>
              <a:t>Faizah Aplop CSF3107/2016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816" y="899517"/>
            <a:ext cx="8600554" cy="561662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4"/>
          <p:cNvSpPr/>
          <p:nvPr/>
        </p:nvSpPr>
        <p:spPr>
          <a:xfrm>
            <a:off x="7560592" y="6876181"/>
            <a:ext cx="21830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CA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Source: Wikipedia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/>
          <p:cNvSpPr txBox="1"/>
          <p:nvPr/>
        </p:nvSpPr>
        <p:spPr>
          <a:xfrm>
            <a:off x="504000" y="-108595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2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JavaScript History &amp; Development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72000" y="7200000"/>
            <a:ext cx="2016000" cy="28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DDDDDD"/>
                </a:solidFill>
                <a:latin typeface="Lobster Two"/>
                <a:ea typeface="Lobster Two"/>
                <a:cs typeface="Lobster Two"/>
                <a:sym typeface="Lobster Two"/>
              </a:rPr>
              <a:t>Faizah Aplop </a:t>
            </a:r>
            <a:r>
              <a:rPr lang="en-CA" sz="1100">
                <a:solidFill>
                  <a:srgbClr val="DDDDDD"/>
                </a:solidFill>
                <a:latin typeface="Lobster Two"/>
                <a:ea typeface="Lobster Two"/>
                <a:cs typeface="Lobster Two"/>
                <a:sym typeface="Lobster Two"/>
              </a:rPr>
              <a:t>CSF3107/2016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5"/>
          <p:cNvSpPr txBox="1"/>
          <p:nvPr/>
        </p:nvSpPr>
        <p:spPr>
          <a:xfrm>
            <a:off x="7560000" y="6840000"/>
            <a:ext cx="2109240" cy="33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CA" sz="16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Source: Wikipedia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p5"/>
          <p:cNvPicPr preferRelativeResize="0"/>
          <p:nvPr/>
        </p:nvPicPr>
        <p:blipFill rotWithShape="1">
          <a:blip r:embed="rId3">
            <a:alphaModFix/>
          </a:blip>
          <a:srcRect b="31411" l="14077" r="33450" t="24471"/>
          <a:stretch/>
        </p:blipFill>
        <p:spPr>
          <a:xfrm>
            <a:off x="124345" y="971526"/>
            <a:ext cx="9812511" cy="5888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"/>
          <p:cNvSpPr/>
          <p:nvPr/>
        </p:nvSpPr>
        <p:spPr>
          <a:xfrm>
            <a:off x="1476000" y="1332000"/>
            <a:ext cx="1728000" cy="648000"/>
          </a:xfrm>
          <a:prstGeom prst="rect">
            <a:avLst/>
          </a:prstGeom>
          <a:solidFill>
            <a:srgbClr val="FFFF99"/>
          </a:solidFill>
          <a:ln cap="flat" cmpd="sng" w="36000">
            <a:solidFill>
              <a:srgbClr val="C500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000" lIns="108000" spcFirstLastPara="1" rIns="108000" wrap="square" tIns="63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SERVER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4176000" y="1332000"/>
            <a:ext cx="2664000" cy="648000"/>
          </a:xfrm>
          <a:prstGeom prst="rect">
            <a:avLst/>
          </a:prstGeom>
          <a:solidFill>
            <a:srgbClr val="FFFFFF"/>
          </a:solidFill>
          <a:ln cap="flat" cmpd="sng" w="36000">
            <a:solidFill>
              <a:srgbClr val="C500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000" lIns="108000" spcFirstLastPara="1" rIns="108000" wrap="square" tIns="63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Server-side scripting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CA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e.g. JSP</a:t>
            </a:r>
            <a:r>
              <a:rPr b="1" lang="en-CA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4644000" y="3096000"/>
            <a:ext cx="2556000" cy="828000"/>
          </a:xfrm>
          <a:prstGeom prst="rect">
            <a:avLst/>
          </a:prstGeom>
          <a:solidFill>
            <a:srgbClr val="FFFFFF"/>
          </a:solidFill>
          <a:ln cap="flat" cmpd="sng" w="36000">
            <a:solidFill>
              <a:srgbClr val="C500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000" lIns="108000" spcFirstLastPara="1" rIns="108000" wrap="square" tIns="63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Client-side scripting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CA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e.g. JavaScript</a:t>
            </a:r>
            <a:r>
              <a:rPr b="1" lang="en-CA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7308000" y="3096000"/>
            <a:ext cx="2232000" cy="828000"/>
          </a:xfrm>
          <a:prstGeom prst="rect">
            <a:avLst/>
          </a:prstGeom>
          <a:solidFill>
            <a:srgbClr val="FFFFFF"/>
          </a:solidFill>
          <a:ln cap="flat" cmpd="sng" w="36000">
            <a:solidFill>
              <a:srgbClr val="C500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000" lIns="108000" spcFirstLastPara="1" rIns="108000" wrap="square" tIns="63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Images &amp; Objects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(e.g. JPEG, Flash)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7308000" y="1332000"/>
            <a:ext cx="1584000" cy="648000"/>
          </a:xfrm>
          <a:prstGeom prst="rect">
            <a:avLst/>
          </a:prstGeom>
          <a:solidFill>
            <a:srgbClr val="FFFFFF"/>
          </a:solidFill>
          <a:ln cap="flat" cmpd="sng" w="36000">
            <a:solidFill>
              <a:srgbClr val="C500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000" lIns="108000" spcFirstLastPara="1" rIns="108000" wrap="square" tIns="63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CA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e.g. MySQL</a:t>
            </a:r>
            <a:r>
              <a:rPr b="1" lang="en-CA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2808240" y="3096000"/>
            <a:ext cx="1584000" cy="828000"/>
          </a:xfrm>
          <a:prstGeom prst="rect">
            <a:avLst/>
          </a:prstGeom>
          <a:solidFill>
            <a:srgbClr val="FFFFFF"/>
          </a:solidFill>
          <a:ln cap="flat" cmpd="sng" w="36000">
            <a:solidFill>
              <a:srgbClr val="C500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000" lIns="108000" spcFirstLastPara="1" rIns="108000" wrap="square" tIns="63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Style sheets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CA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r>
              <a:rPr b="1" lang="en-CA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144000" y="3096000"/>
            <a:ext cx="2484000" cy="828000"/>
          </a:xfrm>
          <a:prstGeom prst="rect">
            <a:avLst/>
          </a:prstGeom>
          <a:solidFill>
            <a:srgbClr val="FFFFFF"/>
          </a:solidFill>
          <a:ln cap="flat" cmpd="sng" w="36000">
            <a:solidFill>
              <a:srgbClr val="C500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000" lIns="108000" spcFirstLastPara="1" rIns="108000" wrap="square" tIns="63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Marked-up content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CA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HTML,XHTML,XML</a:t>
            </a:r>
            <a:r>
              <a:rPr b="1" lang="en-CA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3564000" y="5112000"/>
            <a:ext cx="2016000" cy="648000"/>
          </a:xfrm>
          <a:prstGeom prst="rect">
            <a:avLst/>
          </a:prstGeom>
          <a:solidFill>
            <a:srgbClr val="FFFFFF"/>
          </a:solidFill>
          <a:ln cap="flat" cmpd="sng" w="36000">
            <a:solidFill>
              <a:srgbClr val="C500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000" lIns="108000" spcFirstLastPara="1" rIns="108000" wrap="square" tIns="63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 Agent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CA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e.g. Browsers</a:t>
            </a:r>
            <a:r>
              <a:rPr b="1" lang="en-CA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7" name="Google Shape;207;p6"/>
          <p:cNvCxnSpPr/>
          <p:nvPr/>
        </p:nvCxnSpPr>
        <p:spPr>
          <a:xfrm flipH="1">
            <a:off x="1332000" y="1980000"/>
            <a:ext cx="1152000" cy="1116000"/>
          </a:xfrm>
          <a:prstGeom prst="straightConnector1">
            <a:avLst/>
          </a:prstGeom>
          <a:noFill/>
          <a:ln cap="flat" cmpd="sng" w="360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8" name="Google Shape;208;p6"/>
          <p:cNvCxnSpPr/>
          <p:nvPr/>
        </p:nvCxnSpPr>
        <p:spPr>
          <a:xfrm>
            <a:off x="2628000" y="1980000"/>
            <a:ext cx="864000" cy="1116000"/>
          </a:xfrm>
          <a:prstGeom prst="straightConnector1">
            <a:avLst/>
          </a:prstGeom>
          <a:noFill/>
          <a:ln cap="flat" cmpd="sng" w="360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9" name="Google Shape;209;p6"/>
          <p:cNvCxnSpPr/>
          <p:nvPr/>
        </p:nvCxnSpPr>
        <p:spPr>
          <a:xfrm>
            <a:off x="2700000" y="1980000"/>
            <a:ext cx="2952000" cy="1116000"/>
          </a:xfrm>
          <a:prstGeom prst="straightConnector1">
            <a:avLst/>
          </a:prstGeom>
          <a:noFill/>
          <a:ln cap="flat" cmpd="sng" w="360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" name="Google Shape;210;p6"/>
          <p:cNvCxnSpPr/>
          <p:nvPr/>
        </p:nvCxnSpPr>
        <p:spPr>
          <a:xfrm>
            <a:off x="2988000" y="1980000"/>
            <a:ext cx="5328000" cy="1116000"/>
          </a:xfrm>
          <a:prstGeom prst="straightConnector1">
            <a:avLst/>
          </a:prstGeom>
          <a:noFill/>
          <a:ln cap="flat" cmpd="sng" w="360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1" name="Google Shape;211;p6"/>
          <p:cNvCxnSpPr/>
          <p:nvPr/>
        </p:nvCxnSpPr>
        <p:spPr>
          <a:xfrm>
            <a:off x="2196000" y="3924000"/>
            <a:ext cx="1512000" cy="1188000"/>
          </a:xfrm>
          <a:prstGeom prst="straightConnector1">
            <a:avLst/>
          </a:prstGeom>
          <a:noFill/>
          <a:ln cap="flat" cmpd="sng" w="360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2" name="Google Shape;212;p6"/>
          <p:cNvCxnSpPr/>
          <p:nvPr/>
        </p:nvCxnSpPr>
        <p:spPr>
          <a:xfrm>
            <a:off x="3708000" y="3924000"/>
            <a:ext cx="504000" cy="1188000"/>
          </a:xfrm>
          <a:prstGeom prst="straightConnector1">
            <a:avLst/>
          </a:prstGeom>
          <a:noFill/>
          <a:ln cap="flat" cmpd="sng" w="360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" name="Google Shape;213;p6"/>
          <p:cNvCxnSpPr/>
          <p:nvPr/>
        </p:nvCxnSpPr>
        <p:spPr>
          <a:xfrm flipH="1">
            <a:off x="4644000" y="3924000"/>
            <a:ext cx="1296000" cy="1188000"/>
          </a:xfrm>
          <a:prstGeom prst="straightConnector1">
            <a:avLst/>
          </a:prstGeom>
          <a:noFill/>
          <a:ln cap="flat" cmpd="sng" w="360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4" name="Google Shape;214;p6"/>
          <p:cNvCxnSpPr/>
          <p:nvPr/>
        </p:nvCxnSpPr>
        <p:spPr>
          <a:xfrm flipH="1">
            <a:off x="4860000" y="3924000"/>
            <a:ext cx="2592000" cy="1188000"/>
          </a:xfrm>
          <a:prstGeom prst="straightConnector1">
            <a:avLst/>
          </a:prstGeom>
          <a:noFill/>
          <a:ln cap="flat" cmpd="sng" w="360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p6"/>
          <p:cNvSpPr/>
          <p:nvPr/>
        </p:nvSpPr>
        <p:spPr>
          <a:xfrm>
            <a:off x="3672000" y="6156101"/>
            <a:ext cx="1584000" cy="648000"/>
          </a:xfrm>
          <a:prstGeom prst="rect">
            <a:avLst/>
          </a:prstGeom>
          <a:solidFill>
            <a:srgbClr val="99FF66"/>
          </a:solidFill>
          <a:ln cap="flat" cmpd="sng" w="36000">
            <a:solidFill>
              <a:srgbClr val="C500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000" lIns="108000" spcFirstLastPara="1" rIns="108000" wrap="square" tIns="63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6" name="Google Shape;216;p6"/>
          <p:cNvCxnSpPr/>
          <p:nvPr/>
        </p:nvCxnSpPr>
        <p:spPr>
          <a:xfrm>
            <a:off x="4500000" y="5760000"/>
            <a:ext cx="0" cy="396101"/>
          </a:xfrm>
          <a:prstGeom prst="straightConnector1">
            <a:avLst/>
          </a:prstGeom>
          <a:noFill/>
          <a:ln cap="flat" cmpd="sng" w="360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7" name="Google Shape;217;p6"/>
          <p:cNvCxnSpPr/>
          <p:nvPr/>
        </p:nvCxnSpPr>
        <p:spPr>
          <a:xfrm>
            <a:off x="3204000" y="1692000"/>
            <a:ext cx="972000" cy="0"/>
          </a:xfrm>
          <a:prstGeom prst="straightConnector1">
            <a:avLst/>
          </a:prstGeom>
          <a:noFill/>
          <a:ln cap="flat" cmpd="sng" w="360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8" name="Google Shape;218;p6"/>
          <p:cNvCxnSpPr/>
          <p:nvPr/>
        </p:nvCxnSpPr>
        <p:spPr>
          <a:xfrm>
            <a:off x="6840000" y="1620000"/>
            <a:ext cx="468000" cy="0"/>
          </a:xfrm>
          <a:prstGeom prst="straightConnector1">
            <a:avLst/>
          </a:prstGeom>
          <a:noFill/>
          <a:ln cap="flat" cmpd="sng" w="360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9" name="Google Shape;219;p6"/>
          <p:cNvSpPr txBox="1"/>
          <p:nvPr/>
        </p:nvSpPr>
        <p:spPr>
          <a:xfrm>
            <a:off x="3960000" y="7176361"/>
            <a:ext cx="6048864" cy="7799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CA" sz="16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Source: Goodman et.al (2010), Javascript Bible - 7</a:t>
            </a:r>
            <a:r>
              <a:rPr b="1" baseline="30000" i="1" lang="en-CA" sz="16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1" i="1" lang="en-CA" sz="16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Edition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6"/>
          <p:cNvSpPr txBox="1"/>
          <p:nvPr/>
        </p:nvSpPr>
        <p:spPr>
          <a:xfrm>
            <a:off x="936000" y="194760"/>
            <a:ext cx="8208000" cy="63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6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Components of Dynamic Web site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72000" y="7200000"/>
            <a:ext cx="2016000" cy="28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rgbClr val="DDDDDD"/>
                </a:solidFill>
                <a:latin typeface="Lobster Two"/>
                <a:ea typeface="Lobster Two"/>
                <a:cs typeface="Lobster Two"/>
                <a:sym typeface="Lobster Two"/>
              </a:rPr>
              <a:t>Faizah Aplop CSF3107/2016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"/>
          <p:cNvSpPr/>
          <p:nvPr/>
        </p:nvSpPr>
        <p:spPr>
          <a:xfrm>
            <a:off x="503640" y="0"/>
            <a:ext cx="9071280" cy="100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2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An Introduction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3443760" y="7007040"/>
            <a:ext cx="3191040" cy="40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504000" y="7007040"/>
            <a:ext cx="235116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©MohamadNor 2015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504000" y="1092240"/>
            <a:ext cx="9071280" cy="57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1524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•"/>
            </a:pPr>
            <a:r>
              <a:rPr b="1" lang="en-CA" sz="24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JavaScript </a:t>
            </a: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a</a:t>
            </a:r>
            <a:r>
              <a:rPr b="1" lang="en-CA" sz="24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1" lang="en-CA" sz="24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scripting language</a:t>
            </a:r>
            <a:r>
              <a:rPr b="1" i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designed primarily for adding interactivity to Web pages and creating Web applications.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JavaScript is a programming language used </a:t>
            </a:r>
            <a:r>
              <a:rPr b="1" i="1" lang="en-CA" sz="24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to make web pages interactive. -&gt; </a:t>
            </a: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allowing a page to interact with users and respond to events that occur on the page.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JavaScript is </a:t>
            </a:r>
            <a:r>
              <a:rPr b="1" lang="en-CA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different</a:t>
            </a: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from the Java language </a:t>
            </a:r>
            <a:r>
              <a:rPr b="1" lang="en-CA" sz="24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BUT</a:t>
            </a: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can interoperate well.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b="1" i="1" lang="en-CA" sz="2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Client-side</a:t>
            </a: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JavaScript programs, or </a:t>
            </a:r>
            <a:r>
              <a:rPr b="1" i="1" lang="en-CA" sz="2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scripts</a:t>
            </a: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can be embedded directly in HTML source of Web pages </a:t>
            </a:r>
            <a:r>
              <a:rPr b="1" lang="en-CA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can be created as standalone program (extension with </a:t>
            </a:r>
            <a:r>
              <a:rPr b="1" i="1" lang="en-CA" sz="24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.js</a:t>
            </a: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and developer invoke it via browser/HTML.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"/>
          <p:cNvSpPr txBox="1"/>
          <p:nvPr/>
        </p:nvSpPr>
        <p:spPr>
          <a:xfrm>
            <a:off x="432000" y="792000"/>
            <a:ext cx="9088560" cy="544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❑"/>
            </a:pP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JavaScript versus HTML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1" lang="en-CA" sz="24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a markup language </a:t>
            </a:r>
            <a:r>
              <a:rPr b="1" i="1" lang="en-CA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designed for defining static web page content</a:t>
            </a: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-&gt; Case-insensitive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1" lang="en-CA" sz="2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JavaScript</a:t>
            </a: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a programming language designed for </a:t>
            </a:r>
            <a:r>
              <a:rPr b="1" i="1" lang="en-CA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performing dynamic tasks</a:t>
            </a: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-&gt; Case-sensitive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❑"/>
            </a:pP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syntax, JavaScript is similar to </a:t>
            </a:r>
            <a:r>
              <a:rPr b="1" lang="en-CA" sz="2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❑"/>
            </a:pP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JavaScript is associated with a browser, it is tightly integrated with </a:t>
            </a:r>
            <a:r>
              <a:rPr b="1" lang="en-CA" sz="24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❑"/>
            </a:pP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JavaScript programs are executed by a </a:t>
            </a:r>
            <a:r>
              <a:rPr b="1" i="1" lang="en-CA" sz="2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JavaScript interpreter</a:t>
            </a: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built in the browser.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3223440" y="7014600"/>
            <a:ext cx="3191040" cy="40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283680" y="7014600"/>
            <a:ext cx="235116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©MohamadNor 2015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1" name="Google Shape;241;p9"/>
          <p:cNvGraphicFramePr/>
          <p:nvPr/>
        </p:nvGraphicFramePr>
        <p:xfrm>
          <a:off x="627480" y="144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{98652CF1-3263-4AB3-8F3F-6CAC131F291B}</a:tableStyleId>
              </a:tblPr>
              <a:tblGrid>
                <a:gridCol w="493550"/>
                <a:gridCol w="4383000"/>
                <a:gridCol w="4123075"/>
              </a:tblGrid>
              <a:tr h="38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CA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CA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Can Do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CA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Cannot Do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98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CA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CA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Web page to respond to user interaction with </a:t>
                      </a:r>
                      <a:r>
                        <a:rPr b="1" i="0" lang="en-CA" sz="1400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form elements </a:t>
                      </a:r>
                      <a:r>
                        <a:rPr b="1" lang="en-CA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(e.g. buttons, text, checkboxes, lists) &amp; hypertext links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CA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Set or retrieve the browser's preferences settings, main window appearance features, action buttons and printing capability</a:t>
                      </a:r>
                      <a:endParaRPr sz="1400"/>
                    </a:p>
                  </a:txBody>
                  <a:tcPr marT="45725" marB="45725" marR="91450" marL="91450"/>
                </a:tc>
              </a:tr>
              <a:tr h="576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CA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CA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Distribute small collections of db-like info &amp; provide a friendly interface data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CA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Launch an application on the client computer</a:t>
                      </a:r>
                      <a:endParaRPr sz="1400"/>
                    </a:p>
                  </a:txBody>
                  <a:tcPr marT="45725" marB="45725" marR="91450" marL="91450"/>
                </a:tc>
              </a:tr>
              <a:tr h="81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CA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CA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Control multiple-frame navigation, plug-ins, or java applets based on user choices in the html docs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CA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Read or write files or directories on the client computer (except 'cookies')</a:t>
                      </a:r>
                      <a:endParaRPr sz="1400"/>
                    </a:p>
                  </a:txBody>
                  <a:tcPr marT="45725" marB="45725" marR="91450" marL="91450"/>
                </a:tc>
              </a:tr>
              <a:tr h="576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CA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CA" sz="1400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Preprocessing data </a:t>
                      </a:r>
                      <a:r>
                        <a:rPr b="1" lang="en-CA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on the client before submission to a server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CA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Write directly to files on the server</a:t>
                      </a:r>
                      <a:endParaRPr sz="1400"/>
                    </a:p>
                  </a:txBody>
                  <a:tcPr marT="45725" marB="45725" marR="91450" marL="91450"/>
                </a:tc>
              </a:tr>
              <a:tr h="576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CA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CA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Changing content &amp; styles in modern browsers dynamically &amp; instantly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CA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Capture live data streams from the server for retransmission</a:t>
                      </a:r>
                      <a:endParaRPr sz="1400"/>
                    </a:p>
                  </a:txBody>
                  <a:tcPr marT="45725" marB="45725" marR="91450" marL="91450"/>
                </a:tc>
              </a:tr>
              <a:tr h="800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CA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CA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Requesting files from the server, &amp; making read &amp; write requests of server-side scripts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CA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Send secret emails from web site visitors to you</a:t>
                      </a:r>
                      <a:endParaRPr sz="14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42" name="Google Shape;242;p9"/>
          <p:cNvSpPr/>
          <p:nvPr/>
        </p:nvSpPr>
        <p:spPr>
          <a:xfrm>
            <a:off x="72000" y="7200000"/>
            <a:ext cx="2016000" cy="28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rgbClr val="DDDDDD"/>
                </a:solidFill>
                <a:latin typeface="Lobster Two"/>
                <a:ea typeface="Lobster Two"/>
                <a:cs typeface="Lobster Two"/>
                <a:sym typeface="Lobster Two"/>
              </a:rPr>
              <a:t>Faizah Aplop CSF3107/2016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9"/>
          <p:cNvSpPr txBox="1"/>
          <p:nvPr/>
        </p:nvSpPr>
        <p:spPr>
          <a:xfrm>
            <a:off x="1224000" y="288000"/>
            <a:ext cx="7776000" cy="65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2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Right Tool for the Right Job ....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"/>
          <p:cNvSpPr/>
          <p:nvPr/>
        </p:nvSpPr>
        <p:spPr>
          <a:xfrm>
            <a:off x="5184000" y="360000"/>
            <a:ext cx="1800000" cy="936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16623" y="309822"/>
                </a:moveTo>
                <a:lnTo>
                  <a:pt x="-13644" y="59948"/>
                </a:lnTo>
                <a:lnTo>
                  <a:pt x="-145" y="60352"/>
                </a:lnTo>
              </a:path>
            </a:pathLst>
          </a:custGeom>
          <a:solidFill>
            <a:srgbClr val="CCFFCC"/>
          </a:solidFill>
          <a:ln cap="flat" cmpd="sng" w="9525">
            <a:solidFill>
              <a:srgbClr val="C500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5184000" y="2016000"/>
            <a:ext cx="1800000" cy="936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15776" y="159960"/>
                </a:moveTo>
                <a:lnTo>
                  <a:pt x="-22129" y="59725"/>
                </a:lnTo>
                <a:lnTo>
                  <a:pt x="-1403" y="60342"/>
                </a:lnTo>
              </a:path>
            </a:pathLst>
          </a:custGeom>
          <a:solidFill>
            <a:srgbClr val="CCFFCC"/>
          </a:solidFill>
          <a:ln cap="flat" cmpd="sng" w="9525">
            <a:solidFill>
              <a:srgbClr val="C500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Side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5184000" y="3528000"/>
            <a:ext cx="1800000" cy="122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15427" y="-10038"/>
                </a:moveTo>
                <a:lnTo>
                  <a:pt x="-23130" y="58693"/>
                </a:lnTo>
                <a:lnTo>
                  <a:pt x="-1441" y="59707"/>
                </a:lnTo>
              </a:path>
            </a:pathLst>
          </a:custGeom>
          <a:solidFill>
            <a:srgbClr val="CCFFCC"/>
          </a:solidFill>
          <a:ln cap="flat" cmpd="sng" w="9525">
            <a:solidFill>
              <a:srgbClr val="C500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Client-side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Language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5112000" y="5184000"/>
            <a:ext cx="1872000" cy="936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5456" y="-172727"/>
                </a:moveTo>
                <a:lnTo>
                  <a:pt x="-19975" y="65777"/>
                </a:lnTo>
                <a:lnTo>
                  <a:pt x="-2345" y="65221"/>
                </a:lnTo>
              </a:path>
            </a:pathLst>
          </a:custGeom>
          <a:solidFill>
            <a:srgbClr val="CCFFCC"/>
          </a:solidFill>
          <a:ln cap="flat" cmpd="sng" w="9525">
            <a:solidFill>
              <a:srgbClr val="C500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Scripting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Language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216000" y="2736000"/>
            <a:ext cx="3240000" cy="1368000"/>
          </a:xfrm>
          <a:prstGeom prst="roundRect">
            <a:avLst>
              <a:gd fmla="val 3600" name="adj"/>
            </a:avLst>
          </a:prstGeom>
          <a:solidFill>
            <a:srgbClr val="314004"/>
          </a:solidFill>
          <a:ln cap="flat" cmpd="sng" w="9525">
            <a:solidFill>
              <a:srgbClr val="C500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600">
                <a:solidFill>
                  <a:srgbClr val="FFFF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JavaScript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0"/>
          <p:cNvSpPr txBox="1"/>
          <p:nvPr/>
        </p:nvSpPr>
        <p:spPr>
          <a:xfrm>
            <a:off x="7200000" y="541800"/>
            <a:ext cx="23040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Font typeface="Noto Sans Symbols"/>
              <a:buChar char="❑"/>
            </a:pPr>
            <a:r>
              <a:rPr b="1" lang="en-CA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use </a:t>
            </a:r>
            <a:r>
              <a:rPr b="1" lang="en-CA" sz="15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objects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C5000B"/>
              </a:buClr>
              <a:buSzPts val="675"/>
              <a:buFont typeface="Noto Sans Symbols"/>
              <a:buChar char="❑"/>
            </a:pPr>
            <a:r>
              <a:rPr b="1" lang="en-CA" sz="1500">
                <a:solidFill>
                  <a:srgbClr val="C5000B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b="1" lang="en-CA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class based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0"/>
          <p:cNvSpPr txBox="1"/>
          <p:nvPr/>
        </p:nvSpPr>
        <p:spPr>
          <a:xfrm>
            <a:off x="7128000" y="2124000"/>
            <a:ext cx="2808000" cy="72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Font typeface="Noto Sans Symbols"/>
              <a:buChar char="❑"/>
            </a:pPr>
            <a:r>
              <a:rPr b="1" lang="en-CA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Runs in </a:t>
            </a:r>
            <a:r>
              <a:rPr b="1" lang="en-CA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 (s/w)</a:t>
            </a:r>
            <a:r>
              <a:rPr b="1" lang="en-CA" sz="15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CA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the </a:t>
            </a:r>
            <a:r>
              <a:rPr b="1" lang="en-CA" sz="15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web browser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0"/>
          <p:cNvSpPr txBox="1"/>
          <p:nvPr/>
        </p:nvSpPr>
        <p:spPr>
          <a:xfrm>
            <a:off x="7128000" y="3456360"/>
            <a:ext cx="2808000" cy="16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Font typeface="Noto Sans Symbols"/>
              <a:buChar char="❑"/>
            </a:pPr>
            <a:r>
              <a:rPr b="1" lang="en-CA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browser reads &amp; interprets the codes w/o info from server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Font typeface="Noto Sans Symbols"/>
              <a:buChar char="❑"/>
            </a:pPr>
            <a:r>
              <a:rPr b="1" lang="en-CA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Allow info to be validated before sending to server-side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0"/>
          <p:cNvSpPr txBox="1"/>
          <p:nvPr/>
        </p:nvSpPr>
        <p:spPr>
          <a:xfrm>
            <a:off x="7128000" y="5148720"/>
            <a:ext cx="2736000" cy="1170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Font typeface="Noto Sans Symbols"/>
              <a:buChar char="❑"/>
            </a:pPr>
            <a:r>
              <a:rPr b="1" lang="en-CA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Does not require a program to be compiled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Font typeface="Noto Sans Symbols"/>
              <a:buChar char="❑"/>
            </a:pPr>
            <a:r>
              <a:rPr b="1" lang="en-CA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 the fly interpretation by client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72000" y="7200000"/>
            <a:ext cx="2016000" cy="28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rgbClr val="DDDDDD"/>
                </a:solidFill>
                <a:latin typeface="Lobster Two"/>
                <a:ea typeface="Lobster Two"/>
                <a:cs typeface="Lobster Two"/>
                <a:sym typeface="Lobster Two"/>
              </a:rPr>
              <a:t>Faizah Aplop CSF3107/2016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1"/>
          <p:cNvSpPr txBox="1"/>
          <p:nvPr/>
        </p:nvSpPr>
        <p:spPr>
          <a:xfrm>
            <a:off x="1008000" y="576000"/>
            <a:ext cx="8424000" cy="65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2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Common Layout of HTML Page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1"/>
          <p:cNvSpPr/>
          <p:nvPr/>
        </p:nvSpPr>
        <p:spPr>
          <a:xfrm rot="5413800">
            <a:off x="1335240" y="2199240"/>
            <a:ext cx="1581840" cy="931320"/>
          </a:xfrm>
          <a:prstGeom prst="chevron">
            <a:avLst>
              <a:gd fmla="val 15416" name="adj"/>
            </a:avLst>
          </a:prstGeom>
          <a:solidFill>
            <a:srgbClr val="990066"/>
          </a:solidFill>
          <a:ln cap="flat" cmpd="sng" w="9525">
            <a:solidFill>
              <a:srgbClr val="C500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"/>
          <p:cNvSpPr txBox="1"/>
          <p:nvPr/>
        </p:nvSpPr>
        <p:spPr>
          <a:xfrm>
            <a:off x="1657440" y="2448000"/>
            <a:ext cx="1008000" cy="40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1"/>
          <p:cNvSpPr/>
          <p:nvPr/>
        </p:nvSpPr>
        <p:spPr>
          <a:xfrm rot="5413800">
            <a:off x="1334880" y="3566520"/>
            <a:ext cx="1581840" cy="931320"/>
          </a:xfrm>
          <a:prstGeom prst="chevron">
            <a:avLst>
              <a:gd fmla="val 15416" name="adj"/>
            </a:avLst>
          </a:prstGeom>
          <a:solidFill>
            <a:srgbClr val="990066"/>
          </a:solidFill>
          <a:ln cap="flat" cmpd="sng" w="9525">
            <a:solidFill>
              <a:srgbClr val="C500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"/>
          <p:cNvSpPr txBox="1"/>
          <p:nvPr/>
        </p:nvSpPr>
        <p:spPr>
          <a:xfrm>
            <a:off x="1657080" y="3815280"/>
            <a:ext cx="1008000" cy="40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CSS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1"/>
          <p:cNvSpPr/>
          <p:nvPr/>
        </p:nvSpPr>
        <p:spPr>
          <a:xfrm rot="5413800">
            <a:off x="1334880" y="4970520"/>
            <a:ext cx="1581840" cy="931320"/>
          </a:xfrm>
          <a:prstGeom prst="chevron">
            <a:avLst>
              <a:gd fmla="val 15416" name="adj"/>
            </a:avLst>
          </a:prstGeom>
          <a:solidFill>
            <a:srgbClr val="990066"/>
          </a:solidFill>
          <a:ln cap="flat" cmpd="sng" w="9525">
            <a:solidFill>
              <a:srgbClr val="C500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"/>
          <p:cNvSpPr txBox="1"/>
          <p:nvPr/>
        </p:nvSpPr>
        <p:spPr>
          <a:xfrm>
            <a:off x="1657080" y="5219280"/>
            <a:ext cx="1008000" cy="40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JS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2595240" y="1800000"/>
            <a:ext cx="5180760" cy="1224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9525">
            <a:solidFill>
              <a:srgbClr val="C500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Contains the content &amp; structure of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 page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2595240" y="3204360"/>
            <a:ext cx="5180760" cy="1224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9525">
            <a:solidFill>
              <a:srgbClr val="C500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Controls the appearance &amp; presentation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the web page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2595240" y="4644360"/>
            <a:ext cx="5180760" cy="1224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9525">
            <a:solidFill>
              <a:srgbClr val="C500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Controls the behaviour of the web page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3111120" y="7058160"/>
            <a:ext cx="3191040" cy="40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171360" y="7058160"/>
            <a:ext cx="235116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©MohamadNor 2015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2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Three Layers Making Up a Web Page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9" name="Google Shape;27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2000" y="1903680"/>
            <a:ext cx="7871760" cy="425232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2"/>
          <p:cNvSpPr txBox="1"/>
          <p:nvPr/>
        </p:nvSpPr>
        <p:spPr>
          <a:xfrm>
            <a:off x="2929320" y="6300720"/>
            <a:ext cx="6574680" cy="329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CA" sz="16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Source: Ellie Quigley (2011), JavaScript by Example – 2</a:t>
            </a:r>
            <a:r>
              <a:rPr b="1" baseline="30000" i="1" lang="en-CA" sz="16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nd</a:t>
            </a:r>
            <a:r>
              <a:rPr b="1" i="1" lang="en-CA" sz="16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 Editions.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2"/>
          <p:cNvSpPr txBox="1"/>
          <p:nvPr/>
        </p:nvSpPr>
        <p:spPr>
          <a:xfrm>
            <a:off x="149400" y="7194240"/>
            <a:ext cx="1791720" cy="269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©MohamadNor 2015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3120480" y="7117920"/>
            <a:ext cx="28947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3"/>
          <p:cNvSpPr/>
          <p:nvPr/>
        </p:nvSpPr>
        <p:spPr>
          <a:xfrm>
            <a:off x="503640" y="0"/>
            <a:ext cx="9071280" cy="100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2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How JavaScript Work?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3695760" y="7007040"/>
            <a:ext cx="3191040" cy="40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7475760" y="7007040"/>
            <a:ext cx="2351160" cy="40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3"/>
          <p:cNvSpPr/>
          <p:nvPr/>
        </p:nvSpPr>
        <p:spPr>
          <a:xfrm>
            <a:off x="756000" y="7007040"/>
            <a:ext cx="235116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©MohamadNor 2015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1175760" y="1308600"/>
            <a:ext cx="2518920" cy="1006920"/>
          </a:xfrm>
          <a:prstGeom prst="parallelogram">
            <a:avLst>
              <a:gd fmla="val 25000" name="adj"/>
            </a:avLst>
          </a:prstGeom>
          <a:solidFill>
            <a:srgbClr val="CC6600"/>
          </a:solidFill>
          <a:ln cap="flat" cmpd="sng" w="25550">
            <a:solidFill>
              <a:srgbClr val="3A5F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99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Browser request page </a:t>
            </a:r>
            <a:r>
              <a:rPr b="1" i="1" lang="en-CA" sz="199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index.html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7140240" y="888840"/>
            <a:ext cx="1510920" cy="2099160"/>
          </a:xfrm>
          <a:prstGeom prst="rect">
            <a:avLst/>
          </a:prstGeom>
          <a:solidFill>
            <a:srgbClr val="808080"/>
          </a:solidFill>
          <a:ln cap="flat" cmpd="sng" w="25550">
            <a:solidFill>
              <a:srgbClr val="3A5F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99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Server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840240" y="3276000"/>
            <a:ext cx="6467040" cy="36950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550">
            <a:solidFill>
              <a:srgbClr val="3A5F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3"/>
          <p:cNvSpPr/>
          <p:nvPr/>
        </p:nvSpPr>
        <p:spPr>
          <a:xfrm>
            <a:off x="3864240" y="1644840"/>
            <a:ext cx="2518920" cy="5029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F81BD"/>
          </a:solidFill>
          <a:ln cap="flat" cmpd="sng" w="25550">
            <a:solidFill>
              <a:srgbClr val="3A5F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3"/>
          <p:cNvSpPr/>
          <p:nvPr/>
        </p:nvSpPr>
        <p:spPr>
          <a:xfrm>
            <a:off x="8064000" y="3359880"/>
            <a:ext cx="1091160" cy="176328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4F81BD"/>
          </a:solidFill>
          <a:ln cap="flat" cmpd="sng" w="25550">
            <a:solidFill>
              <a:srgbClr val="3A5F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3"/>
          <p:cNvSpPr/>
          <p:nvPr/>
        </p:nvSpPr>
        <p:spPr>
          <a:xfrm>
            <a:off x="2603880" y="2546640"/>
            <a:ext cx="3443400" cy="70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9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Page </a:t>
            </a:r>
            <a:r>
              <a:rPr i="1" lang="en-CA" sz="199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index.html</a:t>
            </a:r>
            <a:r>
              <a:rPr i="1" lang="en-CA" sz="19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CA" sz="19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Loading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1260000" y="3443760"/>
            <a:ext cx="5459040" cy="1006920"/>
          </a:xfrm>
          <a:prstGeom prst="rect">
            <a:avLst/>
          </a:prstGeom>
          <a:solidFill>
            <a:srgbClr val="4F81BD"/>
          </a:solidFill>
          <a:ln cap="flat" cmpd="sng" w="25550">
            <a:solidFill>
              <a:srgbClr val="3A5F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99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HTML code is read and rendered line by line until a JavaScript opening tag is read.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1260000" y="4536000"/>
            <a:ext cx="5459040" cy="1006920"/>
          </a:xfrm>
          <a:prstGeom prst="rect">
            <a:avLst/>
          </a:prstGeom>
          <a:solidFill>
            <a:srgbClr val="FF0066"/>
          </a:solidFill>
          <a:ln cap="flat" cmpd="sng" w="25550">
            <a:solidFill>
              <a:srgbClr val="3A5F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99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A sequence JavaScript code is interpreted by JavaScript interpreter until closing JavaScript tag is reached.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1260000" y="5711760"/>
            <a:ext cx="5459040" cy="1006920"/>
          </a:xfrm>
          <a:prstGeom prst="rect">
            <a:avLst/>
          </a:prstGeom>
          <a:solidFill>
            <a:srgbClr val="4F81BD"/>
          </a:solidFill>
          <a:ln cap="flat" cmpd="sng" w="25550">
            <a:solidFill>
              <a:srgbClr val="3A5F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99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The portion of HTML code is continued read and rendered.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4"/>
          <p:cNvSpPr/>
          <p:nvPr/>
        </p:nvSpPr>
        <p:spPr>
          <a:xfrm>
            <a:off x="503640" y="0"/>
            <a:ext cx="9071280" cy="100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2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Life Cycle of Typical Web Page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3443760" y="7007040"/>
            <a:ext cx="3191040" cy="40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504000" y="7007040"/>
            <a:ext cx="235116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©MohamadNor 2015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" name="Google Shape;30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00" y="1086480"/>
            <a:ext cx="8231040" cy="546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4"/>
          <p:cNvSpPr/>
          <p:nvPr/>
        </p:nvSpPr>
        <p:spPr>
          <a:xfrm>
            <a:off x="2952000" y="6564960"/>
            <a:ext cx="6984000" cy="635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CA" sz="16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Source: Ellie Quigley (2011), JavaScript by Example – 2</a:t>
            </a:r>
            <a:r>
              <a:rPr b="1" baseline="30000" i="1" lang="en-CA" sz="16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nd</a:t>
            </a:r>
            <a:r>
              <a:rPr b="1" i="1" lang="en-CA" sz="16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 Editions.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5"/>
          <p:cNvSpPr txBox="1"/>
          <p:nvPr>
            <p:ph type="title"/>
          </p:nvPr>
        </p:nvSpPr>
        <p:spPr>
          <a:xfrm>
            <a:off x="2592040" y="-36587"/>
            <a:ext cx="4824536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4000">
                <a:solidFill>
                  <a:srgbClr val="0070C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Javascript Engine</a:t>
            </a:r>
            <a:endParaRPr/>
          </a:p>
        </p:txBody>
      </p:sp>
      <p:sp>
        <p:nvSpPr>
          <p:cNvPr id="314" name="Google Shape;314;p15"/>
          <p:cNvSpPr/>
          <p:nvPr/>
        </p:nvSpPr>
        <p:spPr>
          <a:xfrm>
            <a:off x="575816" y="1331565"/>
            <a:ext cx="9001000" cy="5632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</a:pPr>
            <a:r>
              <a:rPr b="1" lang="en-CA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Rhino</a:t>
            </a: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managed by the </a:t>
            </a:r>
            <a:r>
              <a:rPr b="1" i="1"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Mozilla Foundation</a:t>
            </a: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open source, developed entirely in Java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</a:pPr>
            <a:r>
              <a:rPr b="1" lang="en-CA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SpiderMonkey</a:t>
            </a: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the first JavaScript engine, which powered </a:t>
            </a:r>
            <a:r>
              <a:rPr b="1" i="1"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Netscape Navigator</a:t>
            </a: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today powers </a:t>
            </a:r>
            <a:r>
              <a:rPr b="1" i="1"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Firefox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</a:pPr>
            <a:r>
              <a:rPr b="1" lang="en-CA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V8</a:t>
            </a: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open source, developed by Google in Denmark, part of </a:t>
            </a:r>
            <a:r>
              <a:rPr b="1" i="1"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Google Chrome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</a:pPr>
            <a:r>
              <a:rPr b="1" lang="en-CA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JavaScriptCore</a:t>
            </a: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open source, marketed as Nitro and developed by Apple for </a:t>
            </a:r>
            <a:r>
              <a:rPr b="1" i="1"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Safari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</a:pPr>
            <a:r>
              <a:rPr b="1" lang="en-CA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KJS</a:t>
            </a: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KDE's ECMAScript/JavaScript engine originally developed by Harri Porten for the KDE project's </a:t>
            </a:r>
            <a:r>
              <a:rPr b="1" i="1"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Konqueror</a:t>
            </a: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web browser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</a:pPr>
            <a:r>
              <a:rPr b="1" lang="en-CA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Chakra (JScript9)</a:t>
            </a: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for </a:t>
            </a:r>
            <a:r>
              <a:rPr b="1" i="1"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Explorer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</a:pPr>
            <a:r>
              <a:rPr b="1" lang="en-CA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Chakra (JavaScript) - </a:t>
            </a: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</a:t>
            </a:r>
            <a:r>
              <a:rPr b="1" i="1"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Microsoft Edge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</a:pPr>
            <a:r>
              <a:rPr b="1" lang="en-CA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Nashorn -</a:t>
            </a: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open source as part of </a:t>
            </a:r>
            <a:r>
              <a:rPr b="1" i="1"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OpenJDK</a:t>
            </a: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written by Oracle Java Languages and Tool Group</a:t>
            </a:r>
            <a:endParaRPr/>
          </a:p>
        </p:txBody>
      </p:sp>
      <p:sp>
        <p:nvSpPr>
          <p:cNvPr id="315" name="Google Shape;315;p15"/>
          <p:cNvSpPr/>
          <p:nvPr/>
        </p:nvSpPr>
        <p:spPr>
          <a:xfrm>
            <a:off x="7465726" y="6948189"/>
            <a:ext cx="21830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CA" sz="1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Source: Wikipedia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5"/>
          <p:cNvSpPr/>
          <p:nvPr/>
        </p:nvSpPr>
        <p:spPr>
          <a:xfrm>
            <a:off x="72000" y="7200000"/>
            <a:ext cx="2016000" cy="28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rgbClr val="DDDDDD"/>
                </a:solidFill>
                <a:latin typeface="Lobster Two"/>
                <a:ea typeface="Lobster Two"/>
                <a:cs typeface="Lobster Two"/>
                <a:sym typeface="Lobster Two"/>
              </a:rPr>
              <a:t>Faizah Aplop CSF3107/2016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6"/>
          <p:cNvSpPr/>
          <p:nvPr/>
        </p:nvSpPr>
        <p:spPr>
          <a:xfrm>
            <a:off x="431800" y="1427375"/>
            <a:ext cx="9433048" cy="55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byssinica SIL"/>
              <a:buChar char="•"/>
            </a:pPr>
            <a:r>
              <a:rPr b="1" lang="en-CA" sz="3200">
                <a:solidFill>
                  <a:schemeClr val="dk1"/>
                </a:solidFill>
                <a:latin typeface="Abyssinica SIL"/>
                <a:ea typeface="Abyssinica SIL"/>
                <a:cs typeface="Abyssinica SIL"/>
                <a:sym typeface="Abyssinica SIL"/>
              </a:rPr>
              <a:t>ActiveState's Komodo IDE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byssinica SIL"/>
              <a:buChar char="•"/>
            </a:pPr>
            <a:r>
              <a:rPr b="1" lang="en-CA" sz="3200">
                <a:solidFill>
                  <a:schemeClr val="dk1"/>
                </a:solidFill>
                <a:latin typeface="Abyssinica SIL"/>
                <a:ea typeface="Abyssinica SIL"/>
                <a:cs typeface="Abyssinica SIL"/>
                <a:sym typeface="Abyssinica SIL"/>
              </a:rPr>
              <a:t>Eclipse with JSDT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byssinica SIL"/>
              <a:buChar char="•"/>
            </a:pPr>
            <a:r>
              <a:rPr b="1" lang="en-CA" sz="3200">
                <a:solidFill>
                  <a:schemeClr val="dk1"/>
                </a:solidFill>
                <a:latin typeface="Abyssinica SIL"/>
                <a:ea typeface="Abyssinica SIL"/>
                <a:cs typeface="Abyssinica SIL"/>
                <a:sym typeface="Abyssinica SIL"/>
              </a:rPr>
              <a:t>Microsoft's Visual Studio 2013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byssinica SIL"/>
              <a:buChar char="•"/>
            </a:pPr>
            <a:r>
              <a:rPr b="1" lang="en-CA" sz="3200">
                <a:solidFill>
                  <a:schemeClr val="dk1"/>
                </a:solidFill>
                <a:latin typeface="Abyssinica SIL"/>
                <a:ea typeface="Abyssinica SIL"/>
                <a:cs typeface="Abyssinica SIL"/>
                <a:sym typeface="Abyssinica SIL"/>
              </a:rPr>
              <a:t>NetBeans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byssinica SIL"/>
              <a:buChar char="•"/>
            </a:pPr>
            <a:r>
              <a:rPr b="1" lang="en-CA" sz="3200">
                <a:solidFill>
                  <a:schemeClr val="dk1"/>
                </a:solidFill>
                <a:latin typeface="Abyssinica SIL"/>
                <a:ea typeface="Abyssinica SIL"/>
                <a:cs typeface="Abyssinica SIL"/>
                <a:sym typeface="Abyssinica SIL"/>
              </a:rPr>
              <a:t>Sublime Text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byssinica SIL"/>
              <a:buChar char="•"/>
            </a:pPr>
            <a:r>
              <a:rPr b="1" lang="en-CA" sz="3200">
                <a:solidFill>
                  <a:schemeClr val="dk1"/>
                </a:solidFill>
                <a:latin typeface="Abyssinica SIL"/>
                <a:ea typeface="Abyssinica SIL"/>
                <a:cs typeface="Abyssinica SIL"/>
                <a:sym typeface="Abyssinica SIL"/>
              </a:rPr>
              <a:t>JetBrains' WebStorm</a:t>
            </a:r>
            <a:endParaRPr b="1" sz="3200">
              <a:solidFill>
                <a:schemeClr val="dk1"/>
              </a:solidFill>
              <a:latin typeface="Abyssinica SIL"/>
              <a:ea typeface="Abyssinica SIL"/>
              <a:cs typeface="Abyssinica SIL"/>
              <a:sym typeface="Abyssinica SIL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byssinica SIL"/>
              <a:buChar char="•"/>
            </a:pPr>
            <a:r>
              <a:rPr b="1" lang="en-CA" sz="3200">
                <a:solidFill>
                  <a:schemeClr val="dk1"/>
                </a:solidFill>
                <a:latin typeface="Abyssinica SIL"/>
                <a:ea typeface="Abyssinica SIL"/>
                <a:cs typeface="Abyssinica SIL"/>
                <a:sym typeface="Abyssinica SIL"/>
              </a:rPr>
              <a:t>Alpha Anywhere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byssinica SIL"/>
              <a:buChar char="•"/>
            </a:pPr>
            <a:r>
              <a:rPr b="1" lang="en-CA" sz="3200">
                <a:solidFill>
                  <a:schemeClr val="dk1"/>
                </a:solidFill>
                <a:latin typeface="Abyssinica SIL"/>
                <a:ea typeface="Abyssinica SIL"/>
                <a:cs typeface="Abyssinica SIL"/>
                <a:sym typeface="Abyssinica SIL"/>
              </a:rPr>
              <a:t>Komodo Edit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byssinica SIL"/>
              <a:buChar char="•"/>
            </a:pPr>
            <a:r>
              <a:rPr b="1" lang="en-CA" sz="3200">
                <a:solidFill>
                  <a:schemeClr val="dk1"/>
                </a:solidFill>
                <a:latin typeface="Abyssinica SIL"/>
                <a:ea typeface="Abyssinica SIL"/>
                <a:cs typeface="Abyssinica SIL"/>
                <a:sym typeface="Abyssinica SIL"/>
              </a:rPr>
              <a:t>Notepad++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byssinica SIL"/>
              <a:buChar char="•"/>
            </a:pPr>
            <a:r>
              <a:rPr b="1" lang="en-CA" sz="3200">
                <a:solidFill>
                  <a:schemeClr val="dk1"/>
                </a:solidFill>
                <a:latin typeface="Abyssinica SIL"/>
                <a:ea typeface="Abyssinica SIL"/>
                <a:cs typeface="Abyssinica SIL"/>
                <a:sym typeface="Abyssinica SIL"/>
              </a:rPr>
              <a:t>TextMate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byssinica SIL"/>
              <a:buChar char="•"/>
            </a:pPr>
            <a:r>
              <a:rPr b="1" lang="en-CA" sz="3200">
                <a:solidFill>
                  <a:schemeClr val="dk1"/>
                </a:solidFill>
                <a:latin typeface="Abyssinica SIL"/>
                <a:ea typeface="Abyssinica SIL"/>
                <a:cs typeface="Abyssinica SIL"/>
                <a:sym typeface="Abyssinica SIL"/>
              </a:rPr>
              <a:t>Gedit</a:t>
            </a:r>
            <a:endParaRPr b="1" sz="3200">
              <a:solidFill>
                <a:schemeClr val="dk1"/>
              </a:solidFill>
              <a:latin typeface="Abyssinica SIL"/>
              <a:ea typeface="Abyssinica SIL"/>
              <a:cs typeface="Abyssinica SIL"/>
              <a:sym typeface="Abyssinica SIL"/>
            </a:endParaRPr>
          </a:p>
        </p:txBody>
      </p:sp>
      <p:sp>
        <p:nvSpPr>
          <p:cNvPr id="322" name="Google Shape;322;p16"/>
          <p:cNvSpPr txBox="1"/>
          <p:nvPr>
            <p:ph type="title"/>
          </p:nvPr>
        </p:nvSpPr>
        <p:spPr>
          <a:xfrm>
            <a:off x="2015976" y="-36587"/>
            <a:ext cx="6192688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4000">
                <a:solidFill>
                  <a:srgbClr val="0070C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Javascript Editors &amp; IDE</a:t>
            </a:r>
            <a:endParaRPr/>
          </a:p>
        </p:txBody>
      </p:sp>
      <p:sp>
        <p:nvSpPr>
          <p:cNvPr id="323" name="Google Shape;323;p16"/>
          <p:cNvSpPr/>
          <p:nvPr/>
        </p:nvSpPr>
        <p:spPr>
          <a:xfrm>
            <a:off x="72000" y="7200000"/>
            <a:ext cx="2016000" cy="28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100">
                <a:solidFill>
                  <a:srgbClr val="DDDDDD"/>
                </a:solidFill>
                <a:latin typeface="Lobster Two"/>
                <a:ea typeface="Lobster Two"/>
                <a:cs typeface="Lobster Two"/>
                <a:sym typeface="Lobster Two"/>
              </a:rPr>
              <a:t>Faizah Aplop CSF3107/2016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0040" y="1335600"/>
            <a:ext cx="6155280" cy="345132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30" name="Google Shape;330;p17"/>
          <p:cNvSpPr/>
          <p:nvPr/>
        </p:nvSpPr>
        <p:spPr>
          <a:xfrm>
            <a:off x="503640" y="167760"/>
            <a:ext cx="9071280" cy="100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0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First JavaScript Program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3443760" y="7007040"/>
            <a:ext cx="3191040" cy="40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7"/>
          <p:cNvSpPr/>
          <p:nvPr/>
        </p:nvSpPr>
        <p:spPr>
          <a:xfrm>
            <a:off x="7223760" y="7007040"/>
            <a:ext cx="2351160" cy="40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7"/>
          <p:cNvSpPr/>
          <p:nvPr/>
        </p:nvSpPr>
        <p:spPr>
          <a:xfrm>
            <a:off x="504000" y="7007040"/>
            <a:ext cx="235116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©MohamadNor 2015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4" name="Google Shape;334;p17"/>
          <p:cNvCxnSpPr/>
          <p:nvPr/>
        </p:nvCxnSpPr>
        <p:spPr>
          <a:xfrm flipH="1">
            <a:off x="6715440" y="2855880"/>
            <a:ext cx="1847160" cy="923400"/>
          </a:xfrm>
          <a:prstGeom prst="straightConnector1">
            <a:avLst/>
          </a:prstGeom>
          <a:noFill/>
          <a:ln cap="flat" cmpd="sng" w="3815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35" name="Google Shape;335;p17"/>
          <p:cNvSpPr/>
          <p:nvPr/>
        </p:nvSpPr>
        <p:spPr>
          <a:xfrm>
            <a:off x="8063640" y="2352240"/>
            <a:ext cx="1511280" cy="70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99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JavaScript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8"/>
          <p:cNvSpPr/>
          <p:nvPr/>
        </p:nvSpPr>
        <p:spPr>
          <a:xfrm>
            <a:off x="900000" y="2088000"/>
            <a:ext cx="7344000" cy="2160000"/>
          </a:xfrm>
          <a:prstGeom prst="rect">
            <a:avLst/>
          </a:prstGeom>
          <a:solidFill>
            <a:srgbClr val="FFFF66"/>
          </a:solidFill>
          <a:ln cap="flat" cmpd="sng" w="9525">
            <a:solidFill>
              <a:srgbClr val="C500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&lt;HTML&gt;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&lt;BODY&gt;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&lt;SCRIPT language =”JavaScript”&gt;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Document.write(“Hello JavaScript coder!”);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&lt;/SCRIPT&gt;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&lt;/BODY&gt;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&lt;/HTML&gt;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8"/>
          <p:cNvSpPr/>
          <p:nvPr/>
        </p:nvSpPr>
        <p:spPr>
          <a:xfrm>
            <a:off x="36000" y="7200000"/>
            <a:ext cx="2016000" cy="28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rgbClr val="DDDDDD"/>
                </a:solidFill>
                <a:latin typeface="Lobster Two"/>
                <a:ea typeface="Lobster Two"/>
                <a:cs typeface="Lobster Two"/>
                <a:sym typeface="Lobster Two"/>
              </a:rPr>
              <a:t>Faizah Aplop CSF3107/2016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9"/>
          <p:cNvSpPr/>
          <p:nvPr/>
        </p:nvSpPr>
        <p:spPr>
          <a:xfrm>
            <a:off x="1368000" y="2484000"/>
            <a:ext cx="4536000" cy="2520000"/>
          </a:xfrm>
          <a:prstGeom prst="rect">
            <a:avLst/>
          </a:prstGeom>
          <a:solidFill>
            <a:srgbClr val="FFFF66"/>
          </a:solidFill>
          <a:ln cap="flat" cmpd="sng" w="9525">
            <a:solidFill>
              <a:srgbClr val="C500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&lt;HTML&gt;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&lt;BODY&gt;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&lt;SCRIPT language =”JavaScript1.2”&gt;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C5000B"/>
                </a:solidFill>
                <a:latin typeface="Arial"/>
                <a:ea typeface="Arial"/>
                <a:cs typeface="Arial"/>
                <a:sym typeface="Arial"/>
              </a:rPr>
              <a:t>&lt;!--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CA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JavaScript code here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C5000B"/>
                </a:solidFill>
                <a:latin typeface="Arial"/>
                <a:ea typeface="Arial"/>
                <a:cs typeface="Arial"/>
                <a:sym typeface="Arial"/>
              </a:rPr>
              <a:t>//--&gt;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&lt;/SCRIPT&gt;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&lt;/BODY&gt;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&lt;/HTML&gt;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9"/>
          <p:cNvSpPr/>
          <p:nvPr/>
        </p:nvSpPr>
        <p:spPr>
          <a:xfrm>
            <a:off x="36000" y="7200000"/>
            <a:ext cx="2016000" cy="28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rgbClr val="DDDDDD"/>
                </a:solidFill>
                <a:latin typeface="Lobster Two"/>
                <a:ea typeface="Lobster Two"/>
                <a:cs typeface="Lobster Two"/>
                <a:sym typeface="Lobster Two"/>
              </a:rPr>
              <a:t>Faizah Aplop CSF3107/2016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C9FCB"/>
            </a:gs>
            <a:gs pos="13000">
              <a:srgbClr val="F8B049"/>
            </a:gs>
            <a:gs pos="21001">
              <a:srgbClr val="F8B049"/>
            </a:gs>
            <a:gs pos="63000">
              <a:srgbClr val="FEE7F2"/>
            </a:gs>
            <a:gs pos="67000">
              <a:srgbClr val="F952A0"/>
            </a:gs>
            <a:gs pos="69000">
              <a:srgbClr val="C50849"/>
            </a:gs>
            <a:gs pos="71000">
              <a:srgbClr val="B43E85"/>
            </a:gs>
            <a:gs pos="100000">
              <a:srgbClr val="F8B049"/>
            </a:gs>
          </a:gsLst>
          <a:lin ang="5400000" scaled="0"/>
        </a:gra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0"/>
          <p:cNvSpPr txBox="1"/>
          <p:nvPr/>
        </p:nvSpPr>
        <p:spPr>
          <a:xfrm>
            <a:off x="1367904" y="827509"/>
            <a:ext cx="7560840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8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 TYPES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8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&amp;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8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STRING LITERALS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1"/>
          <p:cNvSpPr/>
          <p:nvPr/>
        </p:nvSpPr>
        <p:spPr>
          <a:xfrm>
            <a:off x="504000" y="167760"/>
            <a:ext cx="9071280" cy="100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2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Data Types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1"/>
          <p:cNvSpPr/>
          <p:nvPr/>
        </p:nvSpPr>
        <p:spPr>
          <a:xfrm>
            <a:off x="3527640" y="6971760"/>
            <a:ext cx="3191040" cy="40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1"/>
          <p:cNvSpPr/>
          <p:nvPr/>
        </p:nvSpPr>
        <p:spPr>
          <a:xfrm>
            <a:off x="504000" y="7007040"/>
            <a:ext cx="235116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©MohamadNor 2015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1"/>
          <p:cNvSpPr/>
          <p:nvPr/>
        </p:nvSpPr>
        <p:spPr>
          <a:xfrm>
            <a:off x="419760" y="1175400"/>
            <a:ext cx="9323280" cy="292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1524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Char char="•"/>
            </a:pPr>
            <a:r>
              <a:rPr b="1" lang="en-CA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Primitive Data Types</a:t>
            </a:r>
            <a:endParaRPr b="1" sz="1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2" marL="12573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❑"/>
            </a:pPr>
            <a:r>
              <a:rPr b="1" i="0" lang="en-CA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Numeric -&gt; integer &amp; floating numbers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2" marL="12573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❑"/>
            </a:pPr>
            <a:r>
              <a:rPr b="1" i="0" lang="en-CA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2" marL="12573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❑"/>
            </a:pPr>
            <a:r>
              <a:rPr b="1" i="0" lang="en-CA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Boolean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1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Char char="•"/>
            </a:pPr>
            <a:r>
              <a:rPr b="1" lang="en-CA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Two special data types</a:t>
            </a:r>
            <a:endParaRPr sz="1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2" marL="12573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Courier New"/>
              <a:buChar char="o"/>
            </a:pPr>
            <a:r>
              <a:rPr b="1" i="0" lang="en-CA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2" marL="12573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Courier New"/>
              <a:buChar char="o"/>
            </a:pPr>
            <a:r>
              <a:rPr b="1" i="0" lang="en-CA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undefined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1" name="Google Shape;36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6000" y="4104000"/>
            <a:ext cx="5348880" cy="235116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362" name="Google Shape;362;p21"/>
          <p:cNvSpPr/>
          <p:nvPr/>
        </p:nvSpPr>
        <p:spPr>
          <a:xfrm>
            <a:off x="1763640" y="6635880"/>
            <a:ext cx="7811280" cy="33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CA" sz="14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		Source: Quigley, E. (2012) ,JavaScript by Example.- 2nd Edition.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2"/>
          <p:cNvSpPr/>
          <p:nvPr/>
        </p:nvSpPr>
        <p:spPr>
          <a:xfrm>
            <a:off x="504000" y="167760"/>
            <a:ext cx="9070920" cy="100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2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String Literals and Quoting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2"/>
          <p:cNvSpPr/>
          <p:nvPr/>
        </p:nvSpPr>
        <p:spPr>
          <a:xfrm>
            <a:off x="3527640" y="6971760"/>
            <a:ext cx="3191040" cy="40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2"/>
          <p:cNvSpPr/>
          <p:nvPr/>
        </p:nvSpPr>
        <p:spPr>
          <a:xfrm>
            <a:off x="7223760" y="7007040"/>
            <a:ext cx="2351160" cy="40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2"/>
          <p:cNvSpPr/>
          <p:nvPr/>
        </p:nvSpPr>
        <p:spPr>
          <a:xfrm>
            <a:off x="504000" y="7007040"/>
            <a:ext cx="235116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©MohamadNor 2015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2"/>
          <p:cNvSpPr/>
          <p:nvPr/>
        </p:nvSpPr>
        <p:spPr>
          <a:xfrm>
            <a:off x="419760" y="1175400"/>
            <a:ext cx="932328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1524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/>
              <a:buChar char="•"/>
            </a:pPr>
            <a:r>
              <a:rPr b="1" lang="en-CA" sz="2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String literals</a:t>
            </a: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rows of characters enclosed in either double or single quotes.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quotes must be matched.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Examples;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1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✔"/>
            </a:pPr>
            <a:r>
              <a:rPr b="1" i="0" lang="en-CA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“This is Kuala Terengganu”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1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✔"/>
            </a:pPr>
            <a:r>
              <a:rPr b="1" i="0" lang="en-CA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‘This is another  Kuala Terengganu’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1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✔"/>
            </a:pPr>
            <a:r>
              <a:rPr b="1" i="0" lang="en-CA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“This is also ‘Kuala Terengganu’ ”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1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✔"/>
            </a:pPr>
            <a:r>
              <a:rPr b="1" i="0" lang="en-CA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‘This is “Kuala Terengganu” ’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Empty set of quotes is called </a:t>
            </a:r>
            <a:r>
              <a:rPr b="1" lang="en-CA" sz="2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null string</a:t>
            </a: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number enclosed in quotes, is consider a string. E.g. “8”, whereas 8 is number.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3"/>
          <p:cNvSpPr/>
          <p:nvPr/>
        </p:nvSpPr>
        <p:spPr>
          <a:xfrm>
            <a:off x="503640" y="167760"/>
            <a:ext cx="9071280" cy="100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2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Escape Sequences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3"/>
          <p:cNvSpPr/>
          <p:nvPr/>
        </p:nvSpPr>
        <p:spPr>
          <a:xfrm>
            <a:off x="3527640" y="6971760"/>
            <a:ext cx="3191040" cy="40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3"/>
          <p:cNvSpPr/>
          <p:nvPr/>
        </p:nvSpPr>
        <p:spPr>
          <a:xfrm>
            <a:off x="7223760" y="7007040"/>
            <a:ext cx="2351160" cy="40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3"/>
          <p:cNvSpPr/>
          <p:nvPr/>
        </p:nvSpPr>
        <p:spPr>
          <a:xfrm>
            <a:off x="504000" y="7007040"/>
            <a:ext cx="235116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©MohamadNor 2015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3"/>
          <p:cNvSpPr/>
          <p:nvPr/>
        </p:nvSpPr>
        <p:spPr>
          <a:xfrm>
            <a:off x="419760" y="1175400"/>
            <a:ext cx="9323280" cy="90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1524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String can contains escape sequences (a single characters preceded with backslash).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1" name="Google Shape;38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3880" y="3832200"/>
            <a:ext cx="6887160" cy="2466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5200" y="2351880"/>
            <a:ext cx="6855480" cy="156348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23"/>
          <p:cNvSpPr/>
          <p:nvPr/>
        </p:nvSpPr>
        <p:spPr>
          <a:xfrm>
            <a:off x="1343880" y="6551640"/>
            <a:ext cx="7811280" cy="33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CA" sz="14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		Source: Quigley, E. (2012), JavaScript by Example – 2</a:t>
            </a:r>
            <a:r>
              <a:rPr b="1" baseline="30000" i="1" lang="en-CA" sz="14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nd</a:t>
            </a:r>
            <a:r>
              <a:rPr b="1" i="1" lang="en-CA" sz="14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 Edition.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Google Shape;38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640" y="1259640"/>
            <a:ext cx="7853400" cy="496548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89" name="Google Shape;389;p24"/>
          <p:cNvSpPr/>
          <p:nvPr/>
        </p:nvSpPr>
        <p:spPr>
          <a:xfrm>
            <a:off x="504000" y="0"/>
            <a:ext cx="9070920" cy="100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2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Example Escape Sequences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4"/>
          <p:cNvSpPr/>
          <p:nvPr/>
        </p:nvSpPr>
        <p:spPr>
          <a:xfrm>
            <a:off x="3443760" y="7007040"/>
            <a:ext cx="3191040" cy="40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4"/>
          <p:cNvSpPr/>
          <p:nvPr/>
        </p:nvSpPr>
        <p:spPr>
          <a:xfrm>
            <a:off x="504000" y="7007040"/>
            <a:ext cx="235116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©MohamadNor 2015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4"/>
          <p:cNvSpPr/>
          <p:nvPr/>
        </p:nvSpPr>
        <p:spPr>
          <a:xfrm>
            <a:off x="4703400" y="3527640"/>
            <a:ext cx="142704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5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Line 1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3" name="Google Shape;393;p24"/>
          <p:cNvCxnSpPr/>
          <p:nvPr/>
        </p:nvCxnSpPr>
        <p:spPr>
          <a:xfrm>
            <a:off x="2855880" y="3715920"/>
            <a:ext cx="2267280" cy="360"/>
          </a:xfrm>
          <a:prstGeom prst="straightConnector1">
            <a:avLst/>
          </a:prstGeom>
          <a:noFill/>
          <a:ln cap="flat" cmpd="sng" w="1907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94" name="Google Shape;394;p24"/>
          <p:cNvSpPr/>
          <p:nvPr/>
        </p:nvSpPr>
        <p:spPr>
          <a:xfrm>
            <a:off x="5543640" y="4011480"/>
            <a:ext cx="142704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5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Line 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5" name="Google Shape;395;p24"/>
          <p:cNvCxnSpPr/>
          <p:nvPr/>
        </p:nvCxnSpPr>
        <p:spPr>
          <a:xfrm>
            <a:off x="3695760" y="4199760"/>
            <a:ext cx="2267280" cy="360"/>
          </a:xfrm>
          <a:prstGeom prst="straightConnector1">
            <a:avLst/>
          </a:prstGeom>
          <a:noFill/>
          <a:ln cap="flat" cmpd="sng" w="1907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96" name="Google Shape;396;p24"/>
          <p:cNvSpPr/>
          <p:nvPr/>
        </p:nvSpPr>
        <p:spPr>
          <a:xfrm>
            <a:off x="8567640" y="4263480"/>
            <a:ext cx="142704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5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Line 3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7" name="Google Shape;397;p24"/>
          <p:cNvCxnSpPr/>
          <p:nvPr/>
        </p:nvCxnSpPr>
        <p:spPr>
          <a:xfrm>
            <a:off x="7223760" y="4451760"/>
            <a:ext cx="1773360" cy="360"/>
          </a:xfrm>
          <a:prstGeom prst="straightConnector1">
            <a:avLst/>
          </a:prstGeom>
          <a:noFill/>
          <a:ln cap="flat" cmpd="sng" w="1907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98" name="Google Shape;398;p24"/>
          <p:cNvSpPr/>
          <p:nvPr/>
        </p:nvSpPr>
        <p:spPr>
          <a:xfrm>
            <a:off x="8567640" y="4451760"/>
            <a:ext cx="142704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5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Line 4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9" name="Google Shape;399;p24"/>
          <p:cNvCxnSpPr/>
          <p:nvPr/>
        </p:nvCxnSpPr>
        <p:spPr>
          <a:xfrm>
            <a:off x="8273880" y="4640040"/>
            <a:ext cx="713160" cy="360"/>
          </a:xfrm>
          <a:prstGeom prst="straightConnector1">
            <a:avLst/>
          </a:prstGeom>
          <a:noFill/>
          <a:ln cap="flat" cmpd="sng" w="1907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00" name="Google Shape;400;p24"/>
          <p:cNvSpPr/>
          <p:nvPr/>
        </p:nvSpPr>
        <p:spPr>
          <a:xfrm>
            <a:off x="8735400" y="4703760"/>
            <a:ext cx="142704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5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Line 5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1" name="Google Shape;401;p24"/>
          <p:cNvCxnSpPr/>
          <p:nvPr/>
        </p:nvCxnSpPr>
        <p:spPr>
          <a:xfrm>
            <a:off x="8483760" y="4892040"/>
            <a:ext cx="691920" cy="360"/>
          </a:xfrm>
          <a:prstGeom prst="straightConnector1">
            <a:avLst/>
          </a:prstGeom>
          <a:noFill/>
          <a:ln cap="flat" cmpd="sng" w="1907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5"/>
          <p:cNvSpPr txBox="1"/>
          <p:nvPr/>
        </p:nvSpPr>
        <p:spPr>
          <a:xfrm>
            <a:off x="559440" y="897480"/>
            <a:ext cx="8872560" cy="5798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1524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b="1" lang="en-CA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Line 1</a:t>
            </a: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escape sequences </a:t>
            </a:r>
            <a:r>
              <a:rPr b="1" lang="en-CA" sz="2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ONLY</a:t>
            </a: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work If in a </a:t>
            </a:r>
            <a:r>
              <a:rPr b="1" i="1" lang="en-CA" sz="2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&lt;pre&gt;</a:t>
            </a:r>
            <a:r>
              <a:rPr b="1" i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 or an alert dialog box</a:t>
            </a:r>
            <a:r>
              <a:rPr b="1" lang="en-CA" sz="24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b="1" lang="en-CA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Line 2</a:t>
            </a: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JavaScript program start here.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b="1" lang="en-CA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Line 3 </a:t>
            </a: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The </a:t>
            </a:r>
            <a:r>
              <a:rPr b="1" i="1" lang="en-CA" sz="2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write()</a:t>
            </a:r>
            <a:r>
              <a:rPr b="1" lang="en-CA" sz="2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methods send to browser a string containing 2 tabs </a:t>
            </a:r>
            <a:r>
              <a:rPr b="1" i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(\t\t), </a:t>
            </a: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Hello a newline </a:t>
            </a:r>
            <a:r>
              <a:rPr b="1" i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(\n)</a:t>
            </a: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World…..!, and another newline </a:t>
            </a:r>
            <a:r>
              <a:rPr b="1" i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(\n)</a:t>
            </a: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b="1" lang="en-CA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Line 4 </a:t>
            </a: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The </a:t>
            </a:r>
            <a:r>
              <a:rPr b="1" i="1" lang="en-CA" sz="2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writeln()</a:t>
            </a: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methods send to browser a string containing a double quote </a:t>
            </a:r>
            <a:r>
              <a:rPr b="1" i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(\”), Welcome to Kuala Terengganu, </a:t>
            </a: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another double quote </a:t>
            </a:r>
            <a:r>
              <a:rPr b="1" i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(\”), </a:t>
            </a: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a newline</a:t>
            </a:r>
            <a:r>
              <a:rPr b="1" i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(\n)</a:t>
            </a: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b="1" lang="en-CA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Line 5</a:t>
            </a: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The string contains a backslash sequence that will be translated into Unicode hexadecimal character 263a is preceded by a </a:t>
            </a:r>
            <a:r>
              <a:rPr b="1" i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\u</a:t>
            </a: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5"/>
          <p:cNvSpPr/>
          <p:nvPr/>
        </p:nvSpPr>
        <p:spPr>
          <a:xfrm>
            <a:off x="3079440" y="7086600"/>
            <a:ext cx="3191040" cy="40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5"/>
          <p:cNvSpPr/>
          <p:nvPr/>
        </p:nvSpPr>
        <p:spPr>
          <a:xfrm>
            <a:off x="139680" y="7086600"/>
            <a:ext cx="235116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©MohamadNor 2015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6"/>
          <p:cNvSpPr/>
          <p:nvPr/>
        </p:nvSpPr>
        <p:spPr>
          <a:xfrm>
            <a:off x="419400" y="83880"/>
            <a:ext cx="9071280" cy="100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2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Output for Escape Sequences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6"/>
          <p:cNvSpPr/>
          <p:nvPr/>
        </p:nvSpPr>
        <p:spPr>
          <a:xfrm>
            <a:off x="3443760" y="7007040"/>
            <a:ext cx="3191040" cy="40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6"/>
          <p:cNvSpPr/>
          <p:nvPr/>
        </p:nvSpPr>
        <p:spPr>
          <a:xfrm>
            <a:off x="7223760" y="7007040"/>
            <a:ext cx="2351160" cy="40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6"/>
          <p:cNvSpPr/>
          <p:nvPr/>
        </p:nvSpPr>
        <p:spPr>
          <a:xfrm>
            <a:off x="504000" y="7007040"/>
            <a:ext cx="235116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©MohamadNor 2015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7" name="Google Shape;41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4880" y="1879200"/>
            <a:ext cx="6446160" cy="374796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7"/>
          <p:cNvSpPr/>
          <p:nvPr/>
        </p:nvSpPr>
        <p:spPr>
          <a:xfrm>
            <a:off x="503640" y="0"/>
            <a:ext cx="9071280" cy="100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2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Putting String Together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27"/>
          <p:cNvSpPr/>
          <p:nvPr/>
        </p:nvSpPr>
        <p:spPr>
          <a:xfrm>
            <a:off x="3527640" y="6971760"/>
            <a:ext cx="3191040" cy="40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27"/>
          <p:cNvSpPr/>
          <p:nvPr/>
        </p:nvSpPr>
        <p:spPr>
          <a:xfrm>
            <a:off x="504000" y="7007040"/>
            <a:ext cx="235116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©MohamadNor 2015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5" name="Google Shape;42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3760" y="923760"/>
            <a:ext cx="5994720" cy="369504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760" y="3278520"/>
            <a:ext cx="9774720" cy="354816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31" name="Google Shape;431;p28"/>
          <p:cNvSpPr/>
          <p:nvPr/>
        </p:nvSpPr>
        <p:spPr>
          <a:xfrm>
            <a:off x="503640" y="167760"/>
            <a:ext cx="9071280" cy="839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CA" sz="3200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typeof</a:t>
            </a:r>
            <a:r>
              <a:rPr b="1" i="1" lang="en-CA" sz="32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1" lang="en-CA" sz="32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Operator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28"/>
          <p:cNvSpPr/>
          <p:nvPr/>
        </p:nvSpPr>
        <p:spPr>
          <a:xfrm>
            <a:off x="3527640" y="6971760"/>
            <a:ext cx="3191040" cy="40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28"/>
          <p:cNvSpPr/>
          <p:nvPr/>
        </p:nvSpPr>
        <p:spPr>
          <a:xfrm>
            <a:off x="7223760" y="7007040"/>
            <a:ext cx="2351160" cy="40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8"/>
          <p:cNvSpPr/>
          <p:nvPr/>
        </p:nvSpPr>
        <p:spPr>
          <a:xfrm>
            <a:off x="504000" y="7007040"/>
            <a:ext cx="235116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©MohamadNor 2015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8"/>
          <p:cNvSpPr/>
          <p:nvPr/>
        </p:nvSpPr>
        <p:spPr>
          <a:xfrm>
            <a:off x="419400" y="923760"/>
            <a:ext cx="9323280" cy="838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Return a string to identify the type of its operand (i.e., a variable, string, keyword or object).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C9FCB"/>
            </a:gs>
            <a:gs pos="13000">
              <a:srgbClr val="F8B049"/>
            </a:gs>
            <a:gs pos="21001">
              <a:srgbClr val="F8B049"/>
            </a:gs>
            <a:gs pos="63000">
              <a:srgbClr val="FEE7F2"/>
            </a:gs>
            <a:gs pos="67000">
              <a:srgbClr val="F952A0"/>
            </a:gs>
            <a:gs pos="69000">
              <a:srgbClr val="C50849"/>
            </a:gs>
            <a:gs pos="71000">
              <a:srgbClr val="B43E85"/>
            </a:gs>
            <a:gs pos="100000">
              <a:srgbClr val="F8B049"/>
            </a:gs>
          </a:gsLst>
          <a:lin ang="5400000" scaled="0"/>
        </a:gra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9"/>
          <p:cNvSpPr txBox="1"/>
          <p:nvPr/>
        </p:nvSpPr>
        <p:spPr>
          <a:xfrm>
            <a:off x="1799952" y="2549311"/>
            <a:ext cx="712879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8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Variables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0"/>
          <p:cNvSpPr/>
          <p:nvPr/>
        </p:nvSpPr>
        <p:spPr>
          <a:xfrm>
            <a:off x="3443760" y="7007040"/>
            <a:ext cx="3191040" cy="40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30"/>
          <p:cNvSpPr/>
          <p:nvPr/>
        </p:nvSpPr>
        <p:spPr>
          <a:xfrm>
            <a:off x="7223760" y="7007040"/>
            <a:ext cx="2351160" cy="40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30"/>
          <p:cNvSpPr/>
          <p:nvPr/>
        </p:nvSpPr>
        <p:spPr>
          <a:xfrm>
            <a:off x="504000" y="7007040"/>
            <a:ext cx="235116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©MohamadNor 2015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30"/>
          <p:cNvSpPr/>
          <p:nvPr/>
        </p:nvSpPr>
        <p:spPr>
          <a:xfrm>
            <a:off x="504000" y="923760"/>
            <a:ext cx="9071280" cy="25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99"/>
              </a:buClr>
              <a:buSzPts val="2400"/>
              <a:buFont typeface="Arial"/>
              <a:buChar char="•"/>
            </a:pPr>
            <a:r>
              <a:rPr b="1" i="1" lang="en-CA" sz="2400">
                <a:solidFill>
                  <a:srgbClr val="FF3399"/>
                </a:solidFill>
                <a:latin typeface="Arial"/>
                <a:ea typeface="Arial"/>
                <a:cs typeface="Arial"/>
                <a:sym typeface="Arial"/>
              </a:rPr>
              <a:t>var num1;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99"/>
              </a:buClr>
              <a:buSzPts val="2400"/>
              <a:buFont typeface="Arial"/>
              <a:buChar char="•"/>
            </a:pPr>
            <a:r>
              <a:rPr b="1" i="1" lang="en-CA" sz="2400">
                <a:solidFill>
                  <a:srgbClr val="FF3399"/>
                </a:solidFill>
                <a:latin typeface="Arial"/>
                <a:ea typeface="Arial"/>
                <a:cs typeface="Arial"/>
                <a:sym typeface="Arial"/>
              </a:rPr>
              <a:t>var town;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99"/>
              </a:buClr>
              <a:buSzPts val="2400"/>
              <a:buFont typeface="Arial"/>
              <a:buChar char="•"/>
            </a:pPr>
            <a:r>
              <a:rPr b="1" i="1" lang="en-CA" sz="2400">
                <a:solidFill>
                  <a:srgbClr val="FF3399"/>
                </a:solidFill>
                <a:latin typeface="Arial"/>
                <a:ea typeface="Arial"/>
                <a:cs typeface="Arial"/>
                <a:sym typeface="Arial"/>
              </a:rPr>
              <a:t>var x1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99"/>
              </a:buClr>
              <a:buSzPts val="2400"/>
              <a:buFont typeface="Arial"/>
              <a:buChar char="•"/>
            </a:pPr>
            <a:r>
              <a:rPr b="1" i="1" lang="en-CA" sz="2400">
                <a:solidFill>
                  <a:srgbClr val="FF3399"/>
                </a:solidFill>
                <a:latin typeface="Arial"/>
                <a:ea typeface="Arial"/>
                <a:cs typeface="Arial"/>
                <a:sym typeface="Arial"/>
              </a:rPr>
              <a:t>num1 = 8;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99"/>
              </a:buClr>
              <a:buSzPts val="2400"/>
              <a:buFont typeface="Arial"/>
              <a:buChar char="•"/>
            </a:pPr>
            <a:r>
              <a:rPr b="1" i="1" lang="en-CA" sz="2400">
                <a:solidFill>
                  <a:srgbClr val="FF3399"/>
                </a:solidFill>
                <a:latin typeface="Arial"/>
                <a:ea typeface="Arial"/>
                <a:cs typeface="Arial"/>
                <a:sym typeface="Arial"/>
              </a:rPr>
              <a:t>town = “Kuala Terengganu”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99"/>
              </a:buClr>
              <a:buSzPts val="2400"/>
              <a:buFont typeface="Arial"/>
              <a:buChar char="•"/>
            </a:pPr>
            <a:r>
              <a:rPr b="1" i="1" lang="en-CA" sz="2400">
                <a:solidFill>
                  <a:srgbClr val="FF3399"/>
                </a:solidFill>
                <a:latin typeface="Arial"/>
                <a:ea typeface="Arial"/>
                <a:cs typeface="Arial"/>
                <a:sym typeface="Arial"/>
              </a:rPr>
              <a:t>x1 = 5.46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9" name="Google Shape;44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6000" y="3780000"/>
            <a:ext cx="5794920" cy="261576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450" name="Google Shape;450;p30"/>
          <p:cNvSpPr/>
          <p:nvPr/>
        </p:nvSpPr>
        <p:spPr>
          <a:xfrm>
            <a:off x="1931400" y="6380280"/>
            <a:ext cx="7811280" cy="33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CA" sz="15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Source: Quigley, E. (2012), JavaScript by Example- 2</a:t>
            </a:r>
            <a:r>
              <a:rPr b="1" baseline="30000" i="1" lang="en-CA" sz="15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Nd </a:t>
            </a:r>
            <a:r>
              <a:rPr b="1" i="1" lang="en-CA" sz="15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Edition.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1"/>
          <p:cNvSpPr/>
          <p:nvPr/>
        </p:nvSpPr>
        <p:spPr>
          <a:xfrm>
            <a:off x="288000" y="720000"/>
            <a:ext cx="9432000" cy="360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9525">
            <a:solidFill>
              <a:srgbClr val="C500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1"/>
          <p:cNvSpPr txBox="1"/>
          <p:nvPr/>
        </p:nvSpPr>
        <p:spPr>
          <a:xfrm>
            <a:off x="648000" y="864360"/>
            <a:ext cx="8784000" cy="349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77216F"/>
                </a:solidFill>
                <a:latin typeface="Arial"/>
                <a:ea typeface="Arial"/>
                <a:cs typeface="Arial"/>
                <a:sym typeface="Arial"/>
              </a:rPr>
              <a:t>var</a:t>
            </a:r>
            <a:r>
              <a:rPr b="1" lang="en-CA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length = </a:t>
            </a:r>
            <a:r>
              <a:rPr b="1" lang="en-CA" sz="2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r>
              <a:rPr b="1" lang="en-CA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                               		</a:t>
            </a:r>
            <a:r>
              <a:rPr b="1" lang="en-CA" sz="2400">
                <a:solidFill>
                  <a:srgbClr val="009933"/>
                </a:solidFill>
                <a:latin typeface="Arial"/>
                <a:ea typeface="Arial"/>
                <a:cs typeface="Arial"/>
                <a:sym typeface="Arial"/>
              </a:rPr>
              <a:t>// Number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77216F"/>
                </a:solidFill>
                <a:latin typeface="Arial"/>
                <a:ea typeface="Arial"/>
                <a:cs typeface="Arial"/>
                <a:sym typeface="Arial"/>
              </a:rPr>
              <a:t>var</a:t>
            </a:r>
            <a:r>
              <a:rPr b="1" lang="en-CA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lastName = </a:t>
            </a:r>
            <a:r>
              <a:rPr b="1" lang="en-CA" sz="24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"Johnson"</a:t>
            </a:r>
            <a:r>
              <a:rPr b="1" lang="en-CA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                		</a:t>
            </a:r>
            <a:r>
              <a:rPr b="1" lang="en-CA" sz="2400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rPr>
              <a:t>// String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77216F"/>
                </a:solidFill>
                <a:latin typeface="Arial"/>
                <a:ea typeface="Arial"/>
                <a:cs typeface="Arial"/>
                <a:sym typeface="Arial"/>
              </a:rPr>
              <a:t>var</a:t>
            </a:r>
            <a:r>
              <a:rPr b="1" lang="en-CA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cars = [</a:t>
            </a:r>
            <a:r>
              <a:rPr b="1" lang="en-CA" sz="24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"Saab", "Volvo", "BMW"</a:t>
            </a:r>
            <a:r>
              <a:rPr b="1" lang="en-CA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];   	</a:t>
            </a:r>
            <a:r>
              <a:rPr b="1" lang="en-CA" sz="2400">
                <a:solidFill>
                  <a:srgbClr val="009933"/>
                </a:solidFill>
                <a:latin typeface="Arial"/>
                <a:ea typeface="Arial"/>
                <a:cs typeface="Arial"/>
                <a:sym typeface="Arial"/>
              </a:rPr>
              <a:t>// Array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77216F"/>
                </a:solidFill>
                <a:latin typeface="Arial"/>
                <a:ea typeface="Arial"/>
                <a:cs typeface="Arial"/>
                <a:sym typeface="Arial"/>
              </a:rPr>
              <a:t>var</a:t>
            </a:r>
            <a:r>
              <a:rPr b="1" lang="en-CA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x = {firstName:</a:t>
            </a:r>
            <a:r>
              <a:rPr b="1" lang="en-CA" sz="24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"John"</a:t>
            </a:r>
            <a:r>
              <a:rPr b="1" lang="en-CA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lastName:</a:t>
            </a:r>
            <a:r>
              <a:rPr b="1" lang="en-CA" sz="24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"Doe"</a:t>
            </a:r>
            <a:r>
              <a:rPr b="1" lang="en-CA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};</a:t>
            </a:r>
            <a:r>
              <a:rPr b="1" lang="en-CA" sz="2400">
                <a:solidFill>
                  <a:srgbClr val="009933"/>
                </a:solidFill>
                <a:latin typeface="Arial"/>
                <a:ea typeface="Arial"/>
                <a:cs typeface="Arial"/>
                <a:sym typeface="Arial"/>
              </a:rPr>
              <a:t>// Object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77216F"/>
                </a:solidFill>
                <a:latin typeface="Arial"/>
                <a:ea typeface="Arial"/>
                <a:cs typeface="Arial"/>
                <a:sym typeface="Arial"/>
              </a:rPr>
              <a:t>var </a:t>
            </a: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=</a:t>
            </a:r>
            <a:r>
              <a:rPr b="1" lang="en-CA" sz="2400">
                <a:solidFill>
                  <a:srgbClr val="77216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CA" sz="2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“ ”</a:t>
            </a: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						</a:t>
            </a:r>
            <a:r>
              <a:rPr b="1" lang="en-CA" sz="2400">
                <a:solidFill>
                  <a:srgbClr val="009933"/>
                </a:solidFill>
                <a:latin typeface="Arial"/>
                <a:ea typeface="Arial"/>
                <a:cs typeface="Arial"/>
                <a:sym typeface="Arial"/>
              </a:rPr>
              <a:t>// Null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77216F"/>
                </a:solidFill>
                <a:latin typeface="Arial"/>
                <a:ea typeface="Arial"/>
                <a:cs typeface="Arial"/>
                <a:sym typeface="Arial"/>
              </a:rPr>
              <a:t>var</a:t>
            </a: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x = </a:t>
            </a:r>
            <a:r>
              <a:rPr b="1" lang="en-CA" sz="2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		  				</a:t>
            </a:r>
            <a:r>
              <a:rPr b="1" lang="en-CA" sz="2400">
                <a:solidFill>
                  <a:srgbClr val="009933"/>
                </a:solidFill>
                <a:latin typeface="Arial"/>
                <a:ea typeface="Arial"/>
                <a:cs typeface="Arial"/>
                <a:sym typeface="Arial"/>
              </a:rPr>
              <a:t>// Booleans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77216F"/>
                </a:solidFill>
                <a:latin typeface="Arial"/>
                <a:ea typeface="Arial"/>
                <a:cs typeface="Arial"/>
                <a:sym typeface="Arial"/>
              </a:rPr>
              <a:t>var</a:t>
            </a: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 = </a:t>
            </a:r>
            <a:r>
              <a:rPr b="1" lang="en-CA" sz="2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31"/>
          <p:cNvSpPr/>
          <p:nvPr/>
        </p:nvSpPr>
        <p:spPr>
          <a:xfrm>
            <a:off x="288360" y="4824000"/>
            <a:ext cx="9432000" cy="2016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9525">
            <a:solidFill>
              <a:srgbClr val="C500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31"/>
          <p:cNvSpPr txBox="1"/>
          <p:nvPr/>
        </p:nvSpPr>
        <p:spPr>
          <a:xfrm>
            <a:off x="648000" y="5016960"/>
            <a:ext cx="76320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77216F"/>
                </a:solidFill>
                <a:latin typeface="Arial"/>
                <a:ea typeface="Arial"/>
                <a:cs typeface="Arial"/>
                <a:sym typeface="Arial"/>
              </a:rPr>
              <a:t>var</a:t>
            </a:r>
            <a:r>
              <a:rPr b="1" lang="en-CA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x;               		</a:t>
            </a:r>
            <a:r>
              <a:rPr b="1" lang="en-CA" sz="2400">
                <a:solidFill>
                  <a:srgbClr val="009933"/>
                </a:solidFill>
                <a:latin typeface="Arial"/>
                <a:ea typeface="Arial"/>
                <a:cs typeface="Arial"/>
                <a:sym typeface="Arial"/>
              </a:rPr>
              <a:t>// x is undefined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77216F"/>
                </a:solidFill>
                <a:latin typeface="Arial"/>
                <a:ea typeface="Arial"/>
                <a:cs typeface="Arial"/>
                <a:sym typeface="Arial"/>
              </a:rPr>
              <a:t>var</a:t>
            </a:r>
            <a:r>
              <a:rPr b="1" lang="en-CA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x = </a:t>
            </a:r>
            <a:r>
              <a:rPr b="1" lang="en-CA" sz="2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1" lang="en-CA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           		</a:t>
            </a:r>
            <a:r>
              <a:rPr b="1" lang="en-CA" sz="2400">
                <a:solidFill>
                  <a:srgbClr val="009933"/>
                </a:solidFill>
                <a:latin typeface="Arial"/>
                <a:ea typeface="Arial"/>
                <a:cs typeface="Arial"/>
                <a:sym typeface="Arial"/>
              </a:rPr>
              <a:t>// Now x is a Number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77216F"/>
                </a:solidFill>
                <a:latin typeface="Arial"/>
                <a:ea typeface="Arial"/>
                <a:cs typeface="Arial"/>
                <a:sym typeface="Arial"/>
              </a:rPr>
              <a:t>var</a:t>
            </a:r>
            <a:r>
              <a:rPr b="1" lang="en-CA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x = </a:t>
            </a:r>
            <a:r>
              <a:rPr b="1" lang="en-CA" sz="2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"John"</a:t>
            </a:r>
            <a:r>
              <a:rPr b="1" lang="en-CA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      		</a:t>
            </a:r>
            <a:r>
              <a:rPr b="1" lang="en-CA" sz="2400">
                <a:solidFill>
                  <a:srgbClr val="009933"/>
                </a:solidFill>
                <a:latin typeface="Arial"/>
                <a:ea typeface="Arial"/>
                <a:cs typeface="Arial"/>
                <a:sym typeface="Arial"/>
              </a:rPr>
              <a:t>// Now x is a String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31"/>
          <p:cNvSpPr txBox="1"/>
          <p:nvPr/>
        </p:nvSpPr>
        <p:spPr>
          <a:xfrm>
            <a:off x="432000" y="230040"/>
            <a:ext cx="1656000" cy="442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Example 1: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31"/>
          <p:cNvSpPr txBox="1"/>
          <p:nvPr/>
        </p:nvSpPr>
        <p:spPr>
          <a:xfrm>
            <a:off x="432000" y="4428000"/>
            <a:ext cx="1728000" cy="442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Example 2: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31"/>
          <p:cNvSpPr/>
          <p:nvPr/>
        </p:nvSpPr>
        <p:spPr>
          <a:xfrm>
            <a:off x="36000" y="7200000"/>
            <a:ext cx="2016000" cy="28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rgbClr val="DDDDDD"/>
                </a:solidFill>
                <a:latin typeface="Lobster Two"/>
                <a:ea typeface="Lobster Two"/>
                <a:cs typeface="Lobster Two"/>
                <a:sym typeface="Lobster Two"/>
              </a:rPr>
              <a:t>Faizah Aplop CSF3107/2016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2"/>
          <p:cNvSpPr/>
          <p:nvPr/>
        </p:nvSpPr>
        <p:spPr>
          <a:xfrm>
            <a:off x="144000" y="1872000"/>
            <a:ext cx="9720000" cy="4104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9525">
            <a:solidFill>
              <a:srgbClr val="C500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32"/>
          <p:cNvSpPr txBox="1"/>
          <p:nvPr/>
        </p:nvSpPr>
        <p:spPr>
          <a:xfrm>
            <a:off x="216000" y="2124000"/>
            <a:ext cx="3938512" cy="349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77216F"/>
                </a:solidFill>
                <a:latin typeface="Arial"/>
                <a:ea typeface="Arial"/>
                <a:cs typeface="Arial"/>
                <a:sym typeface="Arial"/>
              </a:rPr>
              <a:t>typeof </a:t>
            </a:r>
            <a:r>
              <a:rPr b="1" lang="en-CA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undefined         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77216F"/>
                </a:solidFill>
                <a:latin typeface="Arial"/>
                <a:ea typeface="Arial"/>
                <a:cs typeface="Arial"/>
                <a:sym typeface="Arial"/>
              </a:rPr>
              <a:t>typeof</a:t>
            </a:r>
            <a:r>
              <a:rPr b="1" lang="en-CA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1" lang="en-CA" sz="2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r>
              <a:rPr b="1" lang="en-CA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           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r>
              <a:rPr b="1" lang="en-CA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== undefined      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r>
              <a:rPr b="1" lang="en-CA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=== undefined    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77216F"/>
                </a:solidFill>
                <a:latin typeface="Arial"/>
                <a:ea typeface="Arial"/>
                <a:cs typeface="Arial"/>
                <a:sym typeface="Arial"/>
              </a:rPr>
              <a:t>var</a:t>
            </a:r>
            <a:r>
              <a:rPr b="1" lang="en-CA" sz="2400">
                <a:solidFill>
                  <a:srgbClr val="0099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 =</a:t>
            </a:r>
            <a:r>
              <a:rPr b="1" lang="en-CA" sz="2400">
                <a:solidFill>
                  <a:srgbClr val="0099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CA" sz="2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""</a:t>
            </a: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400">
                <a:solidFill>
                  <a:srgbClr val="77216F"/>
                </a:solidFill>
                <a:latin typeface="Arial"/>
                <a:ea typeface="Arial"/>
                <a:cs typeface="Arial"/>
                <a:sym typeface="Arial"/>
              </a:rPr>
              <a:t>var</a:t>
            </a:r>
            <a:r>
              <a:rPr b="1" lang="en-C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person = undefined; 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32"/>
          <p:cNvSpPr txBox="1"/>
          <p:nvPr/>
        </p:nvSpPr>
        <p:spPr>
          <a:xfrm>
            <a:off x="432000" y="1260360"/>
            <a:ext cx="1728000" cy="442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0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Example 3: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32"/>
          <p:cNvSpPr/>
          <p:nvPr/>
        </p:nvSpPr>
        <p:spPr>
          <a:xfrm>
            <a:off x="36000" y="7200000"/>
            <a:ext cx="2016000" cy="28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rgbClr val="DDDDDD"/>
                </a:solidFill>
                <a:latin typeface="Lobster Two"/>
                <a:ea typeface="Lobster Two"/>
                <a:cs typeface="Lobster Two"/>
                <a:sym typeface="Lobster Two"/>
              </a:rPr>
              <a:t>Faizah Aplop CSF3107/2016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32"/>
          <p:cNvSpPr txBox="1"/>
          <p:nvPr/>
        </p:nvSpPr>
        <p:spPr>
          <a:xfrm>
            <a:off x="4248224" y="2124000"/>
            <a:ext cx="20162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009933"/>
                </a:solidFill>
                <a:latin typeface="Arial"/>
                <a:ea typeface="Arial"/>
                <a:cs typeface="Arial"/>
                <a:sym typeface="Arial"/>
              </a:rPr>
              <a:t>// undefined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32"/>
          <p:cNvSpPr txBox="1"/>
          <p:nvPr/>
        </p:nvSpPr>
        <p:spPr>
          <a:xfrm>
            <a:off x="4248224" y="2526153"/>
            <a:ext cx="20162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009933"/>
                </a:solidFill>
                <a:latin typeface="Arial"/>
                <a:ea typeface="Arial"/>
                <a:cs typeface="Arial"/>
                <a:sym typeface="Arial"/>
              </a:rPr>
              <a:t>// object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32"/>
          <p:cNvSpPr txBox="1"/>
          <p:nvPr/>
        </p:nvSpPr>
        <p:spPr>
          <a:xfrm>
            <a:off x="4248224" y="3278532"/>
            <a:ext cx="11535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009933"/>
                </a:solidFill>
                <a:latin typeface="Arial"/>
                <a:ea typeface="Arial"/>
                <a:cs typeface="Arial"/>
                <a:sym typeface="Arial"/>
              </a:rPr>
              <a:t>// false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32"/>
          <p:cNvSpPr txBox="1"/>
          <p:nvPr/>
        </p:nvSpPr>
        <p:spPr>
          <a:xfrm>
            <a:off x="4248224" y="2895485"/>
            <a:ext cx="10081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009933"/>
                </a:solidFill>
                <a:latin typeface="Arial"/>
                <a:ea typeface="Arial"/>
                <a:cs typeface="Arial"/>
                <a:sym typeface="Arial"/>
              </a:rPr>
              <a:t>// true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32"/>
          <p:cNvSpPr txBox="1"/>
          <p:nvPr/>
        </p:nvSpPr>
        <p:spPr>
          <a:xfrm>
            <a:off x="4248224" y="4075255"/>
            <a:ext cx="45365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009933"/>
                </a:solidFill>
                <a:latin typeface="Arial"/>
                <a:ea typeface="Arial"/>
                <a:cs typeface="Arial"/>
                <a:sym typeface="Arial"/>
              </a:rPr>
              <a:t>// Value is undefined, type is undefined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32"/>
          <p:cNvSpPr txBox="1"/>
          <p:nvPr/>
        </p:nvSpPr>
        <p:spPr>
          <a:xfrm>
            <a:off x="4248224" y="3671481"/>
            <a:ext cx="48965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009933"/>
                </a:solidFill>
                <a:latin typeface="Arial"/>
                <a:ea typeface="Arial"/>
                <a:cs typeface="Arial"/>
                <a:sym typeface="Arial"/>
              </a:rPr>
              <a:t>// Value is "", the typeof is string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3"/>
          <p:cNvSpPr/>
          <p:nvPr/>
        </p:nvSpPr>
        <p:spPr>
          <a:xfrm>
            <a:off x="504000" y="0"/>
            <a:ext cx="9071280" cy="839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2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Declaring and Displaying Variables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33"/>
          <p:cNvSpPr/>
          <p:nvPr/>
        </p:nvSpPr>
        <p:spPr>
          <a:xfrm>
            <a:off x="3527640" y="6971760"/>
            <a:ext cx="3191040" cy="40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33"/>
          <p:cNvSpPr/>
          <p:nvPr/>
        </p:nvSpPr>
        <p:spPr>
          <a:xfrm>
            <a:off x="7223760" y="7007040"/>
            <a:ext cx="2351160" cy="40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33"/>
          <p:cNvSpPr/>
          <p:nvPr/>
        </p:nvSpPr>
        <p:spPr>
          <a:xfrm>
            <a:off x="504000" y="7007040"/>
            <a:ext cx="235116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©MohamadNor 2015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4" name="Google Shape;48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2520" y="827640"/>
            <a:ext cx="7832160" cy="429372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C9FCB"/>
            </a:gs>
            <a:gs pos="13000">
              <a:srgbClr val="F8B049"/>
            </a:gs>
            <a:gs pos="21001">
              <a:srgbClr val="F8B049"/>
            </a:gs>
            <a:gs pos="63000">
              <a:srgbClr val="FEE7F2"/>
            </a:gs>
            <a:gs pos="67000">
              <a:srgbClr val="F952A0"/>
            </a:gs>
            <a:gs pos="69000">
              <a:srgbClr val="C50849"/>
            </a:gs>
            <a:gs pos="71000">
              <a:srgbClr val="B43E85"/>
            </a:gs>
            <a:gs pos="100000">
              <a:srgbClr val="F8B049"/>
            </a:gs>
          </a:gsLst>
          <a:lin ang="5400000" scaled="0"/>
        </a:gra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4"/>
          <p:cNvSpPr txBox="1"/>
          <p:nvPr/>
        </p:nvSpPr>
        <p:spPr>
          <a:xfrm>
            <a:off x="1799952" y="2549311"/>
            <a:ext cx="712879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8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CONSTANT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5"/>
          <p:cNvSpPr txBox="1"/>
          <p:nvPr/>
        </p:nvSpPr>
        <p:spPr>
          <a:xfrm>
            <a:off x="3528000" y="6971760"/>
            <a:ext cx="319140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CSF3107-2016@Mohamad Nor Hassan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35"/>
          <p:cNvSpPr/>
          <p:nvPr/>
        </p:nvSpPr>
        <p:spPr>
          <a:xfrm>
            <a:off x="504000" y="840240"/>
            <a:ext cx="8987400" cy="130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CA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value cannot be changed during program execution.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CA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Syntax – </a:t>
            </a:r>
            <a:r>
              <a:rPr i="1" lang="en-CA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const  </a:t>
            </a:r>
            <a:r>
              <a:rPr i="1" lang="en-CA" sz="2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variableName</a:t>
            </a:r>
            <a:r>
              <a:rPr i="1" lang="en-CA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6" name="Google Shape;49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760" y="2301480"/>
            <a:ext cx="9302760" cy="414468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97" name="Google Shape;497;p35"/>
          <p:cNvSpPr txBox="1"/>
          <p:nvPr/>
        </p:nvSpPr>
        <p:spPr>
          <a:xfrm>
            <a:off x="7223760" y="7007040"/>
            <a:ext cx="23518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C9FCB"/>
            </a:gs>
            <a:gs pos="13000">
              <a:srgbClr val="F8B049"/>
            </a:gs>
            <a:gs pos="21001">
              <a:srgbClr val="F8B049"/>
            </a:gs>
            <a:gs pos="63000">
              <a:srgbClr val="FEE7F2"/>
            </a:gs>
            <a:gs pos="67000">
              <a:srgbClr val="F952A0"/>
            </a:gs>
            <a:gs pos="69000">
              <a:srgbClr val="C50849"/>
            </a:gs>
            <a:gs pos="71000">
              <a:srgbClr val="B43E85"/>
            </a:gs>
            <a:gs pos="100000">
              <a:srgbClr val="F8B049"/>
            </a:gs>
          </a:gsLst>
          <a:lin ang="5400000" scaled="0"/>
        </a:gra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6"/>
          <p:cNvSpPr txBox="1"/>
          <p:nvPr/>
        </p:nvSpPr>
        <p:spPr>
          <a:xfrm>
            <a:off x="1799952" y="2549311"/>
            <a:ext cx="712879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8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DIALOG BOX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7"/>
          <p:cNvSpPr txBox="1"/>
          <p:nvPr/>
        </p:nvSpPr>
        <p:spPr>
          <a:xfrm>
            <a:off x="3528000" y="6971760"/>
            <a:ext cx="319140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CSF3107-2016@Mohamad Nor Hassan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37"/>
          <p:cNvSpPr/>
          <p:nvPr/>
        </p:nvSpPr>
        <p:spPr>
          <a:xfrm>
            <a:off x="419760" y="1008000"/>
            <a:ext cx="93236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1524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CA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Purpose of Dialog Box – to interact with user.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37"/>
          <p:cNvSpPr/>
          <p:nvPr/>
        </p:nvSpPr>
        <p:spPr>
          <a:xfrm>
            <a:off x="-3888360" y="1211400"/>
            <a:ext cx="6032520" cy="6032520"/>
          </a:xfrm>
          <a:prstGeom prst="blockArc">
            <a:avLst>
              <a:gd fmla="val 18900000" name="adj1"/>
              <a:gd fmla="val 2700000" name="adj2"/>
              <a:gd fmla="val 395" name="adj3"/>
            </a:avLst>
          </a:prstGeom>
          <a:noFill/>
          <a:ln cap="flat" cmpd="sng" w="25550">
            <a:solidFill>
              <a:srgbClr val="C05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37"/>
          <p:cNvSpPr/>
          <p:nvPr/>
        </p:nvSpPr>
        <p:spPr>
          <a:xfrm>
            <a:off x="1799280" y="2435760"/>
            <a:ext cx="6959880" cy="895680"/>
          </a:xfrm>
          <a:prstGeom prst="rect">
            <a:avLst/>
          </a:prstGeom>
          <a:gradFill>
            <a:gsLst>
              <a:gs pos="0">
                <a:srgbClr val="9C2F2C"/>
              </a:gs>
              <a:gs pos="100000">
                <a:srgbClr val="CB3D39"/>
              </a:gs>
            </a:gsLst>
            <a:lin ang="16200000" scaled="0"/>
          </a:gradFill>
          <a:ln>
            <a:noFill/>
          </a:ln>
        </p:spPr>
        <p:txBody>
          <a:bodyPr anchorCtr="0" anchor="ctr" bIns="106550" lIns="645100" spcFirstLastPara="1" rIns="106550" wrap="square" tIns="1065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CA" sz="4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alert()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37"/>
          <p:cNvSpPr/>
          <p:nvPr/>
        </p:nvSpPr>
        <p:spPr>
          <a:xfrm>
            <a:off x="1239120" y="2323800"/>
            <a:ext cx="1119600" cy="111924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C05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7"/>
          <p:cNvSpPr/>
          <p:nvPr/>
        </p:nvSpPr>
        <p:spPr>
          <a:xfrm>
            <a:off x="2124720" y="3779640"/>
            <a:ext cx="6634080" cy="895680"/>
          </a:xfrm>
          <a:prstGeom prst="rect">
            <a:avLst/>
          </a:prstGeom>
          <a:gradFill>
            <a:gsLst>
              <a:gs pos="0">
                <a:srgbClr val="779637"/>
              </a:gs>
              <a:gs pos="100000">
                <a:srgbClr val="9BC348"/>
              </a:gs>
            </a:gsLst>
            <a:lin ang="16200000" scaled="0"/>
          </a:gradFill>
          <a:ln>
            <a:noFill/>
          </a:ln>
        </p:spPr>
        <p:txBody>
          <a:bodyPr anchorCtr="0" anchor="ctr" bIns="106550" lIns="645100" spcFirstLastPara="1" rIns="106550" wrap="square" tIns="1065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CA" sz="4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prompt()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37"/>
          <p:cNvSpPr/>
          <p:nvPr/>
        </p:nvSpPr>
        <p:spPr>
          <a:xfrm>
            <a:off x="1564560" y="3667680"/>
            <a:ext cx="1119600" cy="11196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9BBB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37"/>
          <p:cNvSpPr/>
          <p:nvPr/>
        </p:nvSpPr>
        <p:spPr>
          <a:xfrm>
            <a:off x="1799280" y="5123880"/>
            <a:ext cx="6959880" cy="895680"/>
          </a:xfrm>
          <a:prstGeom prst="rect">
            <a:avLst/>
          </a:prstGeom>
          <a:gradFill>
            <a:gsLst>
              <a:gs pos="0">
                <a:srgbClr val="5E437F"/>
              </a:gs>
              <a:gs pos="100000">
                <a:srgbClr val="7B57A5"/>
              </a:gs>
            </a:gsLst>
            <a:lin ang="16200000" scaled="0"/>
          </a:gradFill>
          <a:ln>
            <a:noFill/>
          </a:ln>
        </p:spPr>
        <p:txBody>
          <a:bodyPr anchorCtr="0" anchor="ctr" bIns="106550" lIns="645100" spcFirstLastPara="1" rIns="106550" wrap="square" tIns="1065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CA" sz="4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confirm()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37"/>
          <p:cNvSpPr/>
          <p:nvPr/>
        </p:nvSpPr>
        <p:spPr>
          <a:xfrm>
            <a:off x="1239120" y="5011560"/>
            <a:ext cx="1119600" cy="11196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8064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37"/>
          <p:cNvSpPr txBox="1"/>
          <p:nvPr/>
        </p:nvSpPr>
        <p:spPr>
          <a:xfrm>
            <a:off x="7223760" y="7007040"/>
            <a:ext cx="23518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8"/>
          <p:cNvSpPr txBox="1"/>
          <p:nvPr/>
        </p:nvSpPr>
        <p:spPr>
          <a:xfrm>
            <a:off x="504000" y="0"/>
            <a:ext cx="9071640" cy="100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CA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alert()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38"/>
          <p:cNvSpPr txBox="1"/>
          <p:nvPr/>
        </p:nvSpPr>
        <p:spPr>
          <a:xfrm>
            <a:off x="3528000" y="6971760"/>
            <a:ext cx="319140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CSF3107-2016@Mohamad Nor Hassan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38"/>
          <p:cNvSpPr/>
          <p:nvPr/>
        </p:nvSpPr>
        <p:spPr>
          <a:xfrm>
            <a:off x="419760" y="1008000"/>
            <a:ext cx="9323640" cy="905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1524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CA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Purpose – to send a warning /alert to the user to do something.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4" name="Google Shape;52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3880" y="2088000"/>
            <a:ext cx="7444080" cy="453564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25" name="Google Shape;525;p38"/>
          <p:cNvSpPr txBox="1"/>
          <p:nvPr/>
        </p:nvSpPr>
        <p:spPr>
          <a:xfrm>
            <a:off x="7223760" y="7007040"/>
            <a:ext cx="23518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9"/>
          <p:cNvSpPr txBox="1"/>
          <p:nvPr/>
        </p:nvSpPr>
        <p:spPr>
          <a:xfrm>
            <a:off x="504000" y="0"/>
            <a:ext cx="9071640" cy="100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CA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prompt()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39"/>
          <p:cNvSpPr txBox="1"/>
          <p:nvPr/>
        </p:nvSpPr>
        <p:spPr>
          <a:xfrm>
            <a:off x="3528000" y="6971760"/>
            <a:ext cx="319140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CSF3107-2016@Mohamad Nor Hassan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39"/>
          <p:cNvSpPr/>
          <p:nvPr/>
        </p:nvSpPr>
        <p:spPr>
          <a:xfrm>
            <a:off x="336240" y="923760"/>
            <a:ext cx="9323640" cy="90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1524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CA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Purpose – ask users to key-in/fill-up the form input for certain information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3" name="Google Shape;53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9640" y="2015640"/>
            <a:ext cx="7554600" cy="478764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34" name="Google Shape;534;p39"/>
          <p:cNvSpPr txBox="1"/>
          <p:nvPr/>
        </p:nvSpPr>
        <p:spPr>
          <a:xfrm>
            <a:off x="7223760" y="7007040"/>
            <a:ext cx="23518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0"/>
          <p:cNvSpPr txBox="1"/>
          <p:nvPr/>
        </p:nvSpPr>
        <p:spPr>
          <a:xfrm>
            <a:off x="504000" y="0"/>
            <a:ext cx="9071640" cy="100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CA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confirm()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40"/>
          <p:cNvSpPr txBox="1"/>
          <p:nvPr/>
        </p:nvSpPr>
        <p:spPr>
          <a:xfrm>
            <a:off x="3528000" y="6971760"/>
            <a:ext cx="319140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CSF3107-2016@Mohamad Nor Hassan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40"/>
          <p:cNvSpPr/>
          <p:nvPr/>
        </p:nvSpPr>
        <p:spPr>
          <a:xfrm>
            <a:off x="419760" y="919080"/>
            <a:ext cx="9323640" cy="905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1524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CA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Purpose – used to confirm a user’s answer to question.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2" name="Google Shape;542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160" y="1900440"/>
            <a:ext cx="9229320" cy="4651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43" name="Google Shape;543;p40"/>
          <p:cNvSpPr txBox="1"/>
          <p:nvPr/>
        </p:nvSpPr>
        <p:spPr>
          <a:xfrm>
            <a:off x="7223760" y="7007040"/>
            <a:ext cx="23518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C9FCB"/>
            </a:gs>
            <a:gs pos="13000">
              <a:srgbClr val="F8B049"/>
            </a:gs>
            <a:gs pos="21001">
              <a:srgbClr val="F8B049"/>
            </a:gs>
            <a:gs pos="63000">
              <a:srgbClr val="FEE7F2"/>
            </a:gs>
            <a:gs pos="67000">
              <a:srgbClr val="F952A0"/>
            </a:gs>
            <a:gs pos="69000">
              <a:srgbClr val="C50849"/>
            </a:gs>
            <a:gs pos="71000">
              <a:srgbClr val="B43E85"/>
            </a:gs>
            <a:gs pos="100000">
              <a:srgbClr val="F8B049"/>
            </a:gs>
          </a:gsLst>
          <a:lin ang="5400000" scaled="0"/>
        </a:gradFill>
      </p:bgPr>
    </p:bg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1"/>
          <p:cNvSpPr txBox="1"/>
          <p:nvPr/>
        </p:nvSpPr>
        <p:spPr>
          <a:xfrm>
            <a:off x="1799952" y="2549311"/>
            <a:ext cx="712879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8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OPERATOR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2"/>
          <p:cNvSpPr txBox="1"/>
          <p:nvPr/>
        </p:nvSpPr>
        <p:spPr>
          <a:xfrm>
            <a:off x="3528000" y="6971760"/>
            <a:ext cx="319140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CSF3107-2016@Mohamad Nor Hassan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42"/>
          <p:cNvSpPr/>
          <p:nvPr/>
        </p:nvSpPr>
        <p:spPr>
          <a:xfrm>
            <a:off x="419400" y="1346760"/>
            <a:ext cx="9323640" cy="228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1651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n-CA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Similar with other programming.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n-CA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Operands – an operator manipulates data objects.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n-CA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Operators and operands are found in expressions.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5" name="Google Shape;55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2000" y="3612240"/>
            <a:ext cx="6467400" cy="1427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556" name="Google Shape;556;p42"/>
          <p:cNvSpPr/>
          <p:nvPr/>
        </p:nvSpPr>
        <p:spPr>
          <a:xfrm>
            <a:off x="1427760" y="5039640"/>
            <a:ext cx="781164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CA" sz="1400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Source: Quigley, E. (2012) – JavaScript by Example. Second Edition.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42"/>
          <p:cNvSpPr txBox="1"/>
          <p:nvPr/>
        </p:nvSpPr>
        <p:spPr>
          <a:xfrm>
            <a:off x="7223760" y="7007040"/>
            <a:ext cx="23518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3"/>
          <p:cNvSpPr txBox="1"/>
          <p:nvPr/>
        </p:nvSpPr>
        <p:spPr>
          <a:xfrm>
            <a:off x="504000" y="167760"/>
            <a:ext cx="9071640" cy="100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Assignment Statement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43"/>
          <p:cNvSpPr txBox="1"/>
          <p:nvPr/>
        </p:nvSpPr>
        <p:spPr>
          <a:xfrm>
            <a:off x="3528000" y="6971760"/>
            <a:ext cx="319140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CSF3107-2016@Mohamad Nor Hassan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43"/>
          <p:cNvSpPr/>
          <p:nvPr/>
        </p:nvSpPr>
        <p:spPr>
          <a:xfrm>
            <a:off x="419400" y="1346760"/>
            <a:ext cx="9323640" cy="1408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1651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n-CA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Evaluates the expression on the RHS of equal sign and assign the result to variable on LHS of = sign.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43"/>
          <p:cNvSpPr/>
          <p:nvPr/>
        </p:nvSpPr>
        <p:spPr>
          <a:xfrm>
            <a:off x="1679760" y="6044400"/>
            <a:ext cx="781164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CA" sz="1400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Source: Quigley, E. (2012) – JavaScript by Example. Second Edition.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6" name="Google Shape;56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4000" y="2992680"/>
            <a:ext cx="5795640" cy="305496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567" name="Google Shape;567;p43"/>
          <p:cNvSpPr txBox="1"/>
          <p:nvPr/>
        </p:nvSpPr>
        <p:spPr>
          <a:xfrm>
            <a:off x="7223760" y="7007040"/>
            <a:ext cx="23518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4"/>
          <p:cNvSpPr txBox="1"/>
          <p:nvPr/>
        </p:nvSpPr>
        <p:spPr>
          <a:xfrm>
            <a:off x="504000" y="167760"/>
            <a:ext cx="9071640" cy="100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JavaScript Operator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44"/>
          <p:cNvSpPr txBox="1"/>
          <p:nvPr/>
        </p:nvSpPr>
        <p:spPr>
          <a:xfrm>
            <a:off x="3528000" y="6971760"/>
            <a:ext cx="319140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CSF3107-2016@Mohamad Nor Hassan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4" name="Google Shape;57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4160" y="1601280"/>
            <a:ext cx="7590960" cy="435672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575" name="Google Shape;575;p44"/>
          <p:cNvSpPr/>
          <p:nvPr/>
        </p:nvSpPr>
        <p:spPr>
          <a:xfrm>
            <a:off x="1175760" y="5963760"/>
            <a:ext cx="781164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CA" sz="1400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Source: Quigley, E. (2012) – JavaScript by Example. Second Edition.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44"/>
          <p:cNvSpPr txBox="1"/>
          <p:nvPr/>
        </p:nvSpPr>
        <p:spPr>
          <a:xfrm>
            <a:off x="7223760" y="7007040"/>
            <a:ext cx="23518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45"/>
          <p:cNvSpPr txBox="1"/>
          <p:nvPr/>
        </p:nvSpPr>
        <p:spPr>
          <a:xfrm>
            <a:off x="504000" y="0"/>
            <a:ext cx="9071640" cy="100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 1 - Using operator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45"/>
          <p:cNvSpPr txBox="1"/>
          <p:nvPr/>
        </p:nvSpPr>
        <p:spPr>
          <a:xfrm>
            <a:off x="3528000" y="6971760"/>
            <a:ext cx="319140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CSF3107-2016@Mohamad Nor Hassan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3" name="Google Shape;583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9640" y="839880"/>
            <a:ext cx="7428240" cy="3695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84" name="Google Shape;584;p45"/>
          <p:cNvSpPr txBox="1"/>
          <p:nvPr/>
        </p:nvSpPr>
        <p:spPr>
          <a:xfrm>
            <a:off x="7223760" y="7007040"/>
            <a:ext cx="23518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46"/>
          <p:cNvSpPr txBox="1"/>
          <p:nvPr/>
        </p:nvSpPr>
        <p:spPr>
          <a:xfrm>
            <a:off x="504000" y="0"/>
            <a:ext cx="9071640" cy="100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Arithmetic Operator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46"/>
          <p:cNvSpPr txBox="1"/>
          <p:nvPr/>
        </p:nvSpPr>
        <p:spPr>
          <a:xfrm>
            <a:off x="3443760" y="7007040"/>
            <a:ext cx="319140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CSF3107-2016@Mohamad Nor Hassan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46"/>
          <p:cNvSpPr/>
          <p:nvPr/>
        </p:nvSpPr>
        <p:spPr>
          <a:xfrm>
            <a:off x="504000" y="1931760"/>
            <a:ext cx="9071640" cy="30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22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Char char="•"/>
            </a:pPr>
            <a:r>
              <a:rPr lang="en-CA" sz="3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 + y      -&gt; Addition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Char char="•"/>
            </a:pPr>
            <a:r>
              <a:rPr lang="en-CA" sz="3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 – y      -&gt; Subtraction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Char char="•"/>
            </a:pPr>
            <a:r>
              <a:rPr lang="en-CA" sz="3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 * y      -&gt; Multiplication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Char char="•"/>
            </a:pPr>
            <a:r>
              <a:rPr lang="en-CA" sz="3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 / y      -&gt; Division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Char char="•"/>
            </a:pPr>
            <a:r>
              <a:rPr lang="en-CA" sz="3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 % y     -&gt; Modulus 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46"/>
          <p:cNvSpPr txBox="1"/>
          <p:nvPr/>
        </p:nvSpPr>
        <p:spPr>
          <a:xfrm>
            <a:off x="7223760" y="7007040"/>
            <a:ext cx="23518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7"/>
          <p:cNvSpPr txBox="1"/>
          <p:nvPr/>
        </p:nvSpPr>
        <p:spPr>
          <a:xfrm>
            <a:off x="504000" y="0"/>
            <a:ext cx="9071640" cy="100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 of Arithmetic Operator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47"/>
          <p:cNvSpPr txBox="1"/>
          <p:nvPr/>
        </p:nvSpPr>
        <p:spPr>
          <a:xfrm>
            <a:off x="3443760" y="7007040"/>
            <a:ext cx="319140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CSF3107-2016@Mohamad Nor Hassan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0" name="Google Shape;60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8640" y="839880"/>
            <a:ext cx="7118640" cy="430452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01" name="Google Shape;601;p47"/>
          <p:cNvSpPr txBox="1"/>
          <p:nvPr/>
        </p:nvSpPr>
        <p:spPr>
          <a:xfrm>
            <a:off x="7223760" y="7007040"/>
            <a:ext cx="23518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48"/>
          <p:cNvSpPr txBox="1"/>
          <p:nvPr/>
        </p:nvSpPr>
        <p:spPr>
          <a:xfrm>
            <a:off x="504000" y="83880"/>
            <a:ext cx="9071640" cy="100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Autoincrement and Autodecrement Operators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48"/>
          <p:cNvSpPr txBox="1"/>
          <p:nvPr/>
        </p:nvSpPr>
        <p:spPr>
          <a:xfrm>
            <a:off x="3443760" y="7007040"/>
            <a:ext cx="319140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CSF3107-2016@Mohamad Nor Hassan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48"/>
          <p:cNvSpPr/>
          <p:nvPr/>
        </p:nvSpPr>
        <p:spPr>
          <a:xfrm>
            <a:off x="839880" y="5375880"/>
            <a:ext cx="781164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CA" sz="1400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Source: Quigley, E. (2012) – JavaScript by Example. Second Edition.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0" name="Google Shape;61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320" y="2814120"/>
            <a:ext cx="8136720" cy="2561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611" name="Google Shape;611;p48"/>
          <p:cNvSpPr txBox="1"/>
          <p:nvPr/>
        </p:nvSpPr>
        <p:spPr>
          <a:xfrm>
            <a:off x="7223760" y="7007040"/>
            <a:ext cx="23518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49"/>
          <p:cNvSpPr txBox="1"/>
          <p:nvPr/>
        </p:nvSpPr>
        <p:spPr>
          <a:xfrm>
            <a:off x="504000" y="83880"/>
            <a:ext cx="9071640" cy="100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Concatenation Operators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49"/>
          <p:cNvSpPr txBox="1"/>
          <p:nvPr/>
        </p:nvSpPr>
        <p:spPr>
          <a:xfrm>
            <a:off x="3443760" y="7007040"/>
            <a:ext cx="319140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CSF3107-2016@Mohamad Nor Hassan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49"/>
          <p:cNvSpPr/>
          <p:nvPr/>
        </p:nvSpPr>
        <p:spPr>
          <a:xfrm>
            <a:off x="1007640" y="4955760"/>
            <a:ext cx="781164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CA" sz="1400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Source: Quigley, E. (2012) – JavaScript by Example. Second Edition.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0" name="Google Shape;620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2240" y="2100240"/>
            <a:ext cx="8231400" cy="2881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621" name="Google Shape;621;p49"/>
          <p:cNvSpPr txBox="1"/>
          <p:nvPr/>
        </p:nvSpPr>
        <p:spPr>
          <a:xfrm>
            <a:off x="7223760" y="7007040"/>
            <a:ext cx="23518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50"/>
          <p:cNvSpPr txBox="1"/>
          <p:nvPr/>
        </p:nvSpPr>
        <p:spPr>
          <a:xfrm>
            <a:off x="504000" y="83880"/>
            <a:ext cx="9071640" cy="100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Comparison Operators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50"/>
          <p:cNvSpPr txBox="1"/>
          <p:nvPr/>
        </p:nvSpPr>
        <p:spPr>
          <a:xfrm>
            <a:off x="3443760" y="7007040"/>
            <a:ext cx="319140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CSF3107-2016@Mohamad Nor Hassan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50"/>
          <p:cNvSpPr/>
          <p:nvPr/>
        </p:nvSpPr>
        <p:spPr>
          <a:xfrm>
            <a:off x="1427760" y="5879880"/>
            <a:ext cx="781164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CA" sz="1400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Source: Quigley, E. (2012) – JavaScript by Example. Second Edition.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0" name="Google Shape;63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2000" y="3611880"/>
            <a:ext cx="6509520" cy="2152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000" y="1847880"/>
            <a:ext cx="6593760" cy="16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50"/>
          <p:cNvSpPr txBox="1"/>
          <p:nvPr/>
        </p:nvSpPr>
        <p:spPr>
          <a:xfrm>
            <a:off x="7223760" y="7007040"/>
            <a:ext cx="23518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51"/>
          <p:cNvSpPr txBox="1"/>
          <p:nvPr/>
        </p:nvSpPr>
        <p:spPr>
          <a:xfrm>
            <a:off x="504000" y="0"/>
            <a:ext cx="9071640" cy="100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 of Comparison Operators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51"/>
          <p:cNvSpPr txBox="1"/>
          <p:nvPr/>
        </p:nvSpPr>
        <p:spPr>
          <a:xfrm>
            <a:off x="3443760" y="7007040"/>
            <a:ext cx="319140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CSF3107-2016@Mohamad Nor Hassan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0" name="Google Shape;64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760" y="913320"/>
            <a:ext cx="7895880" cy="462996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41" name="Google Shape;641;p51"/>
          <p:cNvSpPr txBox="1"/>
          <p:nvPr/>
        </p:nvSpPr>
        <p:spPr>
          <a:xfrm>
            <a:off x="7223760" y="7007040"/>
            <a:ext cx="23518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52"/>
          <p:cNvSpPr txBox="1"/>
          <p:nvPr/>
        </p:nvSpPr>
        <p:spPr>
          <a:xfrm>
            <a:off x="504000" y="83880"/>
            <a:ext cx="9071640" cy="100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Logical Operators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52"/>
          <p:cNvSpPr txBox="1"/>
          <p:nvPr/>
        </p:nvSpPr>
        <p:spPr>
          <a:xfrm>
            <a:off x="3443760" y="7007040"/>
            <a:ext cx="319140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CSF3107-2016@Mohamad Nor Hassan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52"/>
          <p:cNvSpPr/>
          <p:nvPr/>
        </p:nvSpPr>
        <p:spPr>
          <a:xfrm>
            <a:off x="839880" y="4616280"/>
            <a:ext cx="781164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CA" sz="1400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Source: Quigley, E. (2012) – JavaScript by Example. Second Edition.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0" name="Google Shape;650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760" y="1910880"/>
            <a:ext cx="8367840" cy="262476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651" name="Google Shape;651;p52"/>
          <p:cNvSpPr txBox="1"/>
          <p:nvPr/>
        </p:nvSpPr>
        <p:spPr>
          <a:xfrm>
            <a:off x="7223760" y="7007040"/>
            <a:ext cx="23518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53"/>
          <p:cNvSpPr txBox="1"/>
          <p:nvPr/>
        </p:nvSpPr>
        <p:spPr>
          <a:xfrm>
            <a:off x="504000" y="-83880"/>
            <a:ext cx="9071640" cy="100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Conditional Operators – Option 1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53"/>
          <p:cNvSpPr txBox="1"/>
          <p:nvPr/>
        </p:nvSpPr>
        <p:spPr>
          <a:xfrm>
            <a:off x="3443760" y="7007040"/>
            <a:ext cx="319140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CSF3107-2016@Mohamad Nor Hassan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53"/>
          <p:cNvSpPr/>
          <p:nvPr/>
        </p:nvSpPr>
        <p:spPr>
          <a:xfrm>
            <a:off x="8147880" y="755640"/>
            <a:ext cx="1679400" cy="403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FF33CC"/>
                </a:solidFill>
                <a:latin typeface="Calibri"/>
                <a:ea typeface="Calibri"/>
                <a:cs typeface="Calibri"/>
                <a:sym typeface="Calibri"/>
              </a:rPr>
              <a:t>if ( c1 )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FF33CC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FF33CC"/>
                </a:solidFill>
                <a:latin typeface="Calibri"/>
                <a:ea typeface="Calibri"/>
                <a:cs typeface="Calibri"/>
                <a:sym typeface="Calibri"/>
              </a:rPr>
              <a:t>   stat_1;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FF33CC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FF33CC"/>
                </a:solidFill>
                <a:latin typeface="Calibri"/>
                <a:ea typeface="Calibri"/>
                <a:cs typeface="Calibri"/>
                <a:sym typeface="Calibri"/>
              </a:rPr>
              <a:t>else if ( c2 )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FF33CC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FF33CC"/>
                </a:solidFill>
                <a:latin typeface="Calibri"/>
                <a:ea typeface="Calibri"/>
                <a:cs typeface="Calibri"/>
                <a:sym typeface="Calibri"/>
              </a:rPr>
              <a:t> stat_2;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FF33CC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FF33CC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FF33CC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FF33CC"/>
                </a:solidFill>
                <a:latin typeface="Calibri"/>
                <a:ea typeface="Calibri"/>
                <a:cs typeface="Calibri"/>
                <a:sym typeface="Calibri"/>
              </a:rPr>
              <a:t> stat_3;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FF33CC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0" name="Google Shape;660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760" y="755640"/>
            <a:ext cx="7895880" cy="4703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61" name="Google Shape;661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99880" y="5123880"/>
            <a:ext cx="3863880" cy="196308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3"/>
          <p:cNvSpPr txBox="1"/>
          <p:nvPr/>
        </p:nvSpPr>
        <p:spPr>
          <a:xfrm>
            <a:off x="7223760" y="7007040"/>
            <a:ext cx="23518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54"/>
          <p:cNvSpPr txBox="1"/>
          <p:nvPr/>
        </p:nvSpPr>
        <p:spPr>
          <a:xfrm>
            <a:off x="504000" y="-83880"/>
            <a:ext cx="9071640" cy="100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Conditional Operators – Option 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54"/>
          <p:cNvSpPr txBox="1"/>
          <p:nvPr/>
        </p:nvSpPr>
        <p:spPr>
          <a:xfrm>
            <a:off x="3443760" y="7007040"/>
            <a:ext cx="319140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CSF3107-2016@Mohamad Nor Hassan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0" name="Google Shape;67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760" y="839880"/>
            <a:ext cx="8147880" cy="361188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71" name="Google Shape;671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1640" y="4840200"/>
            <a:ext cx="3863880" cy="196308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72" name="Google Shape;672;p54"/>
          <p:cNvSpPr txBox="1"/>
          <p:nvPr/>
        </p:nvSpPr>
        <p:spPr>
          <a:xfrm>
            <a:off x="7223760" y="7007040"/>
            <a:ext cx="23518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C9FCB"/>
            </a:gs>
            <a:gs pos="13000">
              <a:srgbClr val="F8B049"/>
            </a:gs>
            <a:gs pos="21001">
              <a:srgbClr val="F8B049"/>
            </a:gs>
            <a:gs pos="63000">
              <a:srgbClr val="FEE7F2"/>
            </a:gs>
            <a:gs pos="67000">
              <a:srgbClr val="F952A0"/>
            </a:gs>
            <a:gs pos="69000">
              <a:srgbClr val="C50849"/>
            </a:gs>
            <a:gs pos="71000">
              <a:srgbClr val="B43E85"/>
            </a:gs>
            <a:gs pos="100000">
              <a:srgbClr val="F8B049"/>
            </a:gs>
          </a:gsLst>
          <a:lin ang="5400000" scaled="0"/>
        </a:gradFill>
      </p:bgPr>
    </p:bg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55"/>
          <p:cNvSpPr txBox="1"/>
          <p:nvPr/>
        </p:nvSpPr>
        <p:spPr>
          <a:xfrm>
            <a:off x="1655936" y="1915174"/>
            <a:ext cx="7128792" cy="2800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8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 TYPE CONVERSION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56"/>
          <p:cNvSpPr txBox="1"/>
          <p:nvPr/>
        </p:nvSpPr>
        <p:spPr>
          <a:xfrm>
            <a:off x="504000" y="167760"/>
            <a:ext cx="9071640" cy="100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Type Conversion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56"/>
          <p:cNvSpPr txBox="1"/>
          <p:nvPr/>
        </p:nvSpPr>
        <p:spPr>
          <a:xfrm>
            <a:off x="3528000" y="6971760"/>
            <a:ext cx="319140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CSF3107-2016@Mohamad Nor Hassan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56"/>
          <p:cNvSpPr/>
          <p:nvPr/>
        </p:nvSpPr>
        <p:spPr>
          <a:xfrm>
            <a:off x="419760" y="1874880"/>
            <a:ext cx="9323640" cy="4937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1524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CA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JavaScript provides 3 functions to convert the primitive data types;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1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✔"/>
            </a:pPr>
            <a:r>
              <a:rPr b="0" i="1" lang="en-CA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String()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1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✔"/>
            </a:pPr>
            <a:r>
              <a:rPr b="0" i="1" lang="en-CA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Number()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1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✔"/>
            </a:pPr>
            <a:r>
              <a:rPr b="0" i="1" lang="en-CA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Boolean()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i="1" lang="en-CA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parseInt(String, NumberBase)</a:t>
            </a:r>
            <a:r>
              <a:rPr lang="en-CA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– convert a string into a number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i="1" lang="en-CA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parseFloat()</a:t>
            </a:r>
            <a:r>
              <a:rPr lang="en-CA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CA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convert to floating-point number.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i="1"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i="1" lang="en-CA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eval() </a:t>
            </a:r>
            <a:r>
              <a:rPr lang="en-CA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evaluates a string as a JavaScript expression.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- The argument of the eval() function is a </a:t>
            </a:r>
            <a:r>
              <a:rPr b="1" lang="en-CA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string</a:t>
            </a:r>
            <a:r>
              <a:rPr lang="en-CA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- If the string represents an expression, eval() evaluates the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expression.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56"/>
          <p:cNvSpPr txBox="1"/>
          <p:nvPr/>
        </p:nvSpPr>
        <p:spPr>
          <a:xfrm>
            <a:off x="7223760" y="7007040"/>
            <a:ext cx="23518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7760" y="1175760"/>
            <a:ext cx="8694000" cy="5596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91" name="Google Shape;691;p57"/>
          <p:cNvSpPr txBox="1"/>
          <p:nvPr/>
        </p:nvSpPr>
        <p:spPr>
          <a:xfrm>
            <a:off x="504000" y="167760"/>
            <a:ext cx="9071640" cy="100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Using </a:t>
            </a:r>
            <a:r>
              <a:rPr b="1" i="1" lang="en-CA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parseInt()</a:t>
            </a:r>
            <a:r>
              <a:rPr b="1" lang="en-CA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Function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57"/>
          <p:cNvSpPr txBox="1"/>
          <p:nvPr/>
        </p:nvSpPr>
        <p:spPr>
          <a:xfrm>
            <a:off x="3528000" y="6971760"/>
            <a:ext cx="319140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CSF3107-2016@Mohamad Nor Hassan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57"/>
          <p:cNvSpPr/>
          <p:nvPr/>
        </p:nvSpPr>
        <p:spPr>
          <a:xfrm>
            <a:off x="7644240" y="3624840"/>
            <a:ext cx="1679400" cy="40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CA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parseInt()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4" name="Google Shape;694;p57"/>
          <p:cNvCxnSpPr/>
          <p:nvPr/>
        </p:nvCxnSpPr>
        <p:spPr>
          <a:xfrm flipH="1">
            <a:off x="5626800" y="3863880"/>
            <a:ext cx="2183400" cy="83520"/>
          </a:xfrm>
          <a:prstGeom prst="straightConnector1">
            <a:avLst/>
          </a:prstGeom>
          <a:noFill/>
          <a:ln cap="flat" cmpd="sng" w="2555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95" name="Google Shape;695;p57"/>
          <p:cNvCxnSpPr/>
          <p:nvPr/>
        </p:nvCxnSpPr>
        <p:spPr>
          <a:xfrm>
            <a:off x="4284000" y="4032000"/>
            <a:ext cx="671760" cy="0"/>
          </a:xfrm>
          <a:prstGeom prst="straightConnector1">
            <a:avLst/>
          </a:prstGeom>
          <a:noFill/>
          <a:ln cap="flat" cmpd="sng" w="255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6" name="Google Shape;696;p57"/>
          <p:cNvSpPr txBox="1"/>
          <p:nvPr/>
        </p:nvSpPr>
        <p:spPr>
          <a:xfrm>
            <a:off x="7223760" y="7007040"/>
            <a:ext cx="23518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58"/>
          <p:cNvSpPr txBox="1"/>
          <p:nvPr/>
        </p:nvSpPr>
        <p:spPr>
          <a:xfrm>
            <a:off x="504000" y="167760"/>
            <a:ext cx="9071640" cy="100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Output Using </a:t>
            </a:r>
            <a:r>
              <a:rPr b="1" i="1" lang="en-CA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parseInt()</a:t>
            </a:r>
            <a:r>
              <a:rPr b="1" lang="en-CA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Function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58"/>
          <p:cNvSpPr txBox="1"/>
          <p:nvPr/>
        </p:nvSpPr>
        <p:spPr>
          <a:xfrm>
            <a:off x="3528000" y="6971760"/>
            <a:ext cx="319140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CSF3107-2016@Mohamad Nor Hassan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3" name="Google Shape;703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7880" y="1564200"/>
            <a:ext cx="3863880" cy="196308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04" name="Google Shape;704;p58"/>
          <p:cNvSpPr txBox="1"/>
          <p:nvPr/>
        </p:nvSpPr>
        <p:spPr>
          <a:xfrm>
            <a:off x="7223760" y="7007040"/>
            <a:ext cx="23518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320" y="1658520"/>
            <a:ext cx="9134640" cy="447264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10" name="Google Shape;710;p59"/>
          <p:cNvSpPr txBox="1"/>
          <p:nvPr/>
        </p:nvSpPr>
        <p:spPr>
          <a:xfrm>
            <a:off x="504000" y="167760"/>
            <a:ext cx="9071640" cy="100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Using </a:t>
            </a:r>
            <a:r>
              <a:rPr b="1" i="1" lang="en-CA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parseFloat()</a:t>
            </a:r>
            <a:r>
              <a:rPr b="1" lang="en-CA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Function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59"/>
          <p:cNvSpPr txBox="1"/>
          <p:nvPr/>
        </p:nvSpPr>
        <p:spPr>
          <a:xfrm>
            <a:off x="3528000" y="6971760"/>
            <a:ext cx="319140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CSF3107-2016@Mohamad Nor Hassan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59"/>
          <p:cNvSpPr/>
          <p:nvPr/>
        </p:nvSpPr>
        <p:spPr>
          <a:xfrm>
            <a:off x="6719760" y="4536000"/>
            <a:ext cx="1679400" cy="70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CA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parseFloat()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3" name="Google Shape;713;p59"/>
          <p:cNvCxnSpPr/>
          <p:nvPr/>
        </p:nvCxnSpPr>
        <p:spPr>
          <a:xfrm flipH="1">
            <a:off x="5542920" y="4787640"/>
            <a:ext cx="1259640" cy="360"/>
          </a:xfrm>
          <a:prstGeom prst="straightConnector1">
            <a:avLst/>
          </a:prstGeom>
          <a:noFill/>
          <a:ln cap="flat" cmpd="sng" w="2555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14" name="Google Shape;714;p59"/>
          <p:cNvCxnSpPr/>
          <p:nvPr/>
        </p:nvCxnSpPr>
        <p:spPr>
          <a:xfrm>
            <a:off x="3947760" y="4871520"/>
            <a:ext cx="671760" cy="0"/>
          </a:xfrm>
          <a:prstGeom prst="straightConnector1">
            <a:avLst/>
          </a:prstGeom>
          <a:noFill/>
          <a:ln cap="flat" cmpd="sng" w="255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5" name="Google Shape;715;p59"/>
          <p:cNvSpPr txBox="1"/>
          <p:nvPr/>
        </p:nvSpPr>
        <p:spPr>
          <a:xfrm>
            <a:off x="7223760" y="7007040"/>
            <a:ext cx="23518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60"/>
          <p:cNvSpPr txBox="1"/>
          <p:nvPr/>
        </p:nvSpPr>
        <p:spPr>
          <a:xfrm>
            <a:off x="504000" y="167760"/>
            <a:ext cx="9071640" cy="100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Output Using </a:t>
            </a:r>
            <a:r>
              <a:rPr b="1" i="1" lang="en-CA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parseFloat()</a:t>
            </a:r>
            <a:r>
              <a:rPr b="1" lang="en-CA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Function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60"/>
          <p:cNvSpPr txBox="1"/>
          <p:nvPr/>
        </p:nvSpPr>
        <p:spPr>
          <a:xfrm>
            <a:off x="3528000" y="6971760"/>
            <a:ext cx="319140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CSF3107-2016@Mohamad Nor Hassan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2" name="Google Shape;722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7880" y="1343880"/>
            <a:ext cx="3863880" cy="196308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23" name="Google Shape;723;p60"/>
          <p:cNvSpPr txBox="1"/>
          <p:nvPr/>
        </p:nvSpPr>
        <p:spPr>
          <a:xfrm>
            <a:off x="7223760" y="7007040"/>
            <a:ext cx="23518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8" name="Google Shape;72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760" y="1595880"/>
            <a:ext cx="8179200" cy="461988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29" name="Google Shape;729;p61"/>
          <p:cNvSpPr txBox="1"/>
          <p:nvPr/>
        </p:nvSpPr>
        <p:spPr>
          <a:xfrm>
            <a:off x="504000" y="167760"/>
            <a:ext cx="9071640" cy="100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Using </a:t>
            </a:r>
            <a:r>
              <a:rPr b="1" i="1" lang="en-CA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eval()</a:t>
            </a:r>
            <a:r>
              <a:rPr b="1" lang="en-CA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Function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61"/>
          <p:cNvSpPr txBox="1"/>
          <p:nvPr/>
        </p:nvSpPr>
        <p:spPr>
          <a:xfrm>
            <a:off x="3528000" y="6971760"/>
            <a:ext cx="319140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CSF3107-2016@Mohamad Nor Hassan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61"/>
          <p:cNvSpPr/>
          <p:nvPr/>
        </p:nvSpPr>
        <p:spPr>
          <a:xfrm>
            <a:off x="7055640" y="4032000"/>
            <a:ext cx="1679400" cy="40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CA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eval()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2" name="Google Shape;732;p61"/>
          <p:cNvCxnSpPr/>
          <p:nvPr/>
        </p:nvCxnSpPr>
        <p:spPr>
          <a:xfrm flipH="1">
            <a:off x="6214680" y="4244760"/>
            <a:ext cx="1259640" cy="207000"/>
          </a:xfrm>
          <a:prstGeom prst="straightConnector1">
            <a:avLst/>
          </a:prstGeom>
          <a:noFill/>
          <a:ln cap="flat" cmpd="sng" w="2555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33" name="Google Shape;733;p61"/>
          <p:cNvCxnSpPr/>
          <p:nvPr/>
        </p:nvCxnSpPr>
        <p:spPr>
          <a:xfrm>
            <a:off x="4788000" y="4536000"/>
            <a:ext cx="419760" cy="0"/>
          </a:xfrm>
          <a:prstGeom prst="straightConnector1">
            <a:avLst/>
          </a:prstGeom>
          <a:noFill/>
          <a:ln cap="flat" cmpd="sng" w="255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4" name="Google Shape;734;p61"/>
          <p:cNvCxnSpPr/>
          <p:nvPr/>
        </p:nvCxnSpPr>
        <p:spPr>
          <a:xfrm>
            <a:off x="4871520" y="4788000"/>
            <a:ext cx="420120" cy="0"/>
          </a:xfrm>
          <a:prstGeom prst="straightConnector1">
            <a:avLst/>
          </a:prstGeom>
          <a:noFill/>
          <a:ln cap="flat" cmpd="sng" w="255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5" name="Google Shape;735;p61"/>
          <p:cNvSpPr txBox="1"/>
          <p:nvPr/>
        </p:nvSpPr>
        <p:spPr>
          <a:xfrm>
            <a:off x="7223760" y="7007040"/>
            <a:ext cx="23518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62"/>
          <p:cNvSpPr txBox="1"/>
          <p:nvPr/>
        </p:nvSpPr>
        <p:spPr>
          <a:xfrm>
            <a:off x="504000" y="167760"/>
            <a:ext cx="9071640" cy="100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Output Using </a:t>
            </a:r>
            <a:r>
              <a:rPr b="1" i="1" lang="en-CA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eval()</a:t>
            </a:r>
            <a:r>
              <a:rPr b="1" lang="en-CA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Function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62"/>
          <p:cNvSpPr txBox="1"/>
          <p:nvPr/>
        </p:nvSpPr>
        <p:spPr>
          <a:xfrm>
            <a:off x="3528000" y="6971760"/>
            <a:ext cx="319140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CSF3107-2016@Mohamad Nor Hassan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2" name="Google Shape;742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7880" y="1427760"/>
            <a:ext cx="3863880" cy="196308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43" name="Google Shape;743;p62"/>
          <p:cNvSpPr txBox="1"/>
          <p:nvPr/>
        </p:nvSpPr>
        <p:spPr>
          <a:xfrm>
            <a:off x="7223760" y="7007040"/>
            <a:ext cx="23518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C9FCB"/>
            </a:gs>
            <a:gs pos="13000">
              <a:srgbClr val="F8B049"/>
            </a:gs>
            <a:gs pos="21001">
              <a:srgbClr val="F8B049"/>
            </a:gs>
            <a:gs pos="63000">
              <a:srgbClr val="FEE7F2"/>
            </a:gs>
            <a:gs pos="67000">
              <a:srgbClr val="F952A0"/>
            </a:gs>
            <a:gs pos="69000">
              <a:srgbClr val="C50849"/>
            </a:gs>
            <a:gs pos="71000">
              <a:srgbClr val="B43E85"/>
            </a:gs>
            <a:gs pos="100000">
              <a:srgbClr val="F8B049"/>
            </a:gs>
          </a:gsLst>
          <a:lin ang="5400000" scaled="0"/>
        </a:gradFill>
      </p:bgPr>
    </p:bg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63"/>
          <p:cNvSpPr txBox="1"/>
          <p:nvPr/>
        </p:nvSpPr>
        <p:spPr>
          <a:xfrm>
            <a:off x="1799952" y="2549311"/>
            <a:ext cx="712879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8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LOOPING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64"/>
          <p:cNvSpPr txBox="1"/>
          <p:nvPr/>
        </p:nvSpPr>
        <p:spPr>
          <a:xfrm>
            <a:off x="3528000" y="6971760"/>
            <a:ext cx="319140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CSF3107-2016@Mohamad Nor Hassan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64"/>
          <p:cNvSpPr/>
          <p:nvPr/>
        </p:nvSpPr>
        <p:spPr>
          <a:xfrm>
            <a:off x="2463840" y="1540080"/>
            <a:ext cx="4479480" cy="4479480"/>
          </a:xfrm>
          <a:prstGeom prst="triangle">
            <a:avLst>
              <a:gd fmla="val 50000" name="adj"/>
            </a:avLst>
          </a:prstGeom>
          <a:gradFill>
            <a:gsLst>
              <a:gs pos="0">
                <a:srgbClr val="CC6D20"/>
              </a:gs>
              <a:gs pos="100000">
                <a:srgbClr val="FF9033"/>
              </a:gs>
            </a:gsLst>
            <a:lin ang="16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64"/>
          <p:cNvSpPr/>
          <p:nvPr/>
        </p:nvSpPr>
        <p:spPr>
          <a:xfrm>
            <a:off x="4703760" y="1990440"/>
            <a:ext cx="2911680" cy="106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796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9425" lIns="152275" spcFirstLastPara="1" rIns="152275" wrap="square" tIns="1990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CA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while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64"/>
          <p:cNvSpPr/>
          <p:nvPr/>
        </p:nvSpPr>
        <p:spPr>
          <a:xfrm>
            <a:off x="4703760" y="3183480"/>
            <a:ext cx="2911680" cy="10598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796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9425" lIns="152275" spcFirstLastPara="1" rIns="152275" wrap="square" tIns="1990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CA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64"/>
          <p:cNvSpPr/>
          <p:nvPr/>
        </p:nvSpPr>
        <p:spPr>
          <a:xfrm>
            <a:off x="4703760" y="4376520"/>
            <a:ext cx="2911680" cy="10598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796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9425" lIns="152275" spcFirstLastPara="1" rIns="152275" wrap="square" tIns="1990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CA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do/while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64"/>
          <p:cNvSpPr txBox="1"/>
          <p:nvPr/>
        </p:nvSpPr>
        <p:spPr>
          <a:xfrm>
            <a:off x="7223760" y="7007040"/>
            <a:ext cx="23518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65"/>
          <p:cNvSpPr txBox="1"/>
          <p:nvPr/>
        </p:nvSpPr>
        <p:spPr>
          <a:xfrm>
            <a:off x="504000" y="167760"/>
            <a:ext cx="9071640" cy="100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CA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while</a:t>
            </a:r>
            <a:r>
              <a:rPr b="1" lang="en-CA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Looping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65"/>
          <p:cNvSpPr txBox="1"/>
          <p:nvPr/>
        </p:nvSpPr>
        <p:spPr>
          <a:xfrm>
            <a:off x="3528000" y="6971760"/>
            <a:ext cx="319140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CSF3107-2016@Mohamad Nor Hassan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5" name="Google Shape;76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640" y="1847880"/>
            <a:ext cx="6698520" cy="430452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66" name="Google Shape;766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55640" y="2545920"/>
            <a:ext cx="2855880" cy="266148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67" name="Google Shape;767;p65"/>
          <p:cNvSpPr txBox="1"/>
          <p:nvPr/>
        </p:nvSpPr>
        <p:spPr>
          <a:xfrm>
            <a:off x="7223760" y="7007040"/>
            <a:ext cx="23518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66"/>
          <p:cNvSpPr txBox="1"/>
          <p:nvPr/>
        </p:nvSpPr>
        <p:spPr>
          <a:xfrm>
            <a:off x="504000" y="167760"/>
            <a:ext cx="9071640" cy="100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CA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b="1" lang="en-CA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Looping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66"/>
          <p:cNvSpPr txBox="1"/>
          <p:nvPr/>
        </p:nvSpPr>
        <p:spPr>
          <a:xfrm>
            <a:off x="3528000" y="6971760"/>
            <a:ext cx="319140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CSF3107-2016@Mohamad Nor Hassan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4" name="Google Shape;774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760" y="1931760"/>
            <a:ext cx="6393960" cy="392652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75" name="Google Shape;775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9760" y="2425320"/>
            <a:ext cx="3275640" cy="286596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76" name="Google Shape;776;p66"/>
          <p:cNvSpPr txBox="1"/>
          <p:nvPr/>
        </p:nvSpPr>
        <p:spPr>
          <a:xfrm>
            <a:off x="7223760" y="7007040"/>
            <a:ext cx="23518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67"/>
          <p:cNvSpPr txBox="1"/>
          <p:nvPr/>
        </p:nvSpPr>
        <p:spPr>
          <a:xfrm>
            <a:off x="504000" y="167760"/>
            <a:ext cx="9071640" cy="100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CA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do/while</a:t>
            </a:r>
            <a:r>
              <a:rPr b="1" lang="en-CA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Looping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67"/>
          <p:cNvSpPr txBox="1"/>
          <p:nvPr/>
        </p:nvSpPr>
        <p:spPr>
          <a:xfrm>
            <a:off x="3528000" y="6971760"/>
            <a:ext cx="319140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CSF3107-2016@Mohamad Nor Hassan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3" name="Google Shape;783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760" y="1837080"/>
            <a:ext cx="6709320" cy="421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84" name="Google Shape;784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03440" y="2561760"/>
            <a:ext cx="2992320" cy="281376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85" name="Google Shape;785;p67"/>
          <p:cNvSpPr txBox="1"/>
          <p:nvPr/>
        </p:nvSpPr>
        <p:spPr>
          <a:xfrm>
            <a:off x="7223760" y="7007040"/>
            <a:ext cx="23518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C9FCB"/>
            </a:gs>
            <a:gs pos="13000">
              <a:srgbClr val="F8B049"/>
            </a:gs>
            <a:gs pos="21001">
              <a:srgbClr val="F8B049"/>
            </a:gs>
            <a:gs pos="63000">
              <a:srgbClr val="FEE7F2"/>
            </a:gs>
            <a:gs pos="67000">
              <a:srgbClr val="F952A0"/>
            </a:gs>
            <a:gs pos="69000">
              <a:srgbClr val="C50849"/>
            </a:gs>
            <a:gs pos="71000">
              <a:srgbClr val="B43E85"/>
            </a:gs>
            <a:gs pos="100000">
              <a:srgbClr val="F8B049"/>
            </a:gs>
          </a:gsLst>
          <a:lin ang="5400000" scaled="0"/>
        </a:gra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68"/>
          <p:cNvSpPr txBox="1"/>
          <p:nvPr/>
        </p:nvSpPr>
        <p:spPr>
          <a:xfrm>
            <a:off x="1799952" y="2549311"/>
            <a:ext cx="712879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8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FUNCTIONS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69"/>
          <p:cNvSpPr txBox="1"/>
          <p:nvPr/>
        </p:nvSpPr>
        <p:spPr>
          <a:xfrm>
            <a:off x="504000" y="167760"/>
            <a:ext cx="9071640" cy="100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Functions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69"/>
          <p:cNvSpPr txBox="1"/>
          <p:nvPr/>
        </p:nvSpPr>
        <p:spPr>
          <a:xfrm>
            <a:off x="3528000" y="6971760"/>
            <a:ext cx="319140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CSF3107-2016@Mohamad Nor Hassan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69"/>
          <p:cNvSpPr/>
          <p:nvPr/>
        </p:nvSpPr>
        <p:spPr>
          <a:xfrm>
            <a:off x="419400" y="1175760"/>
            <a:ext cx="9323640" cy="402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1651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n-CA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Self-contained units of program to accomplish specific tasks.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n-CA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Definition – a block of statements that not only executes some task, but also return a value (return output).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n-CA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Known as “</a:t>
            </a:r>
            <a:r>
              <a:rPr b="1" lang="en-CA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black box</a:t>
            </a:r>
            <a:r>
              <a:rPr lang="en-CA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n-CA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E.g.; calculate car loan, temperature conversion, etc.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n-CA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is can be reused again and again.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69"/>
          <p:cNvSpPr/>
          <p:nvPr/>
        </p:nvSpPr>
        <p:spPr>
          <a:xfrm>
            <a:off x="588240" y="5207760"/>
            <a:ext cx="1847520" cy="839520"/>
          </a:xfrm>
          <a:prstGeom prst="parallelogram">
            <a:avLst>
              <a:gd fmla="val 25000" name="adj"/>
            </a:avLst>
          </a:prstGeom>
          <a:solidFill>
            <a:srgbClr val="FF0066"/>
          </a:solidFill>
          <a:ln cap="flat" cmpd="sng" w="25550">
            <a:solidFill>
              <a:srgbClr val="FF00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9" name="Google Shape;799;p69"/>
          <p:cNvGrpSpPr/>
          <p:nvPr/>
        </p:nvGrpSpPr>
        <p:grpSpPr>
          <a:xfrm>
            <a:off x="3024000" y="4451760"/>
            <a:ext cx="4031640" cy="2351520"/>
            <a:chOff x="3024000" y="4451760"/>
            <a:chExt cx="4031640" cy="2351520"/>
          </a:xfrm>
        </p:grpSpPr>
        <p:sp>
          <p:nvSpPr>
            <p:cNvPr id="800" name="Google Shape;800;p69"/>
            <p:cNvSpPr/>
            <p:nvPr/>
          </p:nvSpPr>
          <p:spPr>
            <a:xfrm>
              <a:off x="3024000" y="4451760"/>
              <a:ext cx="4031640" cy="2351520"/>
            </a:xfrm>
            <a:prstGeom prst="rect">
              <a:avLst/>
            </a:prstGeom>
            <a:solidFill>
              <a:srgbClr val="99CC00"/>
            </a:solidFill>
            <a:ln cap="flat" cmpd="sng" w="25550">
              <a:solidFill>
                <a:srgbClr val="99CC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69"/>
            <p:cNvSpPr/>
            <p:nvPr/>
          </p:nvSpPr>
          <p:spPr>
            <a:xfrm>
              <a:off x="3863880" y="4536000"/>
              <a:ext cx="2435400" cy="923400"/>
            </a:xfrm>
            <a:prstGeom prst="rect">
              <a:avLst/>
            </a:prstGeom>
            <a:solidFill>
              <a:srgbClr val="996633"/>
            </a:solidFill>
            <a:ln cap="flat" cmpd="sng" w="25550">
              <a:solidFill>
                <a:srgbClr val="996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Program Logic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69"/>
            <p:cNvSpPr/>
            <p:nvPr/>
          </p:nvSpPr>
          <p:spPr>
            <a:xfrm>
              <a:off x="4116240" y="5880240"/>
              <a:ext cx="1847520" cy="839520"/>
            </a:xfrm>
            <a:prstGeom prst="parallelogram">
              <a:avLst>
                <a:gd fmla="val 25000" name="adj"/>
              </a:avLst>
            </a:prstGeom>
            <a:solidFill>
              <a:srgbClr val="996633"/>
            </a:solidFill>
            <a:ln cap="flat" cmpd="sng" w="25550">
              <a:solidFill>
                <a:srgbClr val="996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Return Value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03" name="Google Shape;803;p69"/>
            <p:cNvCxnSpPr/>
            <p:nvPr/>
          </p:nvCxnSpPr>
          <p:spPr>
            <a:xfrm>
              <a:off x="5081760" y="5459760"/>
              <a:ext cx="360" cy="419400"/>
            </a:xfrm>
            <a:prstGeom prst="straightConnector1">
              <a:avLst/>
            </a:prstGeom>
            <a:noFill/>
            <a:ln cap="flat" cmpd="sng" w="25550">
              <a:solidFill>
                <a:srgbClr val="000000"/>
              </a:solidFill>
              <a:prstDash val="dashDot"/>
              <a:round/>
              <a:headEnd len="sm" w="sm" type="none"/>
              <a:tailEnd len="med" w="med" type="stealth"/>
            </a:ln>
          </p:spPr>
        </p:cxnSp>
      </p:grpSp>
      <p:sp>
        <p:nvSpPr>
          <p:cNvPr id="804" name="Google Shape;804;p69"/>
          <p:cNvSpPr/>
          <p:nvPr/>
        </p:nvSpPr>
        <p:spPr>
          <a:xfrm>
            <a:off x="863640" y="4523760"/>
            <a:ext cx="1343880" cy="70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69"/>
          <p:cNvSpPr/>
          <p:nvPr/>
        </p:nvSpPr>
        <p:spPr>
          <a:xfrm>
            <a:off x="2183760" y="4536000"/>
            <a:ext cx="755640" cy="3355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FF"/>
          </a:solidFill>
          <a:ln cap="flat" cmpd="sng" w="25550">
            <a:solidFill>
              <a:srgbClr val="3A5F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6" name="Google Shape;806;p69"/>
          <p:cNvGrpSpPr/>
          <p:nvPr/>
        </p:nvGrpSpPr>
        <p:grpSpPr>
          <a:xfrm>
            <a:off x="5879880" y="4955760"/>
            <a:ext cx="3779280" cy="1258200"/>
            <a:chOff x="5879880" y="4955760"/>
            <a:chExt cx="3779280" cy="1258200"/>
          </a:xfrm>
        </p:grpSpPr>
        <p:cxnSp>
          <p:nvCxnSpPr>
            <p:cNvPr id="807" name="Google Shape;807;p69"/>
            <p:cNvCxnSpPr/>
            <p:nvPr/>
          </p:nvCxnSpPr>
          <p:spPr>
            <a:xfrm flipH="1" rot="10800000">
              <a:off x="5879880" y="5626080"/>
              <a:ext cx="1595520" cy="587880"/>
            </a:xfrm>
            <a:prstGeom prst="straightConnector1">
              <a:avLst/>
            </a:prstGeom>
            <a:noFill/>
            <a:ln cap="flat" cmpd="sng" w="25550">
              <a:solidFill>
                <a:srgbClr val="000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808" name="Google Shape;808;p69"/>
            <p:cNvSpPr/>
            <p:nvPr/>
          </p:nvSpPr>
          <p:spPr>
            <a:xfrm>
              <a:off x="7475760" y="4955760"/>
              <a:ext cx="2183400" cy="1175400"/>
            </a:xfrm>
            <a:prstGeom prst="parallelogram">
              <a:avLst>
                <a:gd fmla="val 25000" name="adj"/>
              </a:avLst>
            </a:prstGeom>
            <a:solidFill>
              <a:srgbClr val="0066FF"/>
            </a:solidFill>
            <a:ln cap="flat" cmpd="sng" w="25550">
              <a:solidFill>
                <a:srgbClr val="00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Output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(assigned to variable)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09" name="Google Shape;809;p69"/>
            <p:cNvCxnSpPr/>
            <p:nvPr/>
          </p:nvCxnSpPr>
          <p:spPr>
            <a:xfrm>
              <a:off x="6300000" y="4955760"/>
              <a:ext cx="1343520" cy="335520"/>
            </a:xfrm>
            <a:prstGeom prst="straightConnector1">
              <a:avLst/>
            </a:prstGeom>
            <a:noFill/>
            <a:ln cap="flat" cmpd="sng" w="25550">
              <a:solidFill>
                <a:srgbClr val="000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sp>
        <p:nvSpPr>
          <p:cNvPr id="810" name="Google Shape;810;p69"/>
          <p:cNvSpPr txBox="1"/>
          <p:nvPr/>
        </p:nvSpPr>
        <p:spPr>
          <a:xfrm>
            <a:off x="7223760" y="7007040"/>
            <a:ext cx="23518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70"/>
          <p:cNvSpPr txBox="1"/>
          <p:nvPr/>
        </p:nvSpPr>
        <p:spPr>
          <a:xfrm>
            <a:off x="504000" y="167760"/>
            <a:ext cx="9071640" cy="100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Functions Definition &amp; Function Call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70"/>
          <p:cNvSpPr txBox="1"/>
          <p:nvPr/>
        </p:nvSpPr>
        <p:spPr>
          <a:xfrm>
            <a:off x="3528000" y="6971760"/>
            <a:ext cx="319140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CSF3107-2016@Mohamad Nor Hassan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70"/>
          <p:cNvSpPr/>
          <p:nvPr/>
        </p:nvSpPr>
        <p:spPr>
          <a:xfrm>
            <a:off x="419400" y="1537200"/>
            <a:ext cx="9323640" cy="2955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1651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n-CA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Function Definition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CA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i="1" lang="en-CA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function  function_name (param1, param2)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CA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  {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CA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    statement1;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CA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    statement2;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CA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    return value;   </a:t>
            </a:r>
            <a:r>
              <a:rPr lang="en-CA" sz="2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[optional]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CA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70"/>
          <p:cNvSpPr/>
          <p:nvPr/>
        </p:nvSpPr>
        <p:spPr>
          <a:xfrm>
            <a:off x="419400" y="4774680"/>
            <a:ext cx="9323640" cy="1342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1651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n-CA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Function Call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CA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CA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var output1 = function_name (param1, param2);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70"/>
          <p:cNvSpPr txBox="1"/>
          <p:nvPr/>
        </p:nvSpPr>
        <p:spPr>
          <a:xfrm>
            <a:off x="7223760" y="7007040"/>
            <a:ext cx="23518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71"/>
          <p:cNvSpPr txBox="1"/>
          <p:nvPr/>
        </p:nvSpPr>
        <p:spPr>
          <a:xfrm>
            <a:off x="504000" y="167760"/>
            <a:ext cx="9071640" cy="100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Simple Function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71"/>
          <p:cNvSpPr txBox="1"/>
          <p:nvPr/>
        </p:nvSpPr>
        <p:spPr>
          <a:xfrm>
            <a:off x="3528000" y="6971760"/>
            <a:ext cx="319140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CSF3107-2016@Mohamad Nor Hassan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6" name="Google Shape;826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640" y="1511640"/>
            <a:ext cx="8389080" cy="474048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27" name="Google Shape;827;p71"/>
          <p:cNvSpPr txBox="1"/>
          <p:nvPr/>
        </p:nvSpPr>
        <p:spPr>
          <a:xfrm>
            <a:off x="7223760" y="7007040"/>
            <a:ext cx="23518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72"/>
          <p:cNvSpPr txBox="1"/>
          <p:nvPr/>
        </p:nvSpPr>
        <p:spPr>
          <a:xfrm>
            <a:off x="504000" y="167760"/>
            <a:ext cx="9071640" cy="100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Function With Parameter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72"/>
          <p:cNvSpPr txBox="1"/>
          <p:nvPr/>
        </p:nvSpPr>
        <p:spPr>
          <a:xfrm>
            <a:off x="3528000" y="6971760"/>
            <a:ext cx="319140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CSF3107-2016@Mohamad Nor Hassan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5" name="Google Shape;835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640" y="1370160"/>
            <a:ext cx="9155880" cy="5097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36" name="Google Shape;836;p72"/>
          <p:cNvSpPr txBox="1"/>
          <p:nvPr/>
        </p:nvSpPr>
        <p:spPr>
          <a:xfrm>
            <a:off x="7223760" y="7007040"/>
            <a:ext cx="23518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2" name="Google Shape;842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0640" y="1553760"/>
            <a:ext cx="9050760" cy="482976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43" name="Google Shape;843;p73"/>
          <p:cNvSpPr txBox="1"/>
          <p:nvPr/>
        </p:nvSpPr>
        <p:spPr>
          <a:xfrm>
            <a:off x="504000" y="167760"/>
            <a:ext cx="9071640" cy="100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Calling a Function From an Event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73"/>
          <p:cNvSpPr txBox="1"/>
          <p:nvPr/>
        </p:nvSpPr>
        <p:spPr>
          <a:xfrm>
            <a:off x="3528000" y="6971760"/>
            <a:ext cx="319140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CSF3107-2016@Mohamad Nor Hassan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45" name="Google Shape;845;p73"/>
          <p:cNvGrpSpPr/>
          <p:nvPr/>
        </p:nvGrpSpPr>
        <p:grpSpPr>
          <a:xfrm>
            <a:off x="6718320" y="4212720"/>
            <a:ext cx="2436840" cy="995040"/>
            <a:chOff x="6718320" y="4212720"/>
            <a:chExt cx="2436840" cy="995040"/>
          </a:xfrm>
        </p:grpSpPr>
        <p:sp>
          <p:nvSpPr>
            <p:cNvPr id="846" name="Google Shape;846;p73"/>
            <p:cNvSpPr/>
            <p:nvPr/>
          </p:nvSpPr>
          <p:spPr>
            <a:xfrm>
              <a:off x="7475760" y="4212720"/>
              <a:ext cx="1679400" cy="401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An event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47" name="Google Shape;847;p73"/>
            <p:cNvCxnSpPr/>
            <p:nvPr/>
          </p:nvCxnSpPr>
          <p:spPr>
            <a:xfrm flipH="1">
              <a:off x="6718320" y="4604760"/>
              <a:ext cx="1427400" cy="603000"/>
            </a:xfrm>
            <a:prstGeom prst="straightConnector1">
              <a:avLst/>
            </a:prstGeom>
            <a:noFill/>
            <a:ln cap="flat" cmpd="sng" w="25550">
              <a:solidFill>
                <a:srgbClr val="000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cxnSp>
        <p:nvCxnSpPr>
          <p:cNvPr id="848" name="Google Shape;848;p73"/>
          <p:cNvCxnSpPr/>
          <p:nvPr/>
        </p:nvCxnSpPr>
        <p:spPr>
          <a:xfrm>
            <a:off x="6300000" y="5544000"/>
            <a:ext cx="671760" cy="0"/>
          </a:xfrm>
          <a:prstGeom prst="straightConnector1">
            <a:avLst/>
          </a:prstGeom>
          <a:noFill/>
          <a:ln cap="flat" cmpd="sng" w="255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9" name="Google Shape;849;p73"/>
          <p:cNvSpPr txBox="1"/>
          <p:nvPr/>
        </p:nvSpPr>
        <p:spPr>
          <a:xfrm>
            <a:off x="7223760" y="7007040"/>
            <a:ext cx="23518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74"/>
          <p:cNvSpPr txBox="1"/>
          <p:nvPr/>
        </p:nvSpPr>
        <p:spPr>
          <a:xfrm>
            <a:off x="504000" y="252000"/>
            <a:ext cx="9071640" cy="100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Output Calling a Function From an Event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74"/>
          <p:cNvSpPr txBox="1"/>
          <p:nvPr/>
        </p:nvSpPr>
        <p:spPr>
          <a:xfrm>
            <a:off x="3528000" y="6971760"/>
            <a:ext cx="319140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CSF3107-2016@Mohamad Nor Hassan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6" name="Google Shape;856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6520" y="1501560"/>
            <a:ext cx="4914000" cy="2446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57" name="Google Shape;857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9880" y="4840200"/>
            <a:ext cx="3863880" cy="1627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58" name="Google Shape;858;p74"/>
          <p:cNvSpPr/>
          <p:nvPr/>
        </p:nvSpPr>
        <p:spPr>
          <a:xfrm>
            <a:off x="7475760" y="4243320"/>
            <a:ext cx="2519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Step 1 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When click the button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9" name="Google Shape;859;p74"/>
          <p:cNvCxnSpPr/>
          <p:nvPr/>
        </p:nvCxnSpPr>
        <p:spPr>
          <a:xfrm rot="10800000">
            <a:off x="3591000" y="3404520"/>
            <a:ext cx="3882600" cy="1193400"/>
          </a:xfrm>
          <a:prstGeom prst="straightConnector1">
            <a:avLst/>
          </a:prstGeom>
          <a:noFill/>
          <a:ln cap="flat" cmpd="sng" w="2555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860" name="Google Shape;860;p74"/>
          <p:cNvSpPr/>
          <p:nvPr/>
        </p:nvSpPr>
        <p:spPr>
          <a:xfrm>
            <a:off x="4703760" y="4136400"/>
            <a:ext cx="335520" cy="56736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00FF"/>
          </a:solidFill>
          <a:ln cap="flat" cmpd="sng" w="255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74"/>
          <p:cNvSpPr txBox="1"/>
          <p:nvPr/>
        </p:nvSpPr>
        <p:spPr>
          <a:xfrm>
            <a:off x="7223760" y="7007040"/>
            <a:ext cx="23518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7" name="Google Shape;867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440" y="1553760"/>
            <a:ext cx="9712080" cy="425484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68" name="Google Shape;868;p75"/>
          <p:cNvSpPr txBox="1"/>
          <p:nvPr/>
        </p:nvSpPr>
        <p:spPr>
          <a:xfrm>
            <a:off x="504000" y="167760"/>
            <a:ext cx="9071640" cy="100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Calling a Function From a Link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75"/>
          <p:cNvSpPr txBox="1"/>
          <p:nvPr/>
        </p:nvSpPr>
        <p:spPr>
          <a:xfrm>
            <a:off x="3528000" y="6971760"/>
            <a:ext cx="319140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CSF3107-2016@Mohamad Nor Hassan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70" name="Google Shape;870;p75"/>
          <p:cNvGrpSpPr/>
          <p:nvPr/>
        </p:nvGrpSpPr>
        <p:grpSpPr>
          <a:xfrm>
            <a:off x="2687760" y="5206680"/>
            <a:ext cx="2015280" cy="583920"/>
            <a:chOff x="2687760" y="5206680"/>
            <a:chExt cx="2015280" cy="583920"/>
          </a:xfrm>
        </p:grpSpPr>
        <p:cxnSp>
          <p:nvCxnSpPr>
            <p:cNvPr id="871" name="Google Shape;871;p75"/>
            <p:cNvCxnSpPr/>
            <p:nvPr/>
          </p:nvCxnSpPr>
          <p:spPr>
            <a:xfrm rot="10800000">
              <a:off x="2687760" y="5206680"/>
              <a:ext cx="839520" cy="432360"/>
            </a:xfrm>
            <a:prstGeom prst="straightConnector1">
              <a:avLst/>
            </a:prstGeom>
            <a:noFill/>
            <a:ln cap="flat" cmpd="sng" w="25550">
              <a:solidFill>
                <a:srgbClr val="000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872" name="Google Shape;872;p75"/>
            <p:cNvSpPr/>
            <p:nvPr/>
          </p:nvSpPr>
          <p:spPr>
            <a:xfrm>
              <a:off x="3023640" y="5388840"/>
              <a:ext cx="1679400" cy="401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A link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73" name="Google Shape;873;p75"/>
          <p:cNvCxnSpPr/>
          <p:nvPr/>
        </p:nvCxnSpPr>
        <p:spPr>
          <a:xfrm>
            <a:off x="1595520" y="5627520"/>
            <a:ext cx="672120" cy="0"/>
          </a:xfrm>
          <a:prstGeom prst="straightConnector1">
            <a:avLst/>
          </a:prstGeom>
          <a:noFill/>
          <a:ln cap="flat" cmpd="sng" w="255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4" name="Google Shape;874;p75"/>
          <p:cNvSpPr txBox="1"/>
          <p:nvPr/>
        </p:nvSpPr>
        <p:spPr>
          <a:xfrm>
            <a:off x="7223760" y="7007040"/>
            <a:ext cx="23518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76"/>
          <p:cNvSpPr txBox="1"/>
          <p:nvPr/>
        </p:nvSpPr>
        <p:spPr>
          <a:xfrm>
            <a:off x="504000" y="252000"/>
            <a:ext cx="9071640" cy="100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Output Calling a Function From a Link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76"/>
          <p:cNvSpPr txBox="1"/>
          <p:nvPr/>
        </p:nvSpPr>
        <p:spPr>
          <a:xfrm>
            <a:off x="3528000" y="6971760"/>
            <a:ext cx="319140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CSF3107-2016@Mohamad Nor Hassan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1" name="Google Shape;881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720" y="1386000"/>
            <a:ext cx="7276320" cy="272952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82" name="Google Shape;882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91760" y="5092200"/>
            <a:ext cx="3863880" cy="1627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83" name="Google Shape;883;p76"/>
          <p:cNvSpPr/>
          <p:nvPr/>
        </p:nvSpPr>
        <p:spPr>
          <a:xfrm>
            <a:off x="7475760" y="4243320"/>
            <a:ext cx="2519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Step 1 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When click the button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4" name="Google Shape;884;p76"/>
          <p:cNvCxnSpPr/>
          <p:nvPr/>
        </p:nvCxnSpPr>
        <p:spPr>
          <a:xfrm rot="10800000">
            <a:off x="5038560" y="3442320"/>
            <a:ext cx="2435400" cy="1155240"/>
          </a:xfrm>
          <a:prstGeom prst="straightConnector1">
            <a:avLst/>
          </a:prstGeom>
          <a:noFill/>
          <a:ln cap="flat" cmpd="sng" w="2555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885" name="Google Shape;885;p76"/>
          <p:cNvSpPr/>
          <p:nvPr/>
        </p:nvSpPr>
        <p:spPr>
          <a:xfrm>
            <a:off x="5124240" y="4284000"/>
            <a:ext cx="335520" cy="56736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00FF"/>
          </a:solidFill>
          <a:ln cap="flat" cmpd="sng" w="255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76"/>
          <p:cNvSpPr txBox="1"/>
          <p:nvPr/>
        </p:nvSpPr>
        <p:spPr>
          <a:xfrm>
            <a:off x="7223760" y="7007040"/>
            <a:ext cx="23518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77"/>
          <p:cNvSpPr txBox="1"/>
          <p:nvPr/>
        </p:nvSpPr>
        <p:spPr>
          <a:xfrm>
            <a:off x="167760" y="83880"/>
            <a:ext cx="9743400" cy="100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Reference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77"/>
          <p:cNvSpPr txBox="1"/>
          <p:nvPr/>
        </p:nvSpPr>
        <p:spPr>
          <a:xfrm>
            <a:off x="3443760" y="7007040"/>
            <a:ext cx="319140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CSF3107-2016@Mohamad Nor Hassan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77"/>
          <p:cNvSpPr txBox="1"/>
          <p:nvPr/>
        </p:nvSpPr>
        <p:spPr>
          <a:xfrm>
            <a:off x="252000" y="1478520"/>
            <a:ext cx="9575640" cy="498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AutoNum type="arabicPeriod"/>
            </a:pPr>
            <a:r>
              <a:rPr lang="en-CA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Quigley, E. (2012). </a:t>
            </a:r>
            <a:r>
              <a:rPr i="1" lang="en-CA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JavaScript by Example. 2</a:t>
            </a:r>
            <a:r>
              <a:rPr baseline="30000" i="1" lang="en-CA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nd</a:t>
            </a:r>
            <a:r>
              <a:rPr i="1" lang="en-CA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Edition.</a:t>
            </a:r>
            <a:r>
              <a:rPr lang="en-CA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Michigan, USA. Prentice Hall.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AutoNum type="arabicPeriod"/>
            </a:pPr>
            <a:r>
              <a:rPr lang="en-CA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Negrino, T. &amp; Smith, D.(2012) – </a:t>
            </a:r>
            <a:r>
              <a:rPr i="1" lang="en-CA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JavaScript Eight Edition. </a:t>
            </a:r>
            <a:r>
              <a:rPr lang="en-CA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Berkeley, CA.</a:t>
            </a:r>
            <a:r>
              <a:rPr i="1" lang="en-CA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CA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Visual QuickStart Guide.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AutoNum type="arabicPeriod"/>
            </a:pPr>
            <a:r>
              <a:rPr lang="en-CA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W3schools.com (2014). </a:t>
            </a:r>
            <a:r>
              <a:rPr i="1" lang="en-CA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JavaScript Tutorial</a:t>
            </a:r>
            <a:r>
              <a:rPr lang="en-CA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CA" sz="2400" u="sng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http://www.w3schools.com/js/default.asp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60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Noto Sans Symbols"/>
              <a:buAutoNum type="arabicPeriod"/>
            </a:pPr>
            <a:r>
              <a:rPr lang="en-CA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Tutorialspoint – Simply Easy Learning (2014). </a:t>
            </a:r>
            <a:r>
              <a:rPr i="1" lang="en-CA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Javascript Tutorial</a:t>
            </a:r>
            <a:r>
              <a:rPr lang="en-CA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CA" sz="2300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http://www.tutorialspoint.com/javascript/index.htm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77"/>
          <p:cNvSpPr txBox="1"/>
          <p:nvPr/>
        </p:nvSpPr>
        <p:spPr>
          <a:xfrm>
            <a:off x="7223760" y="7007040"/>
            <a:ext cx="23518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