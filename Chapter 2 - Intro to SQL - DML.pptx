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removePersonalInfoOnSave="1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6858000" type="screen4x3"/>
  <p:notesSz cx="9144000" cy="6858000"/>
  <p:defaultTextStyle>
    <a:defPPr>
      <a:defRPr lang="en-US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5pPr>
    <a:lvl6pPr marL="2286000" algn="l" defTabSz="914400">
      <a:defRPr>
        <a:solidFill>
          <a:schemeClr val="tx1"/>
        </a:solidFill>
        <a:latin typeface="Arial"/>
        <a:ea typeface="ＭＳ Ｐゴシック"/>
        <a:cs typeface="+mn-cs"/>
      </a:defRPr>
    </a:lvl6pPr>
    <a:lvl7pPr marL="2743200" algn="l" defTabSz="914400">
      <a:defRPr>
        <a:solidFill>
          <a:schemeClr val="tx1"/>
        </a:solidFill>
        <a:latin typeface="Arial"/>
        <a:ea typeface="ＭＳ Ｐゴシック"/>
        <a:cs typeface="+mn-cs"/>
      </a:defRPr>
    </a:lvl7pPr>
    <a:lvl8pPr marL="3200400" algn="l" defTabSz="914400">
      <a:defRPr>
        <a:solidFill>
          <a:schemeClr val="tx1"/>
        </a:solidFill>
        <a:latin typeface="Arial"/>
        <a:ea typeface="ＭＳ Ｐゴシック"/>
        <a:cs typeface="+mn-cs"/>
      </a:defRPr>
    </a:lvl8pPr>
    <a:lvl9pPr marL="3657600" algn="l" defTabSz="914400">
      <a:defRPr>
        <a:solidFill>
          <a:schemeClr val="tx1"/>
        </a:solidFill>
        <a:latin typeface="Arial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62D2F8F4-DB62-374F-2DBA-AAD7853CBB71}">
  <a:tblStyle styleId="{62D2F8F4-DB62-374F-2DBA-AAD7853CBB71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png"/><Relationship Id="rId8" Type="http://schemas.openxmlformats.org/officeDocument/2006/relationships/image" Target="../media/image15.jpg"/><Relationship Id="rId9" Type="http://schemas.openxmlformats.org/officeDocument/2006/relationships/image" Target="../media/image8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278134" y="254002"/>
            <a:ext cx="8713465" cy="6526752"/>
          </a:xfrm>
          <a:prstGeom prst="rect">
            <a:avLst/>
          </a:prstGeom>
        </p:spPr>
      </p:pic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698500" y="2723470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98500" y="335280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 hidden="0"/>
          <p:cNvSpPr/>
          <p:nvPr isPhoto="0" userDrawn="0"/>
        </p:nvSpPr>
        <p:spPr bwMode="auto">
          <a:xfrm>
            <a:off x="3482340" y="223521"/>
            <a:ext cx="2125980" cy="985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 descr="Rules_Single_A.png" hidden="0"/>
          <p:cNvPicPr>
            <a:picLocks noChangeAspect="1"/>
          </p:cNvPicPr>
          <p:nvPr isPhoto="0" userDrawn="0"/>
        </p:nvPicPr>
        <p:blipFill>
          <a:blip r:embed="rId3"/>
          <a:srcRect l="0" t="0" r="-76728" b="0"/>
          <a:stretch/>
        </p:blipFill>
        <p:spPr bwMode="auto">
          <a:xfrm>
            <a:off x="1627124" y="481306"/>
            <a:ext cx="10034016" cy="99113"/>
          </a:xfrm>
          <a:prstGeom prst="rect">
            <a:avLst/>
          </a:prstGeom>
        </p:spPr>
      </p:pic>
      <p:sp>
        <p:nvSpPr>
          <p:cNvPr id="5" name="Rectangle 4" hidden="0"/>
          <p:cNvSpPr/>
          <p:nvPr isPhoto="0" userDrawn="0"/>
        </p:nvSpPr>
        <p:spPr bwMode="auto">
          <a:xfrm>
            <a:off x="6812287" y="4885107"/>
            <a:ext cx="2080291" cy="1926128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 fill="norm" stroke="1" extrusionOk="0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Picture 9" descr="Audio.png" hidden="0"/>
          <p:cNvPicPr>
            <a:picLocks noChangeAspect="1"/>
          </p:cNvPicPr>
          <p:nvPr isPhoto="0" userDrawn="0"/>
        </p:nvPicPr>
        <p:blipFill>
          <a:blip r:embed="rId4"/>
          <a:stretch/>
        </p:blipFill>
        <p:spPr bwMode="auto">
          <a:xfrm>
            <a:off x="6865369" y="5389520"/>
            <a:ext cx="987056" cy="1040948"/>
          </a:xfrm>
          <a:prstGeom prst="rect">
            <a:avLst/>
          </a:prstGeom>
        </p:spPr>
      </p:pic>
      <p:pic>
        <p:nvPicPr>
          <p:cNvPr id="12" name="Picture 11" hidden="0"/>
          <p:cNvPicPr>
            <a:picLocks noChangeAspect="1"/>
          </p:cNvPicPr>
          <p:nvPr isPhoto="0" userDrawn="0"/>
        </p:nvPicPr>
        <p:blipFill>
          <a:blip r:embed="rId5"/>
          <a:stretch/>
        </p:blipFill>
        <p:spPr bwMode="auto">
          <a:xfrm>
            <a:off x="8674492" y="5121743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 hidden="0"/>
          <p:cNvPicPr>
            <a:picLocks noChangeAspect="1"/>
          </p:cNvPicPr>
          <p:nvPr isPhoto="0" userDrawn="0"/>
        </p:nvPicPr>
        <p:blipFill>
          <a:blip r:embed="rId6"/>
          <a:stretch/>
        </p:blipFill>
        <p:spPr bwMode="auto">
          <a:xfrm rot="9688653">
            <a:off x="7441072" y="6393020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 hidden="0"/>
          <p:cNvPicPr>
            <a:picLocks noChangeAspect="1"/>
          </p:cNvPicPr>
          <p:nvPr isPhoto="0" userDrawn="0"/>
        </p:nvPicPr>
        <p:blipFill>
          <a:blip r:embed="rId7"/>
          <a:stretch/>
        </p:blipFill>
        <p:spPr bwMode="auto">
          <a:xfrm rot="18073124">
            <a:off x="7908376" y="5449331"/>
            <a:ext cx="591497" cy="245691"/>
          </a:xfrm>
          <a:prstGeom prst="rect">
            <a:avLst/>
          </a:prstGeom>
        </p:spPr>
      </p:pic>
      <p:pic>
        <p:nvPicPr>
          <p:cNvPr id="16" name="Picture 15" hidden="0"/>
          <p:cNvPicPr>
            <a:picLocks noChangeAspect="1"/>
          </p:cNvPicPr>
          <p:nvPr isPhoto="0" userDrawn="0"/>
        </p:nvPicPr>
        <p:blipFill>
          <a:blip r:embed="rId8"/>
          <a:stretch/>
        </p:blipFill>
        <p:spPr bwMode="auto">
          <a:xfrm>
            <a:off x="7939373" y="5831841"/>
            <a:ext cx="672857" cy="745880"/>
          </a:xfrm>
          <a:prstGeom prst="rect">
            <a:avLst/>
          </a:prstGeom>
        </p:spPr>
      </p:pic>
      <p:sp>
        <p:nvSpPr>
          <p:cNvPr id="6" name="Footer Placeholder 5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204120" y="6363871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  <p:pic>
        <p:nvPicPr>
          <p:cNvPr id="9" name="Picture 8" hidden="0"/>
          <p:cNvPicPr>
            <a:picLocks noChangeAspect="1"/>
          </p:cNvPicPr>
          <p:nvPr isPhoto="0" userDrawn="0"/>
        </p:nvPicPr>
        <p:blipFill>
          <a:blip r:embed="rId9"/>
          <a:stretch/>
        </p:blipFill>
        <p:spPr bwMode="auto">
          <a:xfrm>
            <a:off x="0" y="6415637"/>
            <a:ext cx="1151034" cy="3541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641600" y="2233574"/>
            <a:ext cx="6172200" cy="366254"/>
          </a:xfrm>
        </p:spPr>
        <p:txBody>
          <a:bodyPr anchor="ctr"/>
          <a:lstStyle>
            <a:lvl1pPr algn="l">
              <a:defRPr sz="2800" b="0" cap="none">
                <a:solidFill>
                  <a:srgbClr val="055C9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2641600" y="2942672"/>
            <a:ext cx="6172200" cy="263149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pic>
        <p:nvPicPr>
          <p:cNvPr id="6" name="Picture 5" descr="Rules_Single_A.png" hidden="0"/>
          <p:cNvPicPr>
            <a:picLocks noChangeAspect="1"/>
          </p:cNvPicPr>
          <p:nvPr isPhoto="0" userDrawn="0"/>
        </p:nvPicPr>
        <p:blipFill>
          <a:blip r:embed="rId2"/>
          <a:srcRect l="0" t="0" r="-76728" b="0"/>
          <a:stretch/>
        </p:blipFill>
        <p:spPr bwMode="auto">
          <a:xfrm>
            <a:off x="1597686" y="6487631"/>
            <a:ext cx="11423745" cy="90835"/>
          </a:xfrm>
          <a:prstGeom prst="rect">
            <a:avLst/>
          </a:prstGeom>
        </p:spPr>
      </p:pic>
      <p:pic>
        <p:nvPicPr>
          <p:cNvPr id="4" name="Picture 3" descr="Audio.png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140711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 hidden="0"/>
          <p:cNvPicPr>
            <a:picLocks noChangeAspect="1"/>
          </p:cNvPicPr>
          <p:nvPr isPhoto="0" userDrawn="0"/>
        </p:nvPicPr>
        <p:blipFill>
          <a:blip r:embed="rId4"/>
          <a:stretch/>
        </p:blipFill>
        <p:spPr bwMode="auto"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 hidden="0"/>
          <p:cNvPicPr>
            <a:picLocks noChangeAspect="1"/>
          </p:cNvPicPr>
          <p:nvPr isPhoto="0" userDrawn="0"/>
        </p:nvPicPr>
        <p:blipFill>
          <a:blip r:embed="rId5"/>
          <a:stretch/>
        </p:blipFill>
        <p:spPr bwMode="auto">
          <a:xfrm rot="3873740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 hidden="0"/>
          <p:cNvPicPr>
            <a:picLocks noChangeAspect="1"/>
          </p:cNvPicPr>
          <p:nvPr isPhoto="0" userDrawn="0"/>
        </p:nvPicPr>
        <p:blipFill>
          <a:blip r:embed="rId6"/>
          <a:stretch/>
        </p:blipFill>
        <p:spPr bwMode="auto">
          <a:xfrm>
            <a:off x="879649" y="2604922"/>
            <a:ext cx="1101550" cy="1221098"/>
          </a:xfrm>
          <a:prstGeom prst="rect">
            <a:avLst/>
          </a:prstGeom>
        </p:spPr>
      </p:pic>
      <p:pic>
        <p:nvPicPr>
          <p:cNvPr id="15" name="Picture 14" hidden="0"/>
          <p:cNvPicPr>
            <a:picLocks noChangeAspect="1"/>
          </p:cNvPicPr>
          <p:nvPr isPhoto="0" userDrawn="0"/>
        </p:nvPicPr>
        <p:blipFill>
          <a:blip r:embed="rId7"/>
          <a:stretch/>
        </p:blipFill>
        <p:spPr bwMode="auto"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 hidden="0"/>
          <p:cNvPicPr>
            <a:picLocks noChangeAspect="1"/>
          </p:cNvPicPr>
          <p:nvPr isPhoto="0" userDrawn="0"/>
        </p:nvPicPr>
        <p:blipFill>
          <a:blip r:embed="rId8"/>
          <a:stretch/>
        </p:blipFill>
        <p:spPr bwMode="auto">
          <a:xfrm>
            <a:off x="737542" y="4804755"/>
            <a:ext cx="252342" cy="650393"/>
          </a:xfrm>
          <a:prstGeom prst="rect">
            <a:avLst/>
          </a:prstGeom>
        </p:spPr>
      </p:pic>
      <p:sp>
        <p:nvSpPr>
          <p:cNvPr id="7" name="Footer Placeholder 6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97686" y="6578466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  <p:pic>
        <p:nvPicPr>
          <p:cNvPr id="17" name="Picture 16" hidden="0"/>
          <p:cNvPicPr>
            <a:picLocks noChangeAspect="1"/>
          </p:cNvPicPr>
          <p:nvPr isPhoto="0" userDrawn="0"/>
        </p:nvPicPr>
        <p:blipFill>
          <a:blip r:embed="rId9"/>
          <a:stretch/>
        </p:blipFill>
        <p:spPr bwMode="auto">
          <a:xfrm>
            <a:off x="118724" y="6363035"/>
            <a:ext cx="1400289" cy="430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le and Conten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>
            <a:lvl1pPr marL="171450" indent="-171450">
              <a:defRPr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762000" y="516444"/>
            <a:ext cx="8026400" cy="28777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7" name="Picture 6" descr="Rules_Single_B.png" hidden="0"/>
          <p:cNvPicPr>
            <a:picLocks noChangeAspect="1"/>
          </p:cNvPicPr>
          <p:nvPr isPhoto="0" userDrawn="0"/>
        </p:nvPicPr>
        <p:blipFill>
          <a:blip r:embed="rId2"/>
          <a:srcRect l="-4448" t="0" r="0" b="0"/>
          <a:stretch/>
        </p:blipFill>
        <p:spPr bwMode="auto">
          <a:xfrm>
            <a:off x="215899" y="948267"/>
            <a:ext cx="8586216" cy="44704"/>
          </a:xfrm>
          <a:prstGeom prst="rect">
            <a:avLst/>
          </a:prstGeom>
        </p:spPr>
      </p:pic>
      <p:pic>
        <p:nvPicPr>
          <p:cNvPr id="13" name="Picture 12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79668" y="222265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 hidden="0"/>
          <p:cNvPicPr>
            <a:picLocks noChangeAspect="1"/>
          </p:cNvPicPr>
          <p:nvPr isPhoto="0" userDrawn="0"/>
        </p:nvPicPr>
        <p:blipFill>
          <a:blip r:embed="rId4"/>
          <a:srcRect l="0" t="0" r="-76728" b="0"/>
          <a:stretch/>
        </p:blipFill>
        <p:spPr bwMode="auto">
          <a:xfrm>
            <a:off x="1597686" y="6487631"/>
            <a:ext cx="11423745" cy="90835"/>
          </a:xfrm>
          <a:prstGeom prst="rect">
            <a:avLst/>
          </a:prstGeom>
        </p:spPr>
      </p:pic>
      <p:sp>
        <p:nvSpPr>
          <p:cNvPr id="2" name="Footer Placeholder 1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97686" y="6578466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  <p:pic>
        <p:nvPicPr>
          <p:cNvPr id="5" name="Picture 4" hidden="0"/>
          <p:cNvPicPr>
            <a:picLocks noChangeAspect="1"/>
          </p:cNvPicPr>
          <p:nvPr isPhoto="0" userDrawn="0"/>
        </p:nvPicPr>
        <p:blipFill>
          <a:blip r:embed="rId5"/>
          <a:stretch/>
        </p:blipFill>
        <p:spPr bwMode="auto">
          <a:xfrm>
            <a:off x="47181" y="6324600"/>
            <a:ext cx="1439449" cy="4429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762000" y="410493"/>
            <a:ext cx="8026400" cy="28777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8" name="Picture 7" descr="Rules_Single_B.png" hidden="0"/>
          <p:cNvPicPr>
            <a:picLocks noChangeAspect="1"/>
          </p:cNvPicPr>
          <p:nvPr isPhoto="0" userDrawn="0"/>
        </p:nvPicPr>
        <p:blipFill>
          <a:blip r:embed="rId2"/>
          <a:srcRect l="-4448" t="0" r="0" b="0"/>
          <a:stretch/>
        </p:blipFill>
        <p:spPr bwMode="auto">
          <a:xfrm>
            <a:off x="215899" y="948267"/>
            <a:ext cx="8586216" cy="44704"/>
          </a:xfrm>
          <a:prstGeom prst="rect">
            <a:avLst/>
          </a:prstGeom>
        </p:spPr>
      </p:pic>
      <p:pic>
        <p:nvPicPr>
          <p:cNvPr id="14" name="Picture 13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79668" y="222265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 hidden="0"/>
          <p:cNvPicPr>
            <a:picLocks noChangeAspect="1"/>
          </p:cNvPicPr>
          <p:nvPr isPhoto="0" userDrawn="0"/>
        </p:nvPicPr>
        <p:blipFill>
          <a:blip r:embed="rId4"/>
          <a:srcRect l="0" t="0" r="-76728" b="0"/>
          <a:stretch/>
        </p:blipFill>
        <p:spPr bwMode="auto">
          <a:xfrm>
            <a:off x="1597686" y="6487631"/>
            <a:ext cx="11423745" cy="90835"/>
          </a:xfrm>
          <a:prstGeom prst="rect">
            <a:avLst/>
          </a:prstGeom>
        </p:spPr>
      </p:pic>
      <p:sp>
        <p:nvSpPr>
          <p:cNvPr id="3" name="Footer Placeholder 2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97686" y="6578466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  <p:pic>
        <p:nvPicPr>
          <p:cNvPr id="9" name="Picture 8" hidden="0"/>
          <p:cNvPicPr>
            <a:picLocks noChangeAspect="1"/>
          </p:cNvPicPr>
          <p:nvPr isPhoto="0" userDrawn="0"/>
        </p:nvPicPr>
        <p:blipFill>
          <a:blip r:embed="rId5"/>
          <a:stretch/>
        </p:blipFill>
        <p:spPr bwMode="auto">
          <a:xfrm>
            <a:off x="60488" y="6305980"/>
            <a:ext cx="1403024" cy="4316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tangle 2" hidden="0"/>
          <p:cNvSpPr/>
          <p:nvPr isPhoto="0" userDrawn="0"/>
        </p:nvSpPr>
        <p:spPr bwMode="auto"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4" name="Rounded Rectangle 3" hidden="0"/>
          <p:cNvSpPr/>
          <p:nvPr isPhoto="0" userDrawn="0"/>
        </p:nvSpPr>
        <p:spPr bwMode="white">
          <a:xfrm>
            <a:off x="5410202" y="3962404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5" name="Rounded Rectangle 4" hidden="0"/>
          <p:cNvSpPr/>
          <p:nvPr isPhoto="0" userDrawn="0"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6" name="Rectangle 5" hidden="0"/>
          <p:cNvSpPr/>
          <p:nvPr isPhoto="0" userDrawn="0"/>
        </p:nvSpPr>
        <p:spPr bwMode="auto">
          <a:xfrm>
            <a:off x="0" y="3962404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7" name="Rectangle 6" hidden="0"/>
          <p:cNvSpPr/>
          <p:nvPr isPhoto="0" userDrawn="0"/>
        </p:nvSpPr>
        <p:spPr bwMode="auto"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8" name="Rectangle 7" hidden="0"/>
          <p:cNvSpPr/>
          <p:nvPr isPhoto="0" userDrawn="1"/>
        </p:nvSpPr>
        <p:spPr bwMode="auto">
          <a:xfrm>
            <a:off x="0" y="4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9" name="Subtitle 8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84293" y="4724399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1026" name="Picture 2" hidden="0"/>
          <p:cNvPicPr>
            <a:picLocks noChangeAspect="1" noChangeArrowheads="1"/>
          </p:cNvPicPr>
          <p:nvPr isPhoto="0" userDrawn="1"/>
        </p:nvPicPr>
        <p:blipFill>
          <a:blip r:embed="rId2"/>
          <a:stretch/>
        </p:blipFill>
        <p:spPr bwMode="auto">
          <a:xfrm>
            <a:off x="3200400" y="163289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mparis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381000" y="779787"/>
            <a:ext cx="8382000" cy="418576"/>
          </a:xfrm>
        </p:spPr>
        <p:txBody>
          <a:bodyPr/>
          <a:lstStyle>
            <a:lvl1pPr>
              <a:defRPr sz="3200" b="0" i="0" cap="none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4" hidden="0"/>
          <p:cNvSpPr>
            <a:spLocks noGrp="1"/>
          </p:cNvSpPr>
          <p:nvPr isPhoto="0" userDrawn="0">
            <p:ph sz="quarter" idx="2" hasCustomPrompt="0"/>
          </p:nvPr>
        </p:nvSpPr>
        <p:spPr bwMode="auto">
          <a:xfrm>
            <a:off x="381000" y="1828800"/>
            <a:ext cx="4041648" cy="1526508"/>
          </a:xfrm>
        </p:spPr>
        <p:txBody>
          <a:bodyPr/>
          <a:lstStyle>
            <a:lvl1pPr>
              <a:defRPr sz="2400"/>
            </a:lvl1pPr>
            <a:lvl2pPr>
              <a:defRPr sz="185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Content Placeholder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4718312" y="1828800"/>
            <a:ext cx="4041775" cy="1526508"/>
          </a:xfrm>
        </p:spPr>
        <p:txBody>
          <a:bodyPr/>
          <a:lstStyle>
            <a:lvl1pPr>
              <a:defRPr sz="2400"/>
            </a:lvl1pPr>
            <a:lvl2pPr>
              <a:defRPr sz="185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tangle 2" hidden="0"/>
          <p:cNvSpPr/>
          <p:nvPr isPhoto="0" userDrawn="0"/>
        </p:nvSpPr>
        <p:spPr bwMode="auto"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4" name="Rounded Rectangle 3" hidden="0"/>
          <p:cNvSpPr/>
          <p:nvPr isPhoto="0" userDrawn="0"/>
        </p:nvSpPr>
        <p:spPr bwMode="white">
          <a:xfrm>
            <a:off x="5410202" y="3962406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5" name="Rounded Rectangle 4" hidden="0"/>
          <p:cNvSpPr/>
          <p:nvPr isPhoto="0" userDrawn="0"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6" name="Rectangle 5" hidden="0"/>
          <p:cNvSpPr/>
          <p:nvPr isPhoto="0" userDrawn="0"/>
        </p:nvSpPr>
        <p:spPr bwMode="auto">
          <a:xfrm>
            <a:off x="0" y="3962406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7" name="Rectangle 6" hidden="0"/>
          <p:cNvSpPr/>
          <p:nvPr isPhoto="0" userDrawn="0"/>
        </p:nvSpPr>
        <p:spPr bwMode="auto"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8" name="Rectangle 7" hidden="0"/>
          <p:cNvSpPr/>
          <p:nvPr isPhoto="0" userDrawn="1"/>
        </p:nvSpPr>
        <p:spPr bwMode="auto">
          <a:xfrm>
            <a:off x="0" y="6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9" name="Subtitle 8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84293" y="4724399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1026" name="Picture 2" hidden="0"/>
          <p:cNvPicPr>
            <a:picLocks noChangeAspect="1" noChangeArrowheads="1"/>
          </p:cNvPicPr>
          <p:nvPr isPhoto="0" userDrawn="1"/>
        </p:nvPicPr>
        <p:blipFill>
          <a:blip r:embed="rId2"/>
          <a:stretch/>
        </p:blipFill>
        <p:spPr bwMode="auto">
          <a:xfrm>
            <a:off x="3200400" y="163291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userDrawn="1">
  <p:cSld name="3_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tangle 2" hidden="0"/>
          <p:cNvSpPr/>
          <p:nvPr isPhoto="0" userDrawn="0"/>
        </p:nvSpPr>
        <p:spPr bwMode="auto"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4" name="Rounded Rectangle 3" hidden="0"/>
          <p:cNvSpPr/>
          <p:nvPr isPhoto="0" userDrawn="0"/>
        </p:nvSpPr>
        <p:spPr bwMode="white">
          <a:xfrm>
            <a:off x="5410202" y="3962405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 useBgFill="1">
        <p:nvSpPr>
          <p:cNvPr id="5" name="Rounded Rectangle 4" hidden="0"/>
          <p:cNvSpPr/>
          <p:nvPr isPhoto="0" userDrawn="0"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6" name="Rectangle 5" hidden="0"/>
          <p:cNvSpPr/>
          <p:nvPr isPhoto="0" userDrawn="0"/>
        </p:nvSpPr>
        <p:spPr bwMode="auto">
          <a:xfrm>
            <a:off x="0" y="3962405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7" name="Rectangle 6" hidden="0"/>
          <p:cNvSpPr/>
          <p:nvPr isPhoto="0" userDrawn="0"/>
        </p:nvSpPr>
        <p:spPr bwMode="auto"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8" name="Rectangle 7" hidden="0"/>
          <p:cNvSpPr/>
          <p:nvPr isPhoto="0" userDrawn="1"/>
        </p:nvSpPr>
        <p:spPr bwMode="auto">
          <a:xfrm>
            <a:off x="0" y="5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9" name="Subtitle 8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84293" y="4724399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1026" name="Picture 2" hidden="0"/>
          <p:cNvPicPr>
            <a:picLocks noChangeAspect="1" noChangeArrowheads="1"/>
          </p:cNvPicPr>
          <p:nvPr isPhoto="0" userDrawn="1"/>
        </p:nvPicPr>
        <p:blipFill>
          <a:blip r:embed="rId2"/>
          <a:stretch/>
        </p:blipFill>
        <p:spPr bwMode="auto">
          <a:xfrm>
            <a:off x="3200400" y="163290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365125" y="1538819"/>
            <a:ext cx="8415338" cy="141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5" hidden="0"/>
          <p:cNvSpPr txBox="1"/>
          <p:nvPr isPhoto="0" userDrawn="0"/>
        </p:nvSpPr>
        <p:spPr bwMode="auto">
          <a:xfrm>
            <a:off x="8382578" y="6513744"/>
            <a:ext cx="306494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B40067-BD2A-418A-98BB-08A98047DC47}" type="slidenum">
              <a:rPr lang="en-US" sz="800" b="0" i="0" u="none" strike="noStrike" cap="none" spc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fld>
            <a:endParaRPr lang="en-US" sz="800" b="0" i="0" u="none" strike="noStrike" cap="none" spc="0">
              <a:ln>
                <a:noFill/>
              </a:ln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365125" y="485019"/>
            <a:ext cx="8415338" cy="2877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365130" y="6611009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  <p:sp>
        <p:nvSpPr>
          <p:cNvPr id="6" name="Rectangle 5" hidden="0"/>
          <p:cNvSpPr/>
          <p:nvPr isPhoto="0" userDrawn="1"/>
        </p:nvSpPr>
        <p:spPr bwMode="auto"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8" name="Rectangle 7" hidden="0"/>
          <p:cNvSpPr/>
          <p:nvPr isPhoto="0" userDrawn="1"/>
        </p:nvSpPr>
        <p:spPr bwMode="auto">
          <a:xfrm>
            <a:off x="0" y="7941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  <p:sp>
        <p:nvSpPr>
          <p:cNvPr id="9" name="Rectangle 8" hidden="0"/>
          <p:cNvSpPr/>
          <p:nvPr isPhoto="0" userDrawn="1"/>
        </p:nvSpPr>
        <p:spPr bwMode="auto"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00"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1" hdr="0" sldNum="0"/>
  <p:txStyles>
    <p:titleStyle>
      <a:lvl1pPr algn="l" defTabSz="914400">
        <a:lnSpc>
          <a:spcPct val="85000"/>
        </a:lnSpc>
        <a:spcBef>
          <a:spcPts val="0"/>
        </a:spcBef>
        <a:buNone/>
        <a:defRPr sz="2200">
          <a:solidFill>
            <a:schemeClr val="accent2"/>
          </a:solidFill>
          <a:latin typeface="Calibri"/>
          <a:ea typeface="+mj-ea"/>
          <a:cs typeface="+mj-cs"/>
        </a:defRPr>
      </a:lvl1pPr>
    </p:titleStyle>
    <p:bodyStyle>
      <a:lvl1pPr marL="171450" indent="-171450" algn="l" defTabSz="914400">
        <a:lnSpc>
          <a:spcPct val="95000"/>
        </a:lnSpc>
        <a:spcBef>
          <a:spcPts val="1200"/>
        </a:spcBef>
        <a:buClr>
          <a:schemeClr val="accent2"/>
        </a:buClr>
        <a:buFont typeface="Arial"/>
        <a:buChar char="•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>
        <a:lnSpc>
          <a:spcPct val="95000"/>
        </a:lnSpc>
        <a:spcBef>
          <a:spcPts val="600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>
        <a:lnSpc>
          <a:spcPct val="95000"/>
        </a:lnSpc>
        <a:spcBef>
          <a:spcPts val="0"/>
        </a:spcBef>
        <a:buClr>
          <a:schemeClr val="tx1">
            <a:lumMod val="75000"/>
            <a:lumOff val="25000"/>
          </a:schemeClr>
        </a:buClr>
        <a:buFont typeface="Arial"/>
        <a:buChar char="-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>
        <a:lnSpc>
          <a:spcPct val="95000"/>
        </a:lnSpc>
        <a:spcBef>
          <a:spcPts val="0"/>
        </a:spcBef>
        <a:buFont typeface="Arial"/>
        <a:buChar char="•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>
        <a:lnSpc>
          <a:spcPct val="95000"/>
        </a:lnSpc>
        <a:spcBef>
          <a:spcPts val="0"/>
        </a:spcBef>
        <a:buFont typeface="Arial"/>
        <a:buChar char="-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Chapter 2</a:t>
            </a:r>
            <a:endParaRPr/>
          </a:p>
          <a:p>
            <a:pPr>
              <a:defRPr/>
            </a:pPr>
            <a:r>
              <a:rPr lang="en-US"/>
              <a:t>Introduction to Structured Query Language (SQL)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" name="Rectangle 4" hidden="0"/>
          <p:cNvSpPr>
            <a:spLocks noChangeArrowheads="1"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Learning Objectives</a:t>
            </a:r>
            <a:endParaRPr/>
          </a:p>
        </p:txBody>
      </p:sp>
      <p:sp>
        <p:nvSpPr>
          <p:cNvPr id="14339" name="Rectangle 5" hidden="0"/>
          <p:cNvSpPr>
            <a:spLocks noChangeArrowheads="1"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After completing this chapter, you will be able to:</a:t>
            </a:r>
            <a:endParaRPr/>
          </a:p>
          <a:p>
            <a:pPr lvl="1">
              <a:defRPr/>
            </a:pPr>
            <a:r>
              <a:rPr lang="en-US"/>
              <a:t>Retrieve specified columns of data from a database</a:t>
            </a:r>
            <a:endParaRPr/>
          </a:p>
          <a:p>
            <a:pPr lvl="1">
              <a:defRPr/>
            </a:pPr>
            <a:r>
              <a:rPr lang="en-US"/>
              <a:t>Join multiple tables in a single SQL query</a:t>
            </a:r>
            <a:endParaRPr/>
          </a:p>
          <a:p>
            <a:pPr lvl="1">
              <a:defRPr/>
            </a:pPr>
            <a:r>
              <a:rPr lang="en-US"/>
              <a:t>Restrict data retrievals to rows that match complex criteria</a:t>
            </a:r>
            <a:endParaRPr/>
          </a:p>
          <a:p>
            <a:pPr lvl="1">
              <a:defRPr/>
            </a:pPr>
            <a:r>
              <a:rPr lang="en-US"/>
              <a:t>Aggregate data across groups of rows</a:t>
            </a:r>
            <a:endParaRPr/>
          </a:p>
          <a:p>
            <a:pPr lvl="1">
              <a:defRPr/>
            </a:pPr>
            <a:r>
              <a:rPr lang="en-US"/>
              <a:t>Create subqueries to preprocess data for inclusion in other queries</a:t>
            </a:r>
            <a:endParaRPr/>
          </a:p>
          <a:p>
            <a:pPr lvl="1">
              <a:defRPr/>
            </a:pPr>
            <a:r>
              <a:rPr lang="en-US"/>
              <a:t>Identify and use a variety of SQL functions for string, numeric, and date manipulation</a:t>
            </a:r>
            <a:endParaRPr/>
          </a:p>
          <a:p>
            <a:pPr lvl="1">
              <a:defRPr/>
            </a:pPr>
            <a:r>
              <a:rPr lang="en-US"/>
              <a:t>Explain the key principles in crafting a SELECT query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" name="Rectangle 4" hidden="0"/>
          <p:cNvSpPr>
            <a:spLocks noChangeArrowheads="1"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Introduction to SQL (1 of 4)</a:t>
            </a:r>
            <a:endParaRPr/>
          </a:p>
        </p:txBody>
      </p:sp>
      <p:sp>
        <p:nvSpPr>
          <p:cNvPr id="15363" name="Rectangle 5" hidden="0"/>
          <p:cNvSpPr>
            <a:spLocks noChangeArrowheads="1"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885405"/>
          </a:xfrm>
        </p:spPr>
        <p:txBody>
          <a:bodyPr/>
          <a:lstStyle/>
          <a:p>
            <a:pPr>
              <a:defRPr/>
            </a:pPr>
            <a:r>
              <a:rPr lang="en-US"/>
              <a:t>Categories of SQL functions</a:t>
            </a:r>
            <a:endParaRPr/>
          </a:p>
          <a:p>
            <a:pPr lvl="1">
              <a:defRPr/>
            </a:pPr>
            <a:r>
              <a:rPr lang="en-US"/>
              <a:t>Data definition language (DDL)</a:t>
            </a:r>
            <a:endParaRPr/>
          </a:p>
          <a:p>
            <a:pPr lvl="1">
              <a:defRPr/>
            </a:pPr>
            <a:r>
              <a:rPr lang="en-US"/>
              <a:t>Data manipulation language (DML)</a:t>
            </a:r>
            <a:endParaRPr/>
          </a:p>
          <a:p>
            <a:pPr lvl="1">
              <a:defRPr/>
            </a:pPr>
            <a:r>
              <a:rPr lang="en-US"/>
              <a:t>Transaction control language (TCL)</a:t>
            </a:r>
            <a:endParaRPr/>
          </a:p>
          <a:p>
            <a:pPr lvl="1">
              <a:defRPr/>
            </a:pPr>
            <a:r>
              <a:rPr lang="en-US"/>
              <a:t>Data control language (DCL)</a:t>
            </a:r>
            <a:endParaRPr lang="en-US"/>
          </a:p>
          <a:p>
            <a:pPr>
              <a:defRPr/>
            </a:pPr>
            <a:r>
              <a:rPr lang="en-US"/>
              <a:t>SQL is relatively easy to learn</a:t>
            </a:r>
            <a:endParaRPr/>
          </a:p>
          <a:p>
            <a:pPr lvl="1">
              <a:defRPr/>
            </a:pPr>
            <a:r>
              <a:rPr lang="en-US"/>
              <a:t>Nonprocedural language with basic command vocabulary set of less than 100 words</a:t>
            </a:r>
            <a:endParaRPr/>
          </a:p>
          <a:p>
            <a:pPr lvl="1">
              <a:defRPr/>
            </a:pPr>
            <a:r>
              <a:rPr lang="en-US"/>
              <a:t>Differences in SQL dialects are minor 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" name="Rectangle 4" hidden="0"/>
          <p:cNvSpPr>
            <a:spLocks noChangeArrowheads="1"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Introduction to SQL (2 of 4)</a:t>
            </a:r>
            <a:endParaRPr/>
          </a:p>
        </p:txBody>
      </p:sp>
      <p:graphicFrame>
        <p:nvGraphicFramePr>
          <p:cNvPr id="6" name="Content Placeholder 5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1334310" y="1066800"/>
          <a:ext cx="7027863" cy="514298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1371600"/>
                <a:gridCol w="4876800"/>
                <a:gridCol w="779463"/>
              </a:tblGrid>
              <a:tr h="19776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Table 7.2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SQL Data Definition Commands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2425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Command or Option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Covered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 SCHEMA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100" b="1"/>
                        <a:t>AUTHORIZATION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Creates a database schema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28676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Creates a new table in the user’s database schema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NOT NULL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Ensures that a column will not have null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UNIQUE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Ensures that a column will not have duplicate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2288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PRIMARY KEY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Defines a primary key for a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FOREIGN KEY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Defines a foreign key for a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18973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DEFAULT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Defines a default value for a column (when no value is given)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23545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   CHECK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Validates data in an attribute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 INDEX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Creates an index for a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 VIEW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Creates a dynamic subset of rows and columns from one or more</a:t>
                      </a:r>
                      <a:r>
                        <a:rPr lang="en-US" sz="1100" b="1"/>
                        <a:t> </a:t>
                      </a:r>
                      <a:r>
                        <a:rPr lang="en-US" sz="1100" b="1"/>
                        <a:t>tables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ALTER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Modifies a table’s definition (adds, modifies, or deletes attributes or</a:t>
                      </a:r>
                      <a:r>
                        <a:rPr lang="en-US" sz="1100" b="1"/>
                        <a:t> </a:t>
                      </a:r>
                      <a:r>
                        <a:rPr lang="en-US" sz="1100" b="1"/>
                        <a:t>constraints)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 TABLE AS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Creates a new table based on a query in the user’s database schema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DROP TABLE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Permanently deletes a table (and its data)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DROP INDEX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Permanently deletes an index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  <a:tr h="31341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DROP VIEW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Permanently deletes a view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/>
                        <a:t>Chapter 8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" name="Rectangle 4" hidden="0"/>
          <p:cNvSpPr>
            <a:spLocks noChangeArrowheads="1"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Introduction to SQL (3 of 4)</a:t>
            </a:r>
            <a:endParaRPr/>
          </a:p>
        </p:txBody>
      </p:sp>
      <p:graphicFrame>
        <p:nvGraphicFramePr>
          <p:cNvPr id="3" name="Content Placeholder 2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365125" y="1538288"/>
          <a:ext cx="8415339" cy="37744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2805113"/>
                <a:gridCol w="4213226"/>
                <a:gridCol w="13970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Table 7.3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Other SQL Commands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Command or Option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Covered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Transaction Control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b="1"/>
                        <a:t>Language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COMMIT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Permanently saves data changes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Chapter 8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ROLLBACK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Restores data to its original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Chapter 8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Data Control Language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GRANT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Gives a user permission to take a system action or access a data object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Chapter 16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REVOKE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Removes a previously granted permission from a user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Chapter 16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Introduction to SQL (4 of 4)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3730252"/>
          </a:xfrm>
        </p:spPr>
        <p:txBody>
          <a:bodyPr/>
          <a:lstStyle/>
          <a:p>
            <a:pPr>
              <a:defRPr/>
            </a:pPr>
            <a:r>
              <a:rPr lang="en-US"/>
              <a:t>Data type: specification about the kinds of data that can be stored in an attribute</a:t>
            </a:r>
            <a:endParaRPr/>
          </a:p>
          <a:p>
            <a:pPr lvl="1">
              <a:defRPr/>
            </a:pPr>
            <a:r>
              <a:rPr lang="en-US"/>
              <a:t>Influence queries that retrieve data</a:t>
            </a:r>
            <a:endParaRPr/>
          </a:p>
          <a:p>
            <a:pPr>
              <a:defRPr/>
            </a:pPr>
            <a:r>
              <a:rPr lang="en-US"/>
              <a:t>Fundamental types of data</a:t>
            </a:r>
            <a:endParaRPr/>
          </a:p>
          <a:p>
            <a:pPr lvl="1">
              <a:defRPr/>
            </a:pPr>
            <a:r>
              <a:rPr lang="en-US"/>
              <a:t>Character data</a:t>
            </a:r>
            <a:endParaRPr/>
          </a:p>
          <a:p>
            <a:pPr lvl="1">
              <a:defRPr/>
            </a:pPr>
            <a:r>
              <a:rPr lang="en-US"/>
              <a:t>Numeric data</a:t>
            </a:r>
            <a:endParaRPr/>
          </a:p>
          <a:p>
            <a:pPr lvl="1">
              <a:defRPr/>
            </a:pPr>
            <a:r>
              <a:rPr lang="en-US"/>
              <a:t>Date data</a:t>
            </a:r>
            <a:endParaRPr/>
          </a:p>
          <a:p>
            <a:pPr>
              <a:defRPr/>
            </a:pPr>
            <a:r>
              <a:rPr lang="en-US"/>
              <a:t>At the heart of SQL is the query</a:t>
            </a:r>
            <a:endParaRPr/>
          </a:p>
          <a:p>
            <a:pPr lvl="1">
              <a:defRPr/>
            </a:pPr>
            <a:r>
              <a:rPr lang="en-US"/>
              <a:t>Covers both questions and actions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Database Model</a:t>
            </a:r>
            <a:endParaRPr/>
          </a:p>
        </p:txBody>
      </p:sp>
      <p:pic>
        <p:nvPicPr>
          <p:cNvPr id="3" name="Picture 2" descr="Figure 7.1 depicts a simple database model composed of CUSTOMER, INVOICE, LINE, PRODUCT, and VENDOR tables. " hidden="0" title="Figure 7.1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609600" y="1371600"/>
            <a:ext cx="7546314" cy="4399560"/>
          </a:xfrm>
          <a:prstGeom prst="rect">
            <a:avLst/>
          </a:prstGeom>
        </p:spPr>
      </p:pic>
      <p:sp>
        <p:nvSpPr>
          <p:cNvPr id="5" name="Footer Placeholder 4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Basic SELECT Queries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3908762"/>
          </a:xfrm>
        </p:spPr>
        <p:txBody>
          <a:bodyPr/>
          <a:lstStyle/>
          <a:p>
            <a:pPr>
              <a:defRPr/>
            </a:pPr>
            <a:r>
              <a:rPr lang="en-US"/>
              <a:t>Each clause in a SELECT query performs a specific function</a:t>
            </a:r>
            <a:endParaRPr/>
          </a:p>
          <a:p>
            <a:pPr lvl="1">
              <a:defRPr/>
            </a:pPr>
            <a:r>
              <a:rPr lang="en-US"/>
              <a:t>SELECT: specifies the attributes to be returned by the query</a:t>
            </a:r>
            <a:endParaRPr/>
          </a:p>
          <a:p>
            <a:pPr lvl="1">
              <a:defRPr/>
            </a:pPr>
            <a:r>
              <a:rPr lang="en-US"/>
              <a:t>FROM: specifies the table(s) from which the data will be retrieved</a:t>
            </a:r>
            <a:endParaRPr/>
          </a:p>
          <a:p>
            <a:pPr lvl="1">
              <a:defRPr/>
            </a:pPr>
            <a:r>
              <a:rPr lang="en-US"/>
              <a:t>WHERE: filters the rows of data based on provided criteria</a:t>
            </a:r>
            <a:endParaRPr/>
          </a:p>
          <a:p>
            <a:pPr lvl="1">
              <a:defRPr/>
            </a:pPr>
            <a:r>
              <a:rPr lang="en-US"/>
              <a:t>GROUP BY: groups the rows of data into collections based on sharing the same values in one or more attributes</a:t>
            </a:r>
            <a:endParaRPr/>
          </a:p>
          <a:p>
            <a:pPr lvl="1">
              <a:defRPr/>
            </a:pPr>
            <a:r>
              <a:rPr lang="en-US"/>
              <a:t>HAVING: filters the groups formed in the GROUP BY clause based on provided criteria</a:t>
            </a:r>
            <a:endParaRPr/>
          </a:p>
          <a:p>
            <a:pPr lvl="1">
              <a:defRPr/>
            </a:pPr>
            <a:r>
              <a:rPr lang="en-US"/>
              <a:t>ORDER BY: sorts the final query result rows in ascending or descending order based on the values of one or more attributes</a:t>
            </a:r>
            <a:endParaRPr/>
          </a:p>
          <a:p>
            <a:pPr>
              <a:defRPr/>
            </a:pPr>
            <a:r>
              <a:rPr lang="en-US"/>
              <a:t>SQL commands can be grouped together on a single line</a:t>
            </a:r>
            <a:endParaRPr/>
          </a:p>
          <a:p>
            <a:pPr lvl="1">
              <a:defRPr/>
            </a:pPr>
            <a:r>
              <a:rPr lang="en-US"/>
              <a:t>Complex command sequences are best shown on separate lines, with space between the SQL command and the command’s components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(1 of 7)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615110"/>
          </a:xfrm>
        </p:spPr>
        <p:txBody>
          <a:bodyPr/>
          <a:lstStyle/>
          <a:p>
            <a:pPr>
              <a:defRPr/>
            </a:pPr>
            <a:r>
              <a:rPr lang="en-US"/>
              <a:t>The SELECT query specifies the columns to be retrieved as a column list</a:t>
            </a:r>
            <a:endParaRPr/>
          </a:p>
          <a:p>
            <a:pPr lvl="1">
              <a:defRPr/>
            </a:pPr>
            <a:r>
              <a:rPr lang="en-US"/>
              <a:t>Syntax: </a:t>
            </a:r>
            <a:endParaRPr/>
          </a:p>
          <a:p>
            <a:pPr marL="228600" lvl="1" indent="0">
              <a:buNone/>
              <a:defRPr/>
            </a:pPr>
            <a:r>
              <a:rPr lang="en-US"/>
              <a:t>	SELECT 	</a:t>
            </a:r>
            <a:r>
              <a:rPr lang="en-US" i="1"/>
              <a:t>columnlist</a:t>
            </a:r>
            <a:endParaRPr/>
          </a:p>
          <a:p>
            <a:pPr marL="228600" lvl="1" indent="0">
              <a:buNone/>
              <a:defRPr/>
            </a:pPr>
            <a:r>
              <a:rPr lang="en-US"/>
              <a:t>	FROM 	</a:t>
            </a:r>
            <a:r>
              <a:rPr lang="en-US" i="1"/>
              <a:t>tablelist;</a:t>
            </a:r>
            <a:endParaRPr/>
          </a:p>
          <a:p>
            <a:pPr lvl="1">
              <a:defRPr/>
            </a:pPr>
            <a:r>
              <a:rPr lang="en-US"/>
              <a:t>The columnlist represents one or more attributes, separated by commas</a:t>
            </a:r>
            <a:endParaRPr/>
          </a:p>
          <a:p>
            <a:pPr lvl="1">
              <a:defRPr/>
            </a:pPr>
            <a:r>
              <a:rPr lang="en-US"/>
              <a:t>A wildcard character is a symbol that can be used as a general substitute for other characters or commands</a:t>
            </a:r>
            <a:endParaRPr/>
          </a:p>
          <a:p>
            <a:pPr>
              <a:defRPr/>
            </a:pPr>
            <a:r>
              <a:rPr lang="en-US"/>
              <a:t>Using column aliases</a:t>
            </a:r>
            <a:endParaRPr/>
          </a:p>
          <a:p>
            <a:pPr lvl="1">
              <a:defRPr/>
            </a:pPr>
            <a:r>
              <a:rPr lang="en-US"/>
              <a:t>Alternative name for a column or table in a SQL statement</a:t>
            </a:r>
            <a:endParaRPr/>
          </a:p>
          <a:p>
            <a:pPr>
              <a:defRPr/>
            </a:pPr>
            <a:r>
              <a:rPr lang="en-US"/>
              <a:t>Using computed columns</a:t>
            </a:r>
            <a:endParaRPr/>
          </a:p>
          <a:p>
            <a:pPr lvl="1">
              <a:defRPr/>
            </a:pPr>
            <a:r>
              <a:rPr lang="en-US"/>
              <a:t>Computed column (also called a calculated column) represents a derived attribute</a:t>
            </a:r>
            <a:endParaRPr/>
          </a:p>
          <a:p>
            <a:pPr>
              <a:defRPr/>
            </a:pPr>
            <a:r>
              <a:rPr lang="en-US"/>
              <a:t>Arithmetic operators: the rule of precedence</a:t>
            </a:r>
            <a:endParaRPr/>
          </a:p>
          <a:p>
            <a:pPr lvl="1">
              <a:defRPr/>
            </a:pPr>
            <a:r>
              <a:rPr lang="en-US"/>
              <a:t>Rules that establish the order in which computations are completed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(2 of 7)</a:t>
            </a:r>
            <a:endParaRPr/>
          </a:p>
        </p:txBody>
      </p:sp>
      <p:pic>
        <p:nvPicPr>
          <p:cNvPr id="2" name="Picture 1" descr="Figure 7.2 shows the result of a SELECT statement returning all of the data from the PRODUCT table." hidden="0" title="Figure 7.2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457200" y="1524000"/>
            <a:ext cx="8077200" cy="3991273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(3 of 7)</a:t>
            </a:r>
            <a:endParaRPr/>
          </a:p>
        </p:txBody>
      </p:sp>
      <p:pic>
        <p:nvPicPr>
          <p:cNvPr id="5" name="Picture 4" descr="In Figure 7.3, a SELECT statement returns the data from the PRODUCT table in column list form.  " hidden="0" title="Figure 7.3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766916" y="1447800"/>
            <a:ext cx="7169024" cy="4627661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(4 of 7)</a:t>
            </a:r>
            <a:endParaRPr/>
          </a:p>
        </p:txBody>
      </p:sp>
      <p:pic>
        <p:nvPicPr>
          <p:cNvPr id="2" name="Picture 1" descr="Figure 7.4 shows the output of aliases used with a SELECT statement query." hidden="0" title="Figure 7.4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762000" y="1371600"/>
            <a:ext cx="7047233" cy="4555926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(5 of 7)</a:t>
            </a:r>
            <a:endParaRPr/>
          </a:p>
        </p:txBody>
      </p:sp>
      <p:graphicFrame>
        <p:nvGraphicFramePr>
          <p:cNvPr id="8" name="Content Placeholder 7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365125" y="1752599"/>
          <a:ext cx="8415338" cy="3134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2606675"/>
                <a:gridCol w="5808663"/>
              </a:tblGrid>
              <a:tr h="42576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Table 7.4: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The Arithmetic Operators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Operator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Add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Subtract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Multiply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/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Divide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^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Raise to the power of (some applications use ** instead of ^)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(6 of 7)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851550"/>
          </a:xfrm>
        </p:spPr>
        <p:txBody>
          <a:bodyPr/>
          <a:lstStyle/>
          <a:p>
            <a:pPr>
              <a:defRPr/>
            </a:pPr>
            <a:r>
              <a:rPr lang="en-US"/>
              <a:t>Date arithmetic</a:t>
            </a:r>
            <a:endParaRPr/>
          </a:p>
          <a:p>
            <a:pPr lvl="1">
              <a:defRPr/>
            </a:pPr>
            <a:r>
              <a:rPr lang="en-US"/>
              <a:t>Values are stored as a number of days; it is possible to perform date arithmetic in a query</a:t>
            </a:r>
            <a:endParaRPr/>
          </a:p>
          <a:p>
            <a:pPr>
              <a:defRPr/>
            </a:pPr>
            <a:r>
              <a:rPr lang="en-US"/>
              <a:t>Listing unique values</a:t>
            </a:r>
            <a:endParaRPr/>
          </a:p>
          <a:p>
            <a:pPr lvl="1">
              <a:defRPr/>
            </a:pPr>
            <a:r>
              <a:rPr lang="en-US"/>
              <a:t>SQL’s DISTINCT clause produces a list of only those values that are different from one another</a:t>
            </a:r>
            <a:endParaRPr/>
          </a:p>
          <a:p>
            <a:pPr lvl="1">
              <a:defRPr/>
            </a:pPr>
            <a:r>
              <a:rPr lang="en-US"/>
              <a:t>Command example: 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	DISTINCT V_CODE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	PRODUCT;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SELECT Statement Options (7 of 7)</a:t>
            </a:r>
            <a:endParaRPr/>
          </a:p>
        </p:txBody>
      </p:sp>
      <p:pic>
        <p:nvPicPr>
          <p:cNvPr id="2" name="Picture 1" descr="In Figure 7.7, a DISTINCT clause yields the different vendor codes in the PRODUCT table." hidden="0" title="Figure 7.7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762000" y="2057400"/>
            <a:ext cx="6781800" cy="2370981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(1 of 6)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230389"/>
          </a:xfrm>
        </p:spPr>
        <p:txBody>
          <a:bodyPr/>
          <a:lstStyle/>
          <a:p>
            <a:pPr>
              <a:defRPr/>
            </a:pPr>
            <a:r>
              <a:rPr lang="en-US"/>
              <a:t>FROM clause of the query specifies the table or tables from which the data is to be retrieved</a:t>
            </a:r>
            <a:endParaRPr/>
          </a:p>
          <a:p>
            <a:pPr lvl="1">
              <a:defRPr/>
            </a:pPr>
            <a:r>
              <a:rPr lang="en-US"/>
              <a:t>Inner joins return only rows from the tables that match on a common value</a:t>
            </a:r>
            <a:endParaRPr/>
          </a:p>
          <a:p>
            <a:pPr lvl="1">
              <a:defRPr/>
            </a:pPr>
            <a:r>
              <a:rPr lang="en-US"/>
              <a:t>Outer joins return the same matched rows as the inner join, plus unmatched rows from one table or the other</a:t>
            </a:r>
            <a:endParaRPr/>
          </a:p>
          <a:p>
            <a:pPr>
              <a:defRPr/>
            </a:pPr>
            <a:r>
              <a:rPr lang="en-US"/>
              <a:t>Natural join returns all rows with matching values in the matching columns and eliminates duplicate columns</a:t>
            </a:r>
            <a:endParaRPr/>
          </a:p>
          <a:p>
            <a:pPr lvl="1">
              <a:defRPr/>
            </a:pPr>
            <a:r>
              <a:rPr lang="en-US"/>
              <a:t>Determines the common attribute(s) by looking for attributes with identical names and compatible data types</a:t>
            </a:r>
            <a:endParaRPr/>
          </a:p>
          <a:p>
            <a:pPr lvl="1">
              <a:defRPr/>
            </a:pPr>
            <a:r>
              <a:rPr lang="en-US"/>
              <a:t>Selects only the rows with common values in the common attribute(s)</a:t>
            </a:r>
            <a:endParaRPr/>
          </a:p>
          <a:p>
            <a:pPr lvl="1">
              <a:defRPr/>
            </a:pPr>
            <a:r>
              <a:rPr lang="en-US"/>
              <a:t>If there are no common attributes, returns the relational product of the two tables</a:t>
            </a:r>
            <a:endParaRPr/>
          </a:p>
          <a:p>
            <a:pPr lvl="1">
              <a:defRPr/>
            </a:pPr>
            <a:r>
              <a:rPr lang="en-US"/>
              <a:t>Syntax: 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</a:t>
            </a:r>
            <a:r>
              <a:rPr lang="en-US" i="1"/>
              <a:t>column-list</a:t>
            </a:r>
            <a:r>
              <a:rPr lang="en-US"/>
              <a:t> FROM </a:t>
            </a:r>
            <a:r>
              <a:rPr lang="en-US" i="1"/>
              <a:t>table1</a:t>
            </a:r>
            <a:r>
              <a:rPr lang="en-US"/>
              <a:t> NATURAL JOIN </a:t>
            </a:r>
            <a:r>
              <a:rPr lang="en-US" i="1"/>
              <a:t>table2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(2 of 6)</a:t>
            </a:r>
            <a:endParaRPr/>
          </a:p>
        </p:txBody>
      </p:sp>
      <p:graphicFrame>
        <p:nvGraphicFramePr>
          <p:cNvPr id="6" name="Content Placeholder 5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365125" y="1538288"/>
          <a:ext cx="8415339" cy="22961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2454274"/>
                <a:gridCol w="3810000"/>
                <a:gridCol w="2151064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Table 7.5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Creating Links through Foreign Keys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Table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Attributes To Be Shown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Linking Attribute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PRODUCT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P_DESCRIPT, P_PRICE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V_CODE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VENDOR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V_NAME, V_CONTACT, V_AREACODE, V_PHONE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V_CODE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(3 of 6)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054956"/>
          </a:xfrm>
        </p:spPr>
        <p:txBody>
          <a:bodyPr/>
          <a:lstStyle/>
          <a:p>
            <a:pPr>
              <a:defRPr/>
            </a:pPr>
            <a:r>
              <a:rPr lang="en-US"/>
              <a:t>JOIN USING syntax</a:t>
            </a:r>
            <a:endParaRPr/>
          </a:p>
          <a:p>
            <a:pPr lvl="1">
              <a:defRPr/>
            </a:pPr>
            <a:r>
              <a:rPr lang="en-US"/>
              <a:t>Returns only the rows with matching values in the column indicated in the USING clause—and that column must exist in both tables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</a:t>
            </a:r>
            <a:r>
              <a:rPr lang="en-US" i="1"/>
              <a:t> column-list </a:t>
            </a:r>
            <a:r>
              <a:rPr lang="en-US"/>
              <a:t>FROM</a:t>
            </a:r>
            <a:r>
              <a:rPr lang="en-US" i="1"/>
              <a:t> table1 </a:t>
            </a:r>
            <a:r>
              <a:rPr lang="en-US"/>
              <a:t>JOIN</a:t>
            </a:r>
            <a:r>
              <a:rPr lang="en-US" i="1"/>
              <a:t> table2 </a:t>
            </a:r>
            <a:r>
              <a:rPr lang="en-US"/>
              <a:t>USING (</a:t>
            </a:r>
            <a:r>
              <a:rPr lang="en-US" i="1"/>
              <a:t>common-column</a:t>
            </a:r>
            <a:r>
              <a:rPr lang="en-US"/>
              <a:t>)</a:t>
            </a:r>
            <a:endParaRPr/>
          </a:p>
          <a:p>
            <a:pPr>
              <a:defRPr/>
            </a:pPr>
            <a:r>
              <a:rPr lang="en-US"/>
              <a:t>JOIN ON syntax</a:t>
            </a:r>
            <a:endParaRPr/>
          </a:p>
          <a:p>
            <a:pPr lvl="1">
              <a:defRPr/>
            </a:pPr>
            <a:r>
              <a:rPr lang="en-US"/>
              <a:t>Express a join when the tables have no common attribute names</a:t>
            </a:r>
            <a:endParaRPr/>
          </a:p>
          <a:p>
            <a:pPr lvl="1">
              <a:defRPr/>
            </a:pPr>
            <a:r>
              <a:rPr lang="en-US"/>
              <a:t>Query returns only the rows that meet the indicated join condition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</a:t>
            </a:r>
            <a:r>
              <a:rPr lang="en-US" i="1"/>
              <a:t>column-list </a:t>
            </a:r>
            <a:r>
              <a:rPr lang="en-US"/>
              <a:t>FROM </a:t>
            </a:r>
            <a:r>
              <a:rPr lang="en-US" i="1"/>
              <a:t>table1</a:t>
            </a:r>
            <a:r>
              <a:rPr lang="en-US"/>
              <a:t> JOIN table2 ON </a:t>
            </a:r>
            <a:r>
              <a:rPr lang="en-US" i="1"/>
              <a:t>join-condition</a:t>
            </a:r>
            <a:endParaRPr/>
          </a:p>
          <a:p>
            <a:pPr>
              <a:defRPr/>
            </a:pPr>
            <a:r>
              <a:rPr lang="en-US"/>
              <a:t>Common attribute names</a:t>
            </a:r>
            <a:endParaRPr/>
          </a:p>
          <a:p>
            <a:pPr lvl="1">
              <a:defRPr/>
            </a:pPr>
            <a:r>
              <a:rPr lang="en-US"/>
              <a:t>Most common cause of duplicate column names is the existence of a foreign key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(4 of 6)</a:t>
            </a:r>
            <a:endParaRPr/>
          </a:p>
        </p:txBody>
      </p:sp>
      <p:pic>
        <p:nvPicPr>
          <p:cNvPr id="2" name="Picture 1" descr="Figure 7.12 shows the results of a join of the INVOICE and LINE tables using the ON clause." hidden="0" title="Figure 7.12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609600" y="1371600"/>
            <a:ext cx="7499671" cy="4489549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(5 of 6)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451988"/>
          </a:xfrm>
        </p:spPr>
        <p:txBody>
          <a:bodyPr/>
          <a:lstStyle/>
          <a:p>
            <a:pPr>
              <a:defRPr/>
            </a:pPr>
            <a:r>
              <a:rPr lang="en-US"/>
              <a:t>Outer joins</a:t>
            </a:r>
            <a:endParaRPr/>
          </a:p>
          <a:p>
            <a:pPr lvl="1">
              <a:defRPr/>
            </a:pPr>
            <a:r>
              <a:rPr lang="en-US"/>
              <a:t>Returns not only the rows matching the join condition (rows with matching values in the common columns) and returns the rows with unmatched values</a:t>
            </a:r>
            <a:endParaRPr/>
          </a:p>
          <a:p>
            <a:pPr lvl="1">
              <a:defRPr/>
            </a:pPr>
            <a:r>
              <a:rPr lang="en-US"/>
              <a:t>ANSI standard defines three types of outer joins: left, right, and full</a:t>
            </a:r>
            <a:endParaRPr/>
          </a:p>
          <a:p>
            <a:pPr>
              <a:defRPr/>
            </a:pPr>
            <a:r>
              <a:rPr lang="en-US"/>
              <a:t>Cross join</a:t>
            </a:r>
            <a:endParaRPr/>
          </a:p>
          <a:p>
            <a:pPr lvl="1">
              <a:defRPr/>
            </a:pPr>
            <a:r>
              <a:rPr lang="en-US"/>
              <a:t>Performs a relational product (also known as the </a:t>
            </a:r>
            <a:r>
              <a:rPr lang="en-US" i="1"/>
              <a:t>Cartesian product</a:t>
            </a:r>
            <a:r>
              <a:rPr lang="en-US"/>
              <a:t>) of two tables</a:t>
            </a:r>
            <a:endParaRPr/>
          </a:p>
          <a:p>
            <a:pPr>
              <a:defRPr/>
            </a:pPr>
            <a:r>
              <a:rPr lang="en-US"/>
              <a:t>Joining tables with an alias</a:t>
            </a:r>
            <a:endParaRPr/>
          </a:p>
          <a:p>
            <a:pPr lvl="1">
              <a:defRPr/>
            </a:pPr>
            <a:r>
              <a:rPr lang="en-US"/>
              <a:t>An alias may be used to identify the source table from which the data is taken</a:t>
            </a:r>
            <a:endParaRPr/>
          </a:p>
          <a:p>
            <a:pPr lvl="1">
              <a:defRPr/>
            </a:pPr>
            <a:r>
              <a:rPr lang="en-US"/>
              <a:t>The ability to specify a table alias is very useful</a:t>
            </a:r>
            <a:endParaRPr/>
          </a:p>
          <a:p>
            <a:pPr lvl="2">
              <a:defRPr/>
            </a:pPr>
            <a:r>
              <a:rPr lang="en-US"/>
              <a:t>Using a table alias allows the database programmer to improve the maintainability of the code by using a table alias that is descriptive of what data the table is providing within the query</a:t>
            </a:r>
            <a:endParaRPr/>
          </a:p>
          <a:p>
            <a:pPr>
              <a:defRPr/>
            </a:pPr>
            <a:r>
              <a:rPr lang="en-US"/>
              <a:t>Recursive joins</a:t>
            </a:r>
            <a:endParaRPr/>
          </a:p>
          <a:p>
            <a:pPr lvl="1">
              <a:defRPr/>
            </a:pPr>
            <a:r>
              <a:rPr lang="en-US"/>
              <a:t>Recursive query: joins a table to itself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FROM Clause Options (6 of 6)</a:t>
            </a:r>
            <a:endParaRPr/>
          </a:p>
        </p:txBody>
      </p:sp>
      <p:pic>
        <p:nvPicPr>
          <p:cNvPr id="2" name="Picture 1" descr="In Figure 7.17, the output of a command sequence using an alias to join a table to itself is depicted. " hidden="0" title="Figure 7.17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1143000" y="1905000"/>
            <a:ext cx="7060389" cy="3026866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ORDER BY Clause Options (1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671501"/>
          </a:xfrm>
        </p:spPr>
        <p:txBody>
          <a:bodyPr/>
          <a:lstStyle/>
          <a:p>
            <a:pPr>
              <a:defRPr/>
            </a:pPr>
            <a:r>
              <a:rPr lang="en-US"/>
              <a:t>ORDER BY clause is especially useful when the listing order is important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</a:t>
            </a:r>
            <a:r>
              <a:rPr lang="en-US" i="1"/>
              <a:t>columnlist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</a:t>
            </a:r>
            <a:r>
              <a:rPr lang="en-US" i="1"/>
              <a:t>tablelist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[ORDER BY </a:t>
            </a:r>
            <a:r>
              <a:rPr lang="en-US" i="1"/>
              <a:t>columnlist</a:t>
            </a:r>
            <a:r>
              <a:rPr lang="en-US"/>
              <a:t> [ASC|DESC] ];</a:t>
            </a:r>
            <a:endParaRPr/>
          </a:p>
          <a:p>
            <a:pPr lvl="1">
              <a:defRPr/>
            </a:pPr>
            <a:r>
              <a:rPr lang="en-US"/>
              <a:t>Cascading order sequence</a:t>
            </a:r>
            <a:endParaRPr/>
          </a:p>
          <a:p>
            <a:pPr lvl="2">
              <a:defRPr/>
            </a:pPr>
            <a:r>
              <a:rPr lang="en-US"/>
              <a:t>1. ORDER BY last name</a:t>
            </a:r>
            <a:endParaRPr/>
          </a:p>
          <a:p>
            <a:pPr lvl="2">
              <a:defRPr/>
            </a:pPr>
            <a:r>
              <a:rPr lang="en-US"/>
              <a:t>2. Within matching last names, ORDER BY first name</a:t>
            </a:r>
            <a:endParaRPr/>
          </a:p>
          <a:p>
            <a:pPr lvl="2">
              <a:defRPr/>
            </a:pPr>
            <a:r>
              <a:rPr lang="en-US"/>
              <a:t>3. Within matching first and last names, ORDER BY middle initial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ORDER BY Clause Options (2 of 2)</a:t>
            </a:r>
            <a:endParaRPr/>
          </a:p>
        </p:txBody>
      </p:sp>
      <p:pic>
        <p:nvPicPr>
          <p:cNvPr id="2" name="Picture 1" descr="The output of an ORDER BY clause, sorting products by price in ascending order, is illustrated in Figure 7.18. " hidden="0" title="Figure 7.18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486534" y="1600200"/>
            <a:ext cx="7924800" cy="3676055"/>
          </a:xfrm>
          <a:prstGeom prst="rect">
            <a:avLst/>
          </a:prstGeom>
        </p:spPr>
      </p:pic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Clause Options (1 of 4)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047262"/>
          </a:xfrm>
        </p:spPr>
        <p:txBody>
          <a:bodyPr/>
          <a:lstStyle/>
          <a:p>
            <a:pPr>
              <a:defRPr/>
            </a:pPr>
            <a:r>
              <a:rPr lang="en-US"/>
              <a:t>Selecting rows with conditional restrictions</a:t>
            </a:r>
            <a:endParaRPr/>
          </a:p>
          <a:p>
            <a:pPr lvl="1">
              <a:defRPr/>
            </a:pPr>
            <a:r>
              <a:rPr lang="en-US"/>
              <a:t>WHERE clause is used to add conditional restrictions to the SELECT statement that limit the rows returned by the query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		</a:t>
            </a:r>
            <a:r>
              <a:rPr lang="en-US" i="1"/>
              <a:t>columnlist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		</a:t>
            </a:r>
            <a:r>
              <a:rPr lang="en-US" i="1"/>
              <a:t>tablelist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[WHERE 		</a:t>
            </a:r>
            <a:r>
              <a:rPr lang="en-US" i="1"/>
              <a:t>conditionlist</a:t>
            </a:r>
            <a:r>
              <a:rPr lang="en-US"/>
              <a:t> 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[ORDER BY 	</a:t>
            </a:r>
            <a:r>
              <a:rPr lang="en-US" i="1"/>
              <a:t>columnlist</a:t>
            </a:r>
            <a:r>
              <a:rPr lang="en-US"/>
              <a:t> [ASC | DESC] ];</a:t>
            </a:r>
            <a:endParaRPr/>
          </a:p>
          <a:p>
            <a:pPr>
              <a:defRPr/>
            </a:pPr>
            <a:r>
              <a:rPr lang="en-US"/>
              <a:t>Using comparison operators on character attributes</a:t>
            </a:r>
            <a:endParaRPr/>
          </a:p>
          <a:p>
            <a:pPr lvl="1">
              <a:defRPr/>
            </a:pPr>
            <a:r>
              <a:rPr lang="en-US"/>
              <a:t>May be used to place restrictions on character-based attributes</a:t>
            </a:r>
            <a:endParaRPr/>
          </a:p>
          <a:p>
            <a:pPr>
              <a:defRPr/>
            </a:pPr>
            <a:r>
              <a:rPr lang="en-US"/>
              <a:t>Using comparison operators on dates</a:t>
            </a:r>
            <a:endParaRPr/>
          </a:p>
          <a:p>
            <a:pPr lvl="1">
              <a:defRPr/>
            </a:pPr>
            <a:r>
              <a:rPr lang="en-US"/>
              <a:t>Date procedures are often more software-specific than other SQL procedures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Clause Options (2 of 4)</a:t>
            </a:r>
            <a:endParaRPr/>
          </a:p>
        </p:txBody>
      </p:sp>
      <p:graphicFrame>
        <p:nvGraphicFramePr>
          <p:cNvPr id="6" name="Content Placeholder 5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365125" y="1538288"/>
          <a:ext cx="8415338" cy="32359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4207669"/>
                <a:gridCol w="4207669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Table 7.6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Comparison Operators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Symbol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Meaning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Equal to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&lt;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Less than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&lt;=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Less than or equal to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&gt;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Greater than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&gt;=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Greater than or equal to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&lt;&gt; or !=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Not equal to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Clause Options (3 of 4)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047262"/>
          </a:xfrm>
        </p:spPr>
        <p:txBody>
          <a:bodyPr/>
          <a:lstStyle/>
          <a:p>
            <a:pPr>
              <a:defRPr/>
            </a:pPr>
            <a:r>
              <a:rPr lang="en-US"/>
              <a:t>Selecting rows with conditional restrictions</a:t>
            </a:r>
            <a:endParaRPr/>
          </a:p>
          <a:p>
            <a:pPr lvl="1">
              <a:defRPr/>
            </a:pPr>
            <a:r>
              <a:rPr lang="en-US"/>
              <a:t>WHERE clause is used to add conditional restrictions to the SELECT statement that limit the rows returned by the query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		</a:t>
            </a:r>
            <a:r>
              <a:rPr lang="en-US" i="1"/>
              <a:t>columnlist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		</a:t>
            </a:r>
            <a:r>
              <a:rPr lang="en-US" i="1"/>
              <a:t>tablelist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[WHERE 		</a:t>
            </a:r>
            <a:r>
              <a:rPr lang="en-US" i="1"/>
              <a:t>conditionlist</a:t>
            </a:r>
            <a:r>
              <a:rPr lang="en-US"/>
              <a:t> 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[ORDER BY 	</a:t>
            </a:r>
            <a:r>
              <a:rPr lang="en-US" i="1"/>
              <a:t>columnlist</a:t>
            </a:r>
            <a:r>
              <a:rPr lang="en-US"/>
              <a:t> [ASC | DESC] ];</a:t>
            </a:r>
            <a:endParaRPr/>
          </a:p>
          <a:p>
            <a:pPr>
              <a:defRPr/>
            </a:pPr>
            <a:r>
              <a:rPr lang="en-US"/>
              <a:t>Using comparison operators on character attributes</a:t>
            </a:r>
            <a:endParaRPr/>
          </a:p>
          <a:p>
            <a:pPr lvl="1">
              <a:defRPr/>
            </a:pPr>
            <a:r>
              <a:rPr lang="en-US"/>
              <a:t>May be used to place restrictions on character-based attributes</a:t>
            </a:r>
            <a:endParaRPr/>
          </a:p>
          <a:p>
            <a:pPr>
              <a:defRPr/>
            </a:pPr>
            <a:r>
              <a:rPr lang="en-US"/>
              <a:t>Using comparison operators on dates</a:t>
            </a:r>
            <a:endParaRPr/>
          </a:p>
          <a:p>
            <a:pPr lvl="1">
              <a:defRPr/>
            </a:pPr>
            <a:r>
              <a:rPr lang="en-US"/>
              <a:t>Date procedures are often more software-specific than other SQL procedures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Clause Options (4 of 4)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735142"/>
          </a:xfrm>
        </p:spPr>
        <p:txBody>
          <a:bodyPr/>
          <a:lstStyle/>
          <a:p>
            <a:pPr>
              <a:defRPr/>
            </a:pPr>
            <a:r>
              <a:rPr lang="en-US"/>
              <a:t>Logical operators: AND, OR, and NOT</a:t>
            </a:r>
            <a:endParaRPr/>
          </a:p>
          <a:p>
            <a:pPr lvl="1">
              <a:defRPr/>
            </a:pPr>
            <a:r>
              <a:rPr lang="en-US"/>
              <a:t>SQL allows you to include multiple conditions in a query through the use of these logical operators</a:t>
            </a:r>
            <a:endParaRPr/>
          </a:p>
          <a:p>
            <a:pPr lvl="1">
              <a:defRPr/>
            </a:pPr>
            <a:r>
              <a:rPr lang="en-US"/>
              <a:t>Boolean algebra is dedicated to the use of logical operators</a:t>
            </a:r>
            <a:endParaRPr/>
          </a:p>
          <a:p>
            <a:pPr>
              <a:defRPr/>
            </a:pPr>
            <a:r>
              <a:rPr lang="en-US"/>
              <a:t>Old-style joins</a:t>
            </a:r>
            <a:endParaRPr/>
          </a:p>
          <a:p>
            <a:pPr lvl="1">
              <a:defRPr/>
            </a:pPr>
            <a:r>
              <a:rPr lang="en-US"/>
              <a:t>Generally not recommended</a:t>
            </a:r>
            <a:endParaRPr/>
          </a:p>
          <a:p>
            <a:pPr lvl="2">
              <a:defRPr/>
            </a:pPr>
            <a:r>
              <a:rPr lang="en-US"/>
              <a:t>Make complex queries more difficult to maintain</a:t>
            </a:r>
            <a:endParaRPr/>
          </a:p>
          <a:p>
            <a:pPr lvl="2">
              <a:defRPr/>
            </a:pPr>
            <a:r>
              <a:rPr lang="en-US"/>
              <a:t>Susceptible to undetected errors</a:t>
            </a:r>
            <a:endParaRPr/>
          </a:p>
          <a:p>
            <a:pPr>
              <a:defRPr/>
            </a:pPr>
            <a:r>
              <a:rPr lang="en-US"/>
              <a:t>Special operators</a:t>
            </a:r>
            <a:endParaRPr/>
          </a:p>
          <a:p>
            <a:pPr lvl="1">
              <a:defRPr/>
            </a:pPr>
            <a:r>
              <a:rPr lang="en-US"/>
              <a:t>BETWEEN </a:t>
            </a:r>
            <a:endParaRPr/>
          </a:p>
          <a:p>
            <a:pPr lvl="1">
              <a:defRPr/>
            </a:pPr>
            <a:r>
              <a:rPr lang="en-US"/>
              <a:t>IN</a:t>
            </a:r>
            <a:endParaRPr/>
          </a:p>
          <a:p>
            <a:pPr lvl="1">
              <a:defRPr/>
            </a:pPr>
            <a:r>
              <a:rPr lang="en-US"/>
              <a:t>LIKE </a:t>
            </a:r>
            <a:endParaRPr/>
          </a:p>
          <a:p>
            <a:pPr lvl="1">
              <a:defRPr/>
            </a:pPr>
            <a:r>
              <a:rPr lang="en-US"/>
              <a:t>IS NULL </a:t>
            </a:r>
            <a:endParaRPr/>
          </a:p>
          <a:p>
            <a:pPr lvl="1">
              <a:defRPr/>
            </a:pPr>
            <a:r>
              <a:rPr lang="en-US"/>
              <a:t>NOT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Aggregate Processing (1 of 3)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564326"/>
          </a:xfrm>
        </p:spPr>
        <p:txBody>
          <a:bodyPr/>
          <a:lstStyle/>
          <a:p>
            <a:pPr>
              <a:defRPr/>
            </a:pPr>
            <a:r>
              <a:rPr lang="en-US"/>
              <a:t>Takes a collection of rows and reduces it to a single row</a:t>
            </a:r>
            <a:endParaRPr/>
          </a:p>
          <a:p>
            <a:pPr lvl="1">
              <a:defRPr/>
            </a:pPr>
            <a:r>
              <a:rPr lang="en-US"/>
              <a:t>SQL provides useful aggregate functions that count, find minimum and maximum values, calculate averages, etc.</a:t>
            </a:r>
            <a:endParaRPr/>
          </a:p>
          <a:p>
            <a:pPr>
              <a:defRPr/>
            </a:pPr>
            <a:r>
              <a:rPr lang="en-US"/>
              <a:t>Aggregate functions</a:t>
            </a:r>
            <a:endParaRPr/>
          </a:p>
          <a:p>
            <a:pPr lvl="1">
              <a:defRPr/>
            </a:pPr>
            <a:r>
              <a:rPr lang="en-US"/>
              <a:t>Count</a:t>
            </a:r>
            <a:endParaRPr/>
          </a:p>
          <a:p>
            <a:pPr lvl="1">
              <a:defRPr/>
            </a:pPr>
            <a:r>
              <a:rPr lang="en-US"/>
              <a:t>MIN and MAX</a:t>
            </a:r>
            <a:endParaRPr/>
          </a:p>
          <a:p>
            <a:pPr lvl="1">
              <a:defRPr/>
            </a:pPr>
            <a:r>
              <a:rPr lang="en-US"/>
              <a:t>SUM and AVG</a:t>
            </a:r>
            <a:endParaRPr/>
          </a:p>
          <a:p>
            <a:pPr>
              <a:defRPr/>
            </a:pPr>
            <a:r>
              <a:rPr lang="en-US"/>
              <a:t>Grouping data</a:t>
            </a:r>
            <a:endParaRPr/>
          </a:p>
          <a:p>
            <a:pPr lvl="1">
              <a:defRPr/>
            </a:pPr>
            <a:r>
              <a:rPr lang="en-US"/>
              <a:t>GROUP BY clause syntax: 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		</a:t>
            </a:r>
            <a:r>
              <a:rPr lang="en-US" i="1"/>
              <a:t> columnlist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		</a:t>
            </a:r>
            <a:r>
              <a:rPr lang="en-US" i="1"/>
              <a:t> tablelist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[WHERE 	 	 </a:t>
            </a:r>
            <a:r>
              <a:rPr lang="en-US" i="1"/>
              <a:t>conditionlist</a:t>
            </a:r>
            <a:r>
              <a:rPr lang="en-US"/>
              <a:t> 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[GROUP BY	</a:t>
            </a:r>
            <a:r>
              <a:rPr lang="en-US" i="1"/>
              <a:t> columnlist </a:t>
            </a:r>
            <a:r>
              <a:rPr lang="en-US"/>
              <a:t>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[ORDER BY 	</a:t>
            </a:r>
            <a:r>
              <a:rPr lang="en-US" i="1"/>
              <a:t> columnlist </a:t>
            </a:r>
            <a:r>
              <a:rPr lang="en-US"/>
              <a:t>[ASC | DESC] ];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24000" y="6477000"/>
            <a:ext cx="6781693" cy="244535"/>
          </a:xfrm>
        </p:spPr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Aggregate Processing (2 of 3)</a:t>
            </a:r>
            <a:endParaRPr/>
          </a:p>
        </p:txBody>
      </p:sp>
      <p:graphicFrame>
        <p:nvGraphicFramePr>
          <p:cNvPr id="6" name="Content Placeholder 5" hidden="0"/>
          <p:cNvGraphicFramePr>
            <a:graphicFrameLocks xmlns:a="http://schemas.openxmlformats.org/drawingml/2006/main" noGrp="1"/>
          </p:cNvGraphicFramePr>
          <p:nvPr isPhoto="0" userDrawn="0">
            <p:ph idx="1" hasCustomPrompt="0"/>
          </p:nvPr>
        </p:nvGraphicFramePr>
        <p:xfrm>
          <a:off x="365125" y="1538288"/>
          <a:ext cx="8415338" cy="3677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{62D2F8F4-DB62-374F-2DBA-AAD7853CBB71}</a:tableStyleId>
              </a:tblPr>
              <a:tblGrid>
                <a:gridCol w="2911475"/>
                <a:gridCol w="5503863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Table 7.7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Some Basic SQL Aggregate Functions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Output</a:t>
                      </a:r>
                      <a:endParaRPr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COUNT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The number of rows containing non-null values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MIN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The minimum attribute value encountered in a given column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MAX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The maximum attribute value encountered in a given column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SUM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The sum of all values for a given column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AVG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The arithmetic mean (average) for a specified column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24000" y="6477000"/>
            <a:ext cx="6781693" cy="244535"/>
          </a:xfrm>
        </p:spPr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Aggregate Processing (3 of 3)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3011594"/>
          </a:xfrm>
        </p:spPr>
        <p:txBody>
          <a:bodyPr/>
          <a:lstStyle/>
          <a:p>
            <a:pPr>
              <a:defRPr/>
            </a:pPr>
            <a:r>
              <a:rPr lang="en-US"/>
              <a:t>HAVING clause</a:t>
            </a:r>
            <a:endParaRPr/>
          </a:p>
          <a:p>
            <a:pPr lvl="1">
              <a:defRPr/>
            </a:pPr>
            <a:r>
              <a:rPr lang="en-US"/>
              <a:t>Operates very much like the WHERE clause in the SELECT statement</a:t>
            </a:r>
            <a:endParaRPr/>
          </a:p>
          <a:p>
            <a:pPr lvl="1">
              <a:defRPr/>
            </a:pPr>
            <a:r>
              <a:rPr lang="en-US"/>
              <a:t>HAVING clause is applied to the output of a GROUP BY operation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SELECT 		</a:t>
            </a:r>
            <a:r>
              <a:rPr lang="en-US" i="1"/>
              <a:t>columnlist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FROM 		</a:t>
            </a:r>
            <a:r>
              <a:rPr lang="en-US" i="1"/>
              <a:t>tablelist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[WHERE 		</a:t>
            </a:r>
            <a:r>
              <a:rPr lang="en-US" i="1"/>
              <a:t>conditionlist</a:t>
            </a:r>
            <a:r>
              <a:rPr lang="en-US"/>
              <a:t> 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[GROUP BY 	</a:t>
            </a:r>
            <a:r>
              <a:rPr lang="en-US" i="1"/>
              <a:t>columnlist </a:t>
            </a:r>
            <a:r>
              <a:rPr lang="en-US"/>
              <a:t>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[HAVING 		</a:t>
            </a:r>
            <a:r>
              <a:rPr lang="en-US" i="1"/>
              <a:t>conditionlist</a:t>
            </a:r>
            <a:r>
              <a:rPr lang="en-US"/>
              <a:t> ]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[ORDER BY 	</a:t>
            </a:r>
            <a:r>
              <a:rPr lang="en-US" i="1"/>
              <a:t>columnlist</a:t>
            </a:r>
            <a:r>
              <a:rPr lang="en-US"/>
              <a:t> [ASC | DESC] ];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1524000" y="6477000"/>
            <a:ext cx="6781693" cy="244535"/>
          </a:xfrm>
        </p:spPr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Subqueries (1 of 3)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139595"/>
          </a:xfrm>
        </p:spPr>
        <p:txBody>
          <a:bodyPr/>
          <a:lstStyle/>
          <a:p>
            <a:pPr>
              <a:defRPr/>
            </a:pPr>
            <a:r>
              <a:rPr lang="en-US"/>
              <a:t>Key characteristics </a:t>
            </a:r>
            <a:endParaRPr/>
          </a:p>
          <a:p>
            <a:pPr lvl="1">
              <a:defRPr/>
            </a:pPr>
            <a:r>
              <a:rPr lang="en-US"/>
              <a:t>A subquery is a query (SELECT statement) inside another query</a:t>
            </a:r>
            <a:endParaRPr/>
          </a:p>
          <a:p>
            <a:pPr lvl="1">
              <a:defRPr/>
            </a:pPr>
            <a:r>
              <a:rPr lang="en-US"/>
              <a:t>A subquery is normally expressed inside parentheses</a:t>
            </a:r>
            <a:endParaRPr/>
          </a:p>
          <a:p>
            <a:pPr lvl="1">
              <a:defRPr/>
            </a:pPr>
            <a:r>
              <a:rPr lang="en-US"/>
              <a:t>The first query in the SQL statement is known as the outer query</a:t>
            </a:r>
            <a:endParaRPr/>
          </a:p>
          <a:p>
            <a:pPr lvl="1">
              <a:defRPr/>
            </a:pPr>
            <a:r>
              <a:rPr lang="en-US"/>
              <a:t>The query inside the SQL statement is known as the inner query</a:t>
            </a:r>
            <a:endParaRPr/>
          </a:p>
          <a:p>
            <a:pPr lvl="1">
              <a:defRPr/>
            </a:pPr>
            <a:r>
              <a:rPr lang="en-US"/>
              <a:t>The inner query is executed first</a:t>
            </a:r>
            <a:endParaRPr/>
          </a:p>
          <a:p>
            <a:pPr lvl="1">
              <a:defRPr/>
            </a:pPr>
            <a:r>
              <a:rPr lang="en-US"/>
              <a:t>The output of an inner query is used as the input for the outer query</a:t>
            </a:r>
            <a:endParaRPr/>
          </a:p>
          <a:p>
            <a:pPr lvl="1">
              <a:defRPr/>
            </a:pPr>
            <a:r>
              <a:rPr lang="en-US"/>
              <a:t>The entire SQL statement is sometimes referred to as a nested query</a:t>
            </a:r>
            <a:endParaRPr/>
          </a:p>
          <a:p>
            <a:pPr>
              <a:defRPr/>
            </a:pPr>
            <a:r>
              <a:rPr lang="en-US"/>
              <a:t>Subquery can return one or more values</a:t>
            </a:r>
            <a:endParaRPr/>
          </a:p>
          <a:p>
            <a:pPr lvl="1">
              <a:defRPr/>
            </a:pPr>
            <a:r>
              <a:rPr lang="en-US"/>
              <a:t>One single value (one column and one row)</a:t>
            </a:r>
            <a:endParaRPr/>
          </a:p>
          <a:p>
            <a:pPr lvl="1">
              <a:defRPr/>
            </a:pPr>
            <a:r>
              <a:rPr lang="en-US"/>
              <a:t>A list of values (one column and multiple rows)</a:t>
            </a:r>
            <a:endParaRPr/>
          </a:p>
          <a:p>
            <a:pPr lvl="1">
              <a:defRPr/>
            </a:pPr>
            <a:r>
              <a:rPr lang="en-US"/>
              <a:t>A virtual table (multicolumn, multirow set of values)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Subqueries (2 of 3)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724370"/>
          </a:xfrm>
        </p:spPr>
        <p:txBody>
          <a:bodyPr/>
          <a:lstStyle/>
          <a:p>
            <a:pPr>
              <a:defRPr/>
            </a:pPr>
            <a:r>
              <a:rPr lang="en-US"/>
              <a:t>WHERE subqueries</a:t>
            </a:r>
            <a:endParaRPr/>
          </a:p>
          <a:p>
            <a:pPr lvl="1">
              <a:defRPr/>
            </a:pPr>
            <a:r>
              <a:rPr lang="en-US"/>
              <a:t>Most common type of subquery uses an inner SELECT subquery on the right side of a WHERE comparison expression</a:t>
            </a:r>
            <a:endParaRPr/>
          </a:p>
          <a:p>
            <a:pPr>
              <a:defRPr/>
            </a:pPr>
            <a:r>
              <a:rPr lang="en-US"/>
              <a:t>IN subqueries</a:t>
            </a:r>
            <a:endParaRPr/>
          </a:p>
          <a:p>
            <a:pPr lvl="1">
              <a:defRPr/>
            </a:pPr>
            <a:r>
              <a:rPr lang="en-US"/>
              <a:t>IN operator: used to compare a single attribute to a list of values</a:t>
            </a:r>
            <a:endParaRPr/>
          </a:p>
          <a:p>
            <a:pPr lvl="1">
              <a:defRPr/>
            </a:pPr>
            <a:r>
              <a:rPr lang="en-US"/>
              <a:t>IN subquery: values are not known beforehand, but can be derived using a query</a:t>
            </a:r>
            <a:endParaRPr/>
          </a:p>
          <a:p>
            <a:pPr>
              <a:defRPr/>
            </a:pPr>
            <a:r>
              <a:rPr lang="en-US"/>
              <a:t>HAVING subqueries </a:t>
            </a:r>
            <a:endParaRPr/>
          </a:p>
          <a:p>
            <a:pPr lvl="1">
              <a:defRPr/>
            </a:pPr>
            <a:r>
              <a:rPr lang="en-US"/>
              <a:t>HAVING clause: used to restrict the output of a GROUP BY query by applying conditional criteria to the grouped rows</a:t>
            </a:r>
            <a:endParaRPr/>
          </a:p>
          <a:p>
            <a:pPr>
              <a:defRPr/>
            </a:pPr>
            <a:r>
              <a:rPr lang="en-US"/>
              <a:t>Multirow subquery operators: ALL and ANY</a:t>
            </a:r>
            <a:endParaRPr/>
          </a:p>
          <a:p>
            <a:pPr lvl="1">
              <a:defRPr/>
            </a:pPr>
            <a:r>
              <a:rPr lang="en-US"/>
              <a:t>ALL operator compares a single value with a list of values returned by the first subquery using a comparison operator other than equals</a:t>
            </a:r>
            <a:endParaRPr/>
          </a:p>
          <a:p>
            <a:pPr lvl="1">
              <a:defRPr/>
            </a:pPr>
            <a:r>
              <a:rPr lang="en-US"/>
              <a:t>ANY operator compares a single value to a list of values and select only the rows greater than or less than any value in the list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Subqueries (3 of 3)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748992"/>
          </a:xfrm>
        </p:spPr>
        <p:txBody>
          <a:bodyPr/>
          <a:lstStyle/>
          <a:p>
            <a:pPr>
              <a:defRPr/>
            </a:pPr>
            <a:r>
              <a:rPr lang="en-US"/>
              <a:t>FROM subqueries</a:t>
            </a:r>
            <a:endParaRPr/>
          </a:p>
          <a:p>
            <a:pPr lvl="1">
              <a:defRPr/>
            </a:pPr>
            <a:r>
              <a:rPr lang="en-US"/>
              <a:t>FROM clause specifies the table(s) from which the data will be drawn</a:t>
            </a:r>
            <a:endParaRPr/>
          </a:p>
          <a:p>
            <a:pPr>
              <a:defRPr/>
            </a:pPr>
            <a:r>
              <a:rPr lang="en-US"/>
              <a:t>Attribute list subqueries</a:t>
            </a:r>
            <a:endParaRPr/>
          </a:p>
          <a:p>
            <a:pPr lvl="1">
              <a:defRPr/>
            </a:pPr>
            <a:r>
              <a:rPr lang="en-US"/>
              <a:t>Inline subquery: subquery expression</a:t>
            </a:r>
            <a:endParaRPr/>
          </a:p>
          <a:p>
            <a:pPr lvl="2">
              <a:defRPr/>
            </a:pPr>
            <a:r>
              <a:rPr lang="en-US"/>
              <a:t>Example: can be used to list the difference between each product’s price and the average product price</a:t>
            </a:r>
            <a:endParaRPr/>
          </a:p>
          <a:p>
            <a:pPr>
              <a:defRPr/>
            </a:pPr>
            <a:r>
              <a:rPr lang="en-US"/>
              <a:t>Correlated subquery </a:t>
            </a:r>
            <a:endParaRPr/>
          </a:p>
          <a:p>
            <a:pPr lvl="1">
              <a:defRPr/>
            </a:pPr>
            <a:r>
              <a:rPr lang="en-US"/>
              <a:t>Executes once for each row in the outer query</a:t>
            </a:r>
            <a:endParaRPr/>
          </a:p>
          <a:p>
            <a:pPr lvl="1">
              <a:defRPr/>
            </a:pPr>
            <a:r>
              <a:rPr lang="en-US"/>
              <a:t>Inner query is related to the outer query; the inner query references a column of the outer subquery</a:t>
            </a:r>
            <a:endParaRPr/>
          </a:p>
          <a:p>
            <a:pPr lvl="1">
              <a:defRPr/>
            </a:pPr>
            <a:r>
              <a:rPr lang="en-US"/>
              <a:t>Can also be used with the EXISTS special operator</a:t>
            </a:r>
            <a:endParaRPr/>
          </a:p>
          <a:p>
            <a:pPr lvl="2">
              <a:defRPr/>
            </a:pPr>
            <a:r>
              <a:rPr lang="en-US"/>
              <a:t>Can be used whenever there is a requirement to execute a command based on the result of another query</a:t>
            </a:r>
            <a:endParaRPr/>
          </a:p>
          <a:p>
            <a:pPr lvl="2">
              <a:defRPr/>
            </a:pPr>
            <a:r>
              <a:rPr lang="en-US"/>
              <a:t>Can be used with uncorrelated subqueries, but it is almost always used with correlated subqueries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SQL Functions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567404"/>
          </a:xfrm>
        </p:spPr>
        <p:txBody>
          <a:bodyPr/>
          <a:lstStyle/>
          <a:p>
            <a:pPr>
              <a:defRPr/>
            </a:pPr>
            <a:r>
              <a:rPr lang="en-US"/>
              <a:t>SQL functions are very useful tools</a:t>
            </a:r>
            <a:endParaRPr/>
          </a:p>
          <a:p>
            <a:pPr lvl="1">
              <a:defRPr/>
            </a:pPr>
            <a:r>
              <a:rPr lang="en-US"/>
              <a:t>Many types </a:t>
            </a:r>
            <a:endParaRPr/>
          </a:p>
          <a:p>
            <a:pPr>
              <a:defRPr/>
            </a:pPr>
            <a:r>
              <a:rPr lang="en-US"/>
              <a:t>Date and time functions</a:t>
            </a:r>
            <a:endParaRPr/>
          </a:p>
          <a:p>
            <a:pPr lvl="1">
              <a:defRPr/>
            </a:pPr>
            <a:r>
              <a:rPr lang="en-US"/>
              <a:t>All date functions take one parameter of a date or character data type and return a value; refer to Table 7.10</a:t>
            </a:r>
            <a:endParaRPr/>
          </a:p>
          <a:p>
            <a:pPr>
              <a:defRPr/>
            </a:pPr>
            <a:r>
              <a:rPr lang="en-US"/>
              <a:t>Numeric functions </a:t>
            </a:r>
            <a:endParaRPr/>
          </a:p>
          <a:p>
            <a:pPr lvl="1">
              <a:defRPr/>
            </a:pPr>
            <a:r>
              <a:rPr lang="en-US"/>
              <a:t>Can be grouped in many different ways, such as algebraic, trigonometric, and logarithmic; refer to Table 7.11</a:t>
            </a:r>
            <a:endParaRPr/>
          </a:p>
          <a:p>
            <a:pPr>
              <a:defRPr/>
            </a:pPr>
            <a:r>
              <a:rPr lang="en-US"/>
              <a:t>String functions</a:t>
            </a:r>
            <a:endParaRPr/>
          </a:p>
          <a:p>
            <a:pPr lvl="1">
              <a:defRPr/>
            </a:pPr>
            <a:r>
              <a:rPr lang="en-US"/>
              <a:t>Among the most-used functions in programming; refer to Table 7.12 </a:t>
            </a:r>
            <a:endParaRPr/>
          </a:p>
          <a:p>
            <a:pPr>
              <a:defRPr/>
            </a:pPr>
            <a:r>
              <a:rPr lang="en-US"/>
              <a:t>Conversion functions </a:t>
            </a:r>
            <a:endParaRPr/>
          </a:p>
          <a:p>
            <a:pPr lvl="1">
              <a:defRPr/>
            </a:pPr>
            <a:r>
              <a:rPr lang="en-US"/>
              <a:t>Allow you to take a value of a given data type and convert it to the equivalent value in another data type; refer to Table 7.13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Relational Set Operators (1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395049"/>
          </a:xfrm>
        </p:spPr>
        <p:txBody>
          <a:bodyPr/>
          <a:lstStyle/>
          <a:p>
            <a:pPr>
              <a:defRPr/>
            </a:pPr>
            <a:r>
              <a:rPr lang="en-US"/>
              <a:t>UNION </a:t>
            </a:r>
            <a:endParaRPr/>
          </a:p>
          <a:p>
            <a:pPr lvl="1">
              <a:defRPr/>
            </a:pPr>
            <a:r>
              <a:rPr lang="en-US"/>
              <a:t>Combines rows from two or more queries without including duplicate rows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</a:t>
            </a:r>
            <a:r>
              <a:rPr lang="en-US" i="1"/>
              <a:t>query</a:t>
            </a:r>
            <a:r>
              <a:rPr lang="en-US"/>
              <a:t> UNION </a:t>
            </a:r>
            <a:r>
              <a:rPr lang="en-US" i="1"/>
              <a:t>query</a:t>
            </a:r>
            <a:endParaRPr/>
          </a:p>
          <a:p>
            <a:pPr>
              <a:defRPr/>
            </a:pPr>
            <a:r>
              <a:rPr lang="en-US"/>
              <a:t>UNION ALL</a:t>
            </a:r>
            <a:endParaRPr/>
          </a:p>
          <a:p>
            <a:pPr lvl="1">
              <a:defRPr/>
            </a:pPr>
            <a:r>
              <a:rPr lang="en-US"/>
              <a:t>Used to produce a relation that retains the duplicate rows</a:t>
            </a:r>
            <a:endParaRPr/>
          </a:p>
          <a:p>
            <a:pPr lvl="1">
              <a:defRPr/>
            </a:pPr>
            <a:r>
              <a:rPr lang="en-US"/>
              <a:t>Used to unite more than just two queries</a:t>
            </a:r>
            <a:endParaRPr/>
          </a:p>
          <a:p>
            <a:pPr>
              <a:defRPr/>
            </a:pPr>
            <a:r>
              <a:rPr lang="en-US"/>
              <a:t>INTERSECT </a:t>
            </a:r>
            <a:endParaRPr/>
          </a:p>
          <a:p>
            <a:pPr lvl="1">
              <a:defRPr/>
            </a:pPr>
            <a:r>
              <a:rPr lang="en-US"/>
              <a:t>Can be used to combine rows from two queries, returning only the rows that appear in both sets</a:t>
            </a:r>
            <a:endParaRPr/>
          </a:p>
          <a:p>
            <a:pPr lvl="1">
              <a:buClr>
                <a:srgbClr val="0D3857"/>
              </a:buClr>
              <a:defRPr/>
            </a:pP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</a:rPr>
              <a:t>Syntax:</a:t>
            </a:r>
            <a:endParaRPr/>
          </a:p>
          <a:p>
            <a:pPr marL="457200" lvl="2" indent="0">
              <a:buClr>
                <a:srgbClr val="000000">
                  <a:lumMod val="75000"/>
                  <a:lumOff val="25000"/>
                </a:srgbClr>
              </a:buClr>
              <a:buNone/>
              <a:defRPr/>
            </a:pP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</a:rPr>
              <a:t>	</a:t>
            </a:r>
            <a:r>
              <a:rPr lang="en-US" i="1">
                <a:solidFill>
                  <a:srgbClr val="000000">
                    <a:lumMod val="75000"/>
                    <a:lumOff val="25000"/>
                  </a:srgbClr>
                </a:solidFill>
              </a:rPr>
              <a:t>query</a:t>
            </a: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</a:rPr>
              <a:t> INTERSECT </a:t>
            </a:r>
            <a:r>
              <a:rPr lang="en-US" i="1">
                <a:solidFill>
                  <a:srgbClr val="000000">
                    <a:lumMod val="75000"/>
                    <a:lumOff val="25000"/>
                  </a:srgbClr>
                </a:solidFill>
              </a:rPr>
              <a:t>query</a:t>
            </a:r>
            <a:endParaRPr/>
          </a:p>
          <a:p>
            <a:pPr lvl="1">
              <a:defRPr/>
            </a:pPr>
            <a:endParaRPr lang="en-US"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Relational Set Operators (2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977738"/>
          </a:xfrm>
        </p:spPr>
        <p:txBody>
          <a:bodyPr/>
          <a:lstStyle/>
          <a:p>
            <a:pPr>
              <a:defRPr/>
            </a:pPr>
            <a:r>
              <a:rPr lang="en-US"/>
              <a:t>EXCEPT (MINUS)</a:t>
            </a:r>
            <a:endParaRPr/>
          </a:p>
          <a:p>
            <a:pPr lvl="1">
              <a:defRPr/>
            </a:pPr>
            <a:r>
              <a:rPr lang="en-US"/>
              <a:t>Combines rows from two queries and returns only the rows that appear in the first set but not in the second</a:t>
            </a:r>
            <a:endParaRPr/>
          </a:p>
          <a:p>
            <a:pPr lvl="1">
              <a:defRPr/>
            </a:pPr>
            <a:r>
              <a:rPr lang="en-US"/>
              <a:t>Syntax: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</a:t>
            </a:r>
            <a:r>
              <a:rPr lang="en-US" i="1"/>
              <a:t>query</a:t>
            </a:r>
            <a:r>
              <a:rPr lang="en-US"/>
              <a:t> EXCEPT </a:t>
            </a:r>
            <a:r>
              <a:rPr lang="en-US" i="1"/>
              <a:t>query</a:t>
            </a:r>
            <a:endParaRPr/>
          </a:p>
          <a:p>
            <a:pPr marL="457200" lvl="2" indent="0">
              <a:buNone/>
              <a:defRPr/>
            </a:pPr>
            <a:r>
              <a:rPr lang="en-US"/>
              <a:t>	and</a:t>
            </a:r>
            <a:endParaRPr/>
          </a:p>
          <a:p>
            <a:pPr marL="457200" lvl="2" indent="0">
              <a:buNone/>
              <a:defRPr/>
            </a:pPr>
            <a:r>
              <a:rPr lang="en-US" i="1"/>
              <a:t>	query </a:t>
            </a:r>
            <a:r>
              <a:rPr lang="en-US"/>
              <a:t>MINUS </a:t>
            </a:r>
            <a:r>
              <a:rPr lang="en-US" i="1"/>
              <a:t>query</a:t>
            </a:r>
            <a:endParaRPr/>
          </a:p>
          <a:p>
            <a:pPr>
              <a:defRPr/>
            </a:pPr>
            <a:r>
              <a:rPr lang="en-US"/>
              <a:t>Syntax alternatives</a:t>
            </a:r>
            <a:endParaRPr/>
          </a:p>
          <a:p>
            <a:pPr lvl="1">
              <a:defRPr/>
            </a:pPr>
            <a:r>
              <a:rPr lang="en-US"/>
              <a:t>Alternative syntax used to achieve the same output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Crafting SELECT Queries (1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888483"/>
          </a:xfrm>
        </p:spPr>
        <p:txBody>
          <a:bodyPr/>
          <a:lstStyle/>
          <a:p>
            <a:pPr>
              <a:defRPr/>
            </a:pPr>
            <a:r>
              <a:rPr lang="en-US"/>
              <a:t>Know your data</a:t>
            </a:r>
            <a:endParaRPr/>
          </a:p>
          <a:p>
            <a:pPr lvl="1">
              <a:defRPr/>
            </a:pPr>
            <a:r>
              <a:rPr lang="en-US"/>
              <a:t>The importance of understanding the data model that you are working in cannot be overstated</a:t>
            </a:r>
            <a:endParaRPr/>
          </a:p>
          <a:p>
            <a:pPr lvl="1">
              <a:defRPr/>
            </a:pPr>
            <a:r>
              <a:rPr lang="en-US"/>
              <a:t>Real-world databases are messy; most database systems remain in service in an organization for decades</a:t>
            </a:r>
            <a:endParaRPr/>
          </a:p>
          <a:p>
            <a:pPr>
              <a:defRPr/>
            </a:pPr>
            <a:r>
              <a:rPr lang="en-US"/>
              <a:t>Know the problem</a:t>
            </a:r>
            <a:endParaRPr/>
          </a:p>
          <a:p>
            <a:pPr lvl="1">
              <a:defRPr/>
            </a:pPr>
            <a:r>
              <a:rPr lang="en-US"/>
              <a:t>Understand the question you are attempting to answer</a:t>
            </a:r>
            <a:endParaRPr/>
          </a:p>
          <a:p>
            <a:pPr lvl="1">
              <a:defRPr/>
            </a:pPr>
            <a:r>
              <a:rPr lang="en-US"/>
              <a:t>Information reporting requests will come from a range of sources; may be one-time events or ongoing operations within an application 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Crafting SELECT Queries (2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2332946"/>
          </a:xfrm>
        </p:spPr>
        <p:txBody>
          <a:bodyPr/>
          <a:lstStyle/>
          <a:p>
            <a:pPr>
              <a:defRPr/>
            </a:pPr>
            <a:r>
              <a:rPr lang="en-US"/>
              <a:t>Build one clause at a time</a:t>
            </a:r>
            <a:endParaRPr/>
          </a:p>
          <a:p>
            <a:pPr lvl="1">
              <a:defRPr/>
            </a:pPr>
            <a:r>
              <a:rPr lang="en-US"/>
              <a:t>FROM</a:t>
            </a:r>
            <a:endParaRPr/>
          </a:p>
          <a:p>
            <a:pPr lvl="1">
              <a:defRPr/>
            </a:pPr>
            <a:r>
              <a:rPr lang="en-US"/>
              <a:t>WHERE</a:t>
            </a:r>
            <a:endParaRPr/>
          </a:p>
          <a:p>
            <a:pPr lvl="1">
              <a:defRPr/>
            </a:pPr>
            <a:r>
              <a:rPr lang="en-US"/>
              <a:t>GROUP BY</a:t>
            </a:r>
            <a:endParaRPr/>
          </a:p>
          <a:p>
            <a:pPr lvl="1">
              <a:defRPr/>
            </a:pPr>
            <a:r>
              <a:rPr lang="en-US"/>
              <a:t>HAVING</a:t>
            </a:r>
            <a:endParaRPr/>
          </a:p>
          <a:p>
            <a:pPr lvl="1">
              <a:defRPr/>
            </a:pPr>
            <a:r>
              <a:rPr lang="en-US"/>
              <a:t>SELECT</a:t>
            </a:r>
            <a:endParaRPr/>
          </a:p>
          <a:p>
            <a:pPr lvl="1">
              <a:defRPr/>
            </a:pPr>
            <a:r>
              <a:rPr lang="en-US"/>
              <a:t>ORDER BY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Summary (1 of 2)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633576"/>
          </a:xfrm>
        </p:spPr>
        <p:txBody>
          <a:bodyPr/>
          <a:lstStyle/>
          <a:p>
            <a:pPr>
              <a:defRPr/>
            </a:pPr>
            <a:r>
              <a:rPr lang="en-US"/>
              <a:t>SQL commands can be divided into two overall categories: data definition language (DDL) commands and data manipulation language (DML) commands</a:t>
            </a:r>
            <a:endParaRPr/>
          </a:p>
          <a:p>
            <a:pPr>
              <a:defRPr/>
            </a:pPr>
            <a:r>
              <a:rPr lang="en-US"/>
              <a:t>The ANSI standard data types are supported by all RDBMS vendors in different ways</a:t>
            </a:r>
            <a:endParaRPr/>
          </a:p>
          <a:p>
            <a:pPr lvl="1">
              <a:defRPr/>
            </a:pPr>
            <a:r>
              <a:rPr lang="en-US"/>
              <a:t>The basic data types are NUMBER, NUMERIC, INTEGER, CHAR, VARCHAR, and DATE</a:t>
            </a:r>
            <a:endParaRPr/>
          </a:p>
          <a:p>
            <a:pPr>
              <a:defRPr/>
            </a:pPr>
            <a:r>
              <a:rPr lang="en-US"/>
              <a:t>The SELECT statement is the main data retrieval command in SQL</a:t>
            </a:r>
            <a:endParaRPr/>
          </a:p>
          <a:p>
            <a:pPr>
              <a:defRPr/>
            </a:pPr>
            <a:r>
              <a:rPr lang="en-US"/>
              <a:t>The column list represents one or more column names separated by commas</a:t>
            </a:r>
            <a:endParaRPr/>
          </a:p>
          <a:p>
            <a:pPr>
              <a:defRPr/>
            </a:pPr>
            <a:r>
              <a:rPr lang="en-US"/>
              <a:t>Operations that join tables can be classified as inner joins and outer joins</a:t>
            </a:r>
            <a:endParaRPr/>
          </a:p>
          <a:p>
            <a:pPr>
              <a:defRPr/>
            </a:pPr>
            <a:r>
              <a:rPr lang="en-US"/>
              <a:t>A natural join returns all rows with matching values in the matching columns and eliminates duplicate columns</a:t>
            </a:r>
            <a:endParaRPr/>
          </a:p>
          <a:p>
            <a:pPr>
              <a:defRPr/>
            </a:pPr>
            <a:r>
              <a:rPr lang="en-US"/>
              <a:t>Joins may use keywords such as USING and ON</a:t>
            </a:r>
            <a:endParaRPr/>
          </a:p>
          <a:p>
            <a:pPr>
              <a:defRPr/>
            </a:pPr>
            <a:r>
              <a:rPr lang="en-US"/>
              <a:t>The ORDER BY clause is used to sort the output of a SELECT statement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Summary (2 of 2) </a:t>
            </a:r>
            <a:endParaRPr/>
          </a:p>
        </p:txBody>
      </p:sp>
      <p:sp>
        <p:nvSpPr>
          <p:cNvPr id="2" name="Content Placeholder 1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65125" y="1538819"/>
            <a:ext cx="8415338" cy="4139595"/>
          </a:xfrm>
        </p:spPr>
        <p:txBody>
          <a:bodyPr/>
          <a:lstStyle/>
          <a:p>
            <a:pPr>
              <a:defRPr/>
            </a:pPr>
            <a:r>
              <a:rPr lang="en-US"/>
              <a:t>The WHERE clause can be used with the SELECT, UPDATE, and DELETE statements to restrict the rows affected by the DDL command</a:t>
            </a:r>
            <a:endParaRPr/>
          </a:p>
          <a:p>
            <a:pPr>
              <a:defRPr/>
            </a:pPr>
            <a:r>
              <a:rPr lang="en-US"/>
              <a:t>Aggregate functions (COUNT, MIN, MAX, and AVG) are special functions that perform arithmetic computations over a set of rows</a:t>
            </a:r>
            <a:endParaRPr/>
          </a:p>
          <a:p>
            <a:pPr>
              <a:defRPr/>
            </a:pPr>
            <a:r>
              <a:rPr lang="en-US"/>
              <a:t>Subqueries and correlated queries are used when it is necessary to process data based on other processed data</a:t>
            </a:r>
            <a:endParaRPr/>
          </a:p>
          <a:p>
            <a:pPr>
              <a:defRPr/>
            </a:pPr>
            <a:r>
              <a:rPr lang="en-US"/>
              <a:t>Most subqueries are executed in a serial fashion</a:t>
            </a:r>
            <a:endParaRPr/>
          </a:p>
          <a:p>
            <a:pPr>
              <a:defRPr/>
            </a:pPr>
            <a:r>
              <a:rPr lang="en-US"/>
              <a:t>SQL functions are used to extract or transform data</a:t>
            </a:r>
            <a:endParaRPr/>
          </a:p>
          <a:p>
            <a:pPr>
              <a:defRPr/>
            </a:pPr>
            <a:r>
              <a:rPr lang="en-US"/>
              <a:t>SQL provides relational set operators to combine the output of two queries to generate a new relation</a:t>
            </a:r>
            <a:endParaRPr/>
          </a:p>
          <a:p>
            <a:pPr>
              <a:defRPr/>
            </a:pPr>
            <a:r>
              <a:rPr lang="en-US"/>
              <a:t>Crafting effective and efficient SQL queries requires a great deal of skill</a:t>
            </a:r>
            <a:endParaRPr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ONLYOFFICE/6.4.2.6</Application>
  <DocSecurity>0</DocSecurity>
  <PresentationFormat>On-screen Show (4:3)</PresentationFormat>
  <Paragraphs>0</Paragraphs>
  <Slides>40</Slides>
  <Notes>40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2</cp:revision>
  <dcterms:created xsi:type="dcterms:W3CDTF">2017-09-22T22:11:36Z</dcterms:created>
  <dcterms:modified xsi:type="dcterms:W3CDTF">2025-10-13T02:46:03Z</dcterms:modified>
  <cp:category/>
  <cp:contentStatus/>
  <cp:version/>
</cp:coreProperties>
</file>